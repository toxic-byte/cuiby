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7" r:id="rId3"/>
    <p:sldId id="292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6" d="100"/>
          <a:sy n="116" d="100"/>
        </p:scale>
        <p:origin x="67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550CF2-AF0B-B147-8827-BDD6578B8D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6C8AC85-9BB1-C6DE-480B-DFBC4F750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AC8186A-42AF-9EB4-DBC8-84C23B68C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4AE0D-79B0-4BD4-AB96-3EC95FE7AC59}" type="datetimeFigureOut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5C3AC1-099F-72B2-62E0-68A6BE2A3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43C68A-B6DF-28A0-D71D-CD6C38893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94F8B-8601-4814-A41B-351C09FF07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5804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606894-25F9-9EAE-D351-49CF96139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159804-ED22-E791-4D10-3DFAE747C5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6C618D-4E96-025D-2D57-C9F8A5266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4AE0D-79B0-4BD4-AB96-3EC95FE7AC59}" type="datetimeFigureOut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64DEA9D-776C-2145-D09E-114262BA7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E822E7-A258-5735-28EB-031DCA706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94F8B-8601-4814-A41B-351C09FF07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666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06C02A-9193-AE65-0563-14A824B2A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9D2A002-B152-892B-66E4-3AABE6B423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5C1C6B2-2C34-049D-2ADC-07039A9C1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4AE0D-79B0-4BD4-AB96-3EC95FE7AC59}" type="datetimeFigureOut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1B7CB2-DF4D-EC46-B305-26882AF6C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9FE09E-1259-6CB0-73AF-4C73C5C76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94F8B-8601-4814-A41B-351C09FF07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2493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F5C15F-6258-D331-77B4-E5B874D2B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BDF641-8442-AEF4-DC35-7BEAA85D21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06F63F8-D930-5F17-8F8D-34B8005339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0689CF1-E240-3EF2-3892-4E8035CC7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4AE0D-79B0-4BD4-AB96-3EC95FE7AC59}" type="datetimeFigureOut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092C005-419E-7324-A362-FC6B9665C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DD514B4-D075-BAD7-EB8E-CC73ACA0C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94F8B-8601-4814-A41B-351C09FF07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1134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E040C1-B3A5-A588-E316-E7ABBED96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1BF8FE2-9DF8-76ED-CBEE-89EAF9F349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1D64DAE-39E9-3774-0D96-127EE5DF8C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C2990A2-1066-BB7C-B4A8-AAAEB3B2C4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9A3510C-9DAD-2853-EB43-E8D80211EA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C316563-C5F6-3DC2-023B-5718B23A1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4AE0D-79B0-4BD4-AB96-3EC95FE7AC59}" type="datetimeFigureOut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8B19D55-8580-A1DB-D2A2-CE83F5610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73222BB-E8E2-C133-BF39-E3FB39DCA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94F8B-8601-4814-A41B-351C09FF07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2937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48482E-6647-FFBF-461F-509E2E4BF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86F8239-AB11-66FD-E05B-AF14E7BA2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4AE0D-79B0-4BD4-AB96-3EC95FE7AC59}" type="datetimeFigureOut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BF7654B-31A3-4BBE-9168-BA1AC16E0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9FE0541-7E3F-AB11-3FE7-842DD8900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94F8B-8601-4814-A41B-351C09FF07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7077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A01D568-FC97-0BF8-F605-E93B3474A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4AE0D-79B0-4BD4-AB96-3EC95FE7AC59}" type="datetimeFigureOut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5A345B3-A834-6D72-D433-66332B295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08C42C2-7B18-4719-B57E-F651FEB31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94F8B-8601-4814-A41B-351C09FF07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11804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8CC9E6-8D94-AB77-A590-919B4B6C8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7B92EB-D8FB-ECA8-D657-47608FE9B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D843851-3B71-E075-12F1-D40C0D5CE0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A6B1164-ADDF-D074-7AFF-5B1A0ABBA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4AE0D-79B0-4BD4-AB96-3EC95FE7AC59}" type="datetimeFigureOut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D7525E4-78AC-673E-4DF7-186A7C69D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A66443D-ADBF-A455-6B02-ADCAF4969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94F8B-8601-4814-A41B-351C09FF07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8203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B155F7-C141-9089-AB98-352D4FA1D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2B67959-B7BD-423A-D10B-C0FE9A0AB4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2C51003-EBF5-6C1B-9E16-3774AF82D3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227B6A9-9262-3F4F-D1FA-216E13B62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4AE0D-79B0-4BD4-AB96-3EC95FE7AC59}" type="datetimeFigureOut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0B7F2AA-0E7A-334F-D6DF-657A6576A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DE557E2-DE5F-904B-FBD4-9714E455D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94F8B-8601-4814-A41B-351C09FF07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3423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3BE8D4-8D67-2E54-C77A-2C991418D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4678621-BDD7-6D94-7087-06EF4448E6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60629B2-42F6-7AD1-7CA3-2F5BE70C6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4AE0D-79B0-4BD4-AB96-3EC95FE7AC59}" type="datetimeFigureOut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3C3FACA-C761-FCBB-DC06-5029C2073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BDE01A-A291-0186-A36B-2144CECF7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94F8B-8601-4814-A41B-351C09FF07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6553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CF5BAC0-B3E4-C27B-6C2C-2F3BD036DA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69344C7-ACA3-F114-6920-18C7218381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337E4B-783B-B7DB-22CF-A86FB81BC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4AE0D-79B0-4BD4-AB96-3EC95FE7AC59}" type="datetimeFigureOut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454C556-A059-3B42-792A-F36A7F111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EC32CAB-907C-8262-C481-6E610BD19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94F8B-8601-4814-A41B-351C09FF07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69694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4" y="2180498"/>
            <a:ext cx="11029615" cy="36783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51058-E5DB-324A-A8E9-6D3BEF243C3B}" type="datetimeFigureOut">
              <a:rPr kumimoji="1" lang="zh-CN" altLang="en-US" smtClean="0"/>
              <a:t>2025/6/29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1" y="5956139"/>
            <a:ext cx="1052508" cy="365125"/>
          </a:xfrm>
        </p:spPr>
        <p:txBody>
          <a:bodyPr/>
          <a:lstStyle/>
          <a:p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5D466B2-7417-6A44-93CE-B6AD2C9CE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none" baseline="0"/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3DED5B16-7C93-669F-0780-4D8A05A7A7D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0376" y="1195961"/>
            <a:ext cx="10795605" cy="540000"/>
          </a:xfrm>
        </p:spPr>
        <p:txBody>
          <a:bodyPr anchor="ctr" anchorCtr="0"/>
          <a:lstStyle>
            <a:lvl1pPr marL="0" indent="0">
              <a:buNone/>
              <a:defRPr sz="2000" baseline="0">
                <a:solidFill>
                  <a:srgbClr val="215CC1"/>
                </a:solidFill>
                <a:latin typeface="+mj-lt"/>
                <a:ea typeface="+mj-ea"/>
              </a:defRPr>
            </a:lvl1pPr>
          </a:lstStyle>
          <a:p>
            <a:pPr lvl="0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5971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4" y="2180498"/>
            <a:ext cx="11029615" cy="36783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51058-E5DB-324A-A8E9-6D3BEF243C3B}" type="datetimeFigureOut">
              <a:rPr kumimoji="1" lang="zh-CN" altLang="en-US" smtClean="0"/>
              <a:t>2025/6/29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1" y="5956139"/>
            <a:ext cx="1052508" cy="365125"/>
          </a:xfrm>
        </p:spPr>
        <p:txBody>
          <a:bodyPr/>
          <a:lstStyle/>
          <a:p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5D466B2-7417-6A44-93CE-B6AD2C9CE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none" baseline="0"/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3DED5B16-7C93-669F-0780-4D8A05A7A7D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0376" y="1195961"/>
            <a:ext cx="10795605" cy="540000"/>
          </a:xfrm>
        </p:spPr>
        <p:txBody>
          <a:bodyPr anchor="ctr" anchorCtr="0"/>
          <a:lstStyle>
            <a:lvl1pPr marL="0" indent="0">
              <a:buNone/>
              <a:defRPr sz="2000" baseline="0">
                <a:solidFill>
                  <a:srgbClr val="215CC1"/>
                </a:solidFill>
                <a:latin typeface="+mj-lt"/>
                <a:ea typeface="+mj-ea"/>
              </a:defRPr>
            </a:lvl1pPr>
          </a:lstStyle>
          <a:p>
            <a:pPr lvl="0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86969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440AA70-165A-B4F3-1747-C43E751A7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AB553B-4B06-628F-2721-42F7AFBA7C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2C44D2-63F4-91F6-5AA0-19FDAAF403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A4AE0D-79B0-4BD4-AB96-3EC95FE7AC59}" type="datetimeFigureOut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0A3F79-1211-D5CD-89DA-2B72EC1FED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C7AB23-5A87-3501-F842-2C657341FB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194F8B-8601-4814-A41B-351C09FF07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0997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jp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2E7198D3-F410-9054-7194-497733B00AE9}"/>
              </a:ext>
            </a:extLst>
          </p:cNvPr>
          <p:cNvSpPr/>
          <p:nvPr/>
        </p:nvSpPr>
        <p:spPr>
          <a:xfrm>
            <a:off x="1890903" y="2321394"/>
            <a:ext cx="2262016" cy="1218669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5" name="图形 4">
            <a:extLst>
              <a:ext uri="{FF2B5EF4-FFF2-40B4-BE49-F238E27FC236}">
                <a16:creationId xmlns:a16="http://schemas.microsoft.com/office/drawing/2014/main" id="{C3A3CB40-4324-4DB5-AFF6-1C8BAE13E7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83347" y="3001305"/>
            <a:ext cx="460789" cy="460789"/>
          </a:xfrm>
          <a:prstGeom prst="rect">
            <a:avLst/>
          </a:prstGeom>
        </p:spPr>
      </p:pic>
      <p:pic>
        <p:nvPicPr>
          <p:cNvPr id="6" name="图形 5">
            <a:extLst>
              <a:ext uri="{FF2B5EF4-FFF2-40B4-BE49-F238E27FC236}">
                <a16:creationId xmlns:a16="http://schemas.microsoft.com/office/drawing/2014/main" id="{C8F0A136-0818-7CCF-57E1-69BB268D13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21770" y="3031222"/>
            <a:ext cx="430225" cy="430225"/>
          </a:xfrm>
          <a:prstGeom prst="rect">
            <a:avLst/>
          </a:prstGeom>
        </p:spPr>
      </p:pic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71C27D8B-ABFF-67BD-8185-F57B2AD3C2E1}"/>
              </a:ext>
            </a:extLst>
          </p:cNvPr>
          <p:cNvCxnSpPr>
            <a:cxnSpLocks/>
          </p:cNvCxnSpPr>
          <p:nvPr/>
        </p:nvCxnSpPr>
        <p:spPr>
          <a:xfrm flipH="1">
            <a:off x="2168461" y="2836990"/>
            <a:ext cx="135795" cy="260991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A48670F0-243F-9631-00B9-AF5AF5B16071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2301957" y="2835246"/>
            <a:ext cx="286153" cy="28947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683D88D6-1A01-5D44-01F9-6F9BE77F4BB1}"/>
              </a:ext>
            </a:extLst>
          </p:cNvPr>
          <p:cNvCxnSpPr>
            <a:cxnSpLocks/>
          </p:cNvCxnSpPr>
          <p:nvPr/>
        </p:nvCxnSpPr>
        <p:spPr>
          <a:xfrm>
            <a:off x="3007195" y="2838387"/>
            <a:ext cx="347996" cy="331556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CB2425B0-8D98-A0CA-AF7E-C36B6CC17966}"/>
              </a:ext>
            </a:extLst>
          </p:cNvPr>
          <p:cNvCxnSpPr>
            <a:cxnSpLocks/>
          </p:cNvCxnSpPr>
          <p:nvPr/>
        </p:nvCxnSpPr>
        <p:spPr>
          <a:xfrm>
            <a:off x="3015543" y="2839698"/>
            <a:ext cx="865529" cy="3006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1" name="图形 10">
            <a:extLst>
              <a:ext uri="{FF2B5EF4-FFF2-40B4-BE49-F238E27FC236}">
                <a16:creationId xmlns:a16="http://schemas.microsoft.com/office/drawing/2014/main" id="{18DD7019-F715-EDD2-2287-66B9B6220D1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121985" y="2475308"/>
            <a:ext cx="359938" cy="359938"/>
          </a:xfrm>
          <a:prstGeom prst="rect">
            <a:avLst/>
          </a:prstGeom>
        </p:spPr>
      </p:pic>
      <p:pic>
        <p:nvPicPr>
          <p:cNvPr id="12" name="图形 11">
            <a:extLst>
              <a:ext uri="{FF2B5EF4-FFF2-40B4-BE49-F238E27FC236}">
                <a16:creationId xmlns:a16="http://schemas.microsoft.com/office/drawing/2014/main" id="{F2FCEE90-EFB4-42EF-97E6-0825DCB08DC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792443" y="2479226"/>
            <a:ext cx="357763" cy="357763"/>
          </a:xfrm>
          <a:prstGeom prst="rect">
            <a:avLst/>
          </a:prstGeom>
        </p:spPr>
      </p:pic>
      <p:pic>
        <p:nvPicPr>
          <p:cNvPr id="13" name="图形 12">
            <a:extLst>
              <a:ext uri="{FF2B5EF4-FFF2-40B4-BE49-F238E27FC236}">
                <a16:creationId xmlns:a16="http://schemas.microsoft.com/office/drawing/2014/main" id="{AC70DA4F-D71C-B3BB-B824-5B971A9476D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009278" y="3057614"/>
            <a:ext cx="369944" cy="369944"/>
          </a:xfrm>
          <a:prstGeom prst="rect">
            <a:avLst/>
          </a:prstGeom>
        </p:spPr>
      </p:pic>
      <p:pic>
        <p:nvPicPr>
          <p:cNvPr id="14" name="图形 13">
            <a:extLst>
              <a:ext uri="{FF2B5EF4-FFF2-40B4-BE49-F238E27FC236}">
                <a16:creationId xmlns:a16="http://schemas.microsoft.com/office/drawing/2014/main" id="{0594C344-E93D-C7FF-2F76-BAD451BAB99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432271" y="3085293"/>
            <a:ext cx="341725" cy="341725"/>
          </a:xfrm>
          <a:prstGeom prst="rect">
            <a:avLst/>
          </a:prstGeom>
        </p:spPr>
      </p:pic>
      <p:pic>
        <p:nvPicPr>
          <p:cNvPr id="15" name="图形 14">
            <a:extLst>
              <a:ext uri="{FF2B5EF4-FFF2-40B4-BE49-F238E27FC236}">
                <a16:creationId xmlns:a16="http://schemas.microsoft.com/office/drawing/2014/main" id="{87F92FAB-0D51-6D83-0432-0B1173E0A0F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722651" y="3110040"/>
            <a:ext cx="329461" cy="329461"/>
          </a:xfrm>
          <a:prstGeom prst="rect">
            <a:avLst/>
          </a:prstGeom>
        </p:spPr>
      </p:pic>
      <p:pic>
        <p:nvPicPr>
          <p:cNvPr id="16" name="图形 15">
            <a:extLst>
              <a:ext uri="{FF2B5EF4-FFF2-40B4-BE49-F238E27FC236}">
                <a16:creationId xmlns:a16="http://schemas.microsoft.com/office/drawing/2014/main" id="{7FA10292-1579-255D-9F92-AC6031F14858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444938" y="2477831"/>
            <a:ext cx="365379" cy="365379"/>
          </a:xfrm>
          <a:prstGeom prst="rect">
            <a:avLst/>
          </a:prstGeom>
        </p:spPr>
      </p:pic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3D695A06-BF7E-BDB3-A2D8-46AF01CA257D}"/>
              </a:ext>
            </a:extLst>
          </p:cNvPr>
          <p:cNvCxnSpPr>
            <a:cxnSpLocks/>
          </p:cNvCxnSpPr>
          <p:nvPr/>
        </p:nvCxnSpPr>
        <p:spPr>
          <a:xfrm>
            <a:off x="3713037" y="2842822"/>
            <a:ext cx="220967" cy="287538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068A2ACA-822E-E82C-345E-ECB665DBFC1D}"/>
              </a:ext>
            </a:extLst>
          </p:cNvPr>
          <p:cNvSpPr/>
          <p:nvPr/>
        </p:nvSpPr>
        <p:spPr>
          <a:xfrm>
            <a:off x="4705461" y="2321394"/>
            <a:ext cx="1683169" cy="1921685"/>
          </a:xfrm>
          <a:prstGeom prst="roundRect">
            <a:avLst>
              <a:gd name="adj" fmla="val 3512"/>
            </a:avLst>
          </a:prstGeom>
          <a:solidFill>
            <a:srgbClr val="FBE5D6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4" dirty="0"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E2C99E0E-5E7E-6767-9346-66C363C2B391}"/>
              </a:ext>
            </a:extLst>
          </p:cNvPr>
          <p:cNvSpPr/>
          <p:nvPr/>
        </p:nvSpPr>
        <p:spPr>
          <a:xfrm>
            <a:off x="4800306" y="3586437"/>
            <a:ext cx="1493478" cy="600164"/>
          </a:xfrm>
          <a:prstGeom prst="roundRect">
            <a:avLst>
              <a:gd name="adj" fmla="val 15117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1B150A2-6B51-8009-DEE6-09EEAB6C76B2}"/>
              </a:ext>
            </a:extLst>
          </p:cNvPr>
          <p:cNvSpPr txBox="1"/>
          <p:nvPr/>
        </p:nvSpPr>
        <p:spPr>
          <a:xfrm>
            <a:off x="4841575" y="3586437"/>
            <a:ext cx="146419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正品   男女 情侣款 针织套装   运动衣服   春秋装 </a:t>
            </a:r>
            <a:r>
              <a:rPr lang="en-US" altLang="zh-CN" sz="11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5169 </a:t>
            </a:r>
            <a:r>
              <a:rPr lang="zh-CN" altLang="en-US" sz="11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特价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7FF906FE-D1BF-BA96-53C1-96EA143E0430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7637" y="2390966"/>
            <a:ext cx="1255175" cy="1110553"/>
          </a:xfrm>
          <a:prstGeom prst="rect">
            <a:avLst/>
          </a:prstGeom>
        </p:spPr>
      </p:pic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A68D43A1-ADFC-2249-CDFD-17F0E2243BFE}"/>
              </a:ext>
            </a:extLst>
          </p:cNvPr>
          <p:cNvSpPr/>
          <p:nvPr/>
        </p:nvSpPr>
        <p:spPr>
          <a:xfrm>
            <a:off x="6882590" y="2321394"/>
            <a:ext cx="2513551" cy="1423504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29CCCC44-1A42-5775-0ED8-8567EB5C64F8}"/>
              </a:ext>
            </a:extLst>
          </p:cNvPr>
          <p:cNvSpPr/>
          <p:nvPr/>
        </p:nvSpPr>
        <p:spPr>
          <a:xfrm>
            <a:off x="7039678" y="2486513"/>
            <a:ext cx="2249071" cy="1085039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2" name="图形 31">
            <a:extLst>
              <a:ext uri="{FF2B5EF4-FFF2-40B4-BE49-F238E27FC236}">
                <a16:creationId xmlns:a16="http://schemas.microsoft.com/office/drawing/2014/main" id="{579498DE-0713-6F94-A39B-E67B651507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90608" y="3131079"/>
            <a:ext cx="460789" cy="460789"/>
          </a:xfrm>
          <a:prstGeom prst="rect">
            <a:avLst/>
          </a:prstGeom>
        </p:spPr>
      </p:pic>
      <p:pic>
        <p:nvPicPr>
          <p:cNvPr id="33" name="图形 32">
            <a:extLst>
              <a:ext uri="{FF2B5EF4-FFF2-40B4-BE49-F238E27FC236}">
                <a16:creationId xmlns:a16="http://schemas.microsoft.com/office/drawing/2014/main" id="{88FE1F71-F1B2-FB03-56B8-2EF185441F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00930" y="3156212"/>
            <a:ext cx="430225" cy="430225"/>
          </a:xfrm>
          <a:prstGeom prst="rect">
            <a:avLst/>
          </a:prstGeom>
        </p:spPr>
      </p:pic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57C43526-3CB3-500D-8373-FBF51FABF67D}"/>
              </a:ext>
            </a:extLst>
          </p:cNvPr>
          <p:cNvCxnSpPr>
            <a:cxnSpLocks/>
          </p:cNvCxnSpPr>
          <p:nvPr/>
        </p:nvCxnSpPr>
        <p:spPr>
          <a:xfrm flipH="1">
            <a:off x="7245458" y="2911491"/>
            <a:ext cx="135795" cy="260991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9A2CC5B7-88AE-E4E4-A211-CB9919FE6A0D}"/>
              </a:ext>
            </a:extLst>
          </p:cNvPr>
          <p:cNvCxnSpPr>
            <a:cxnSpLocks/>
            <a:stCxn id="38" idx="2"/>
          </p:cNvCxnSpPr>
          <p:nvPr/>
        </p:nvCxnSpPr>
        <p:spPr>
          <a:xfrm>
            <a:off x="7378954" y="2909747"/>
            <a:ext cx="286153" cy="28947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52B6B06B-6365-DCD3-98BA-15B1BA1E3B7C}"/>
              </a:ext>
            </a:extLst>
          </p:cNvPr>
          <p:cNvCxnSpPr>
            <a:cxnSpLocks/>
          </p:cNvCxnSpPr>
          <p:nvPr/>
        </p:nvCxnSpPr>
        <p:spPr>
          <a:xfrm>
            <a:off x="8084192" y="2912888"/>
            <a:ext cx="347996" cy="331556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9B40B4C3-9D05-2631-3354-9A33636FEBDA}"/>
              </a:ext>
            </a:extLst>
          </p:cNvPr>
          <p:cNvCxnSpPr>
            <a:cxnSpLocks/>
          </p:cNvCxnSpPr>
          <p:nvPr/>
        </p:nvCxnSpPr>
        <p:spPr>
          <a:xfrm>
            <a:off x="8092540" y="2914199"/>
            <a:ext cx="865529" cy="3006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38" name="图形 37">
            <a:extLst>
              <a:ext uri="{FF2B5EF4-FFF2-40B4-BE49-F238E27FC236}">
                <a16:creationId xmlns:a16="http://schemas.microsoft.com/office/drawing/2014/main" id="{63D30049-32FF-7416-91B4-84352459231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98982" y="2549809"/>
            <a:ext cx="359938" cy="359938"/>
          </a:xfrm>
          <a:prstGeom prst="rect">
            <a:avLst/>
          </a:prstGeom>
        </p:spPr>
      </p:pic>
      <p:pic>
        <p:nvPicPr>
          <p:cNvPr id="39" name="图形 38">
            <a:extLst>
              <a:ext uri="{FF2B5EF4-FFF2-40B4-BE49-F238E27FC236}">
                <a16:creationId xmlns:a16="http://schemas.microsoft.com/office/drawing/2014/main" id="{D2A042D5-E418-9DFB-9F0A-79CBE9212C7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869440" y="2553727"/>
            <a:ext cx="357763" cy="357763"/>
          </a:xfrm>
          <a:prstGeom prst="rect">
            <a:avLst/>
          </a:prstGeom>
        </p:spPr>
      </p:pic>
      <p:pic>
        <p:nvPicPr>
          <p:cNvPr id="40" name="图形 39">
            <a:extLst>
              <a:ext uri="{FF2B5EF4-FFF2-40B4-BE49-F238E27FC236}">
                <a16:creationId xmlns:a16="http://schemas.microsoft.com/office/drawing/2014/main" id="{FD4367C7-F476-EA8D-BF45-90E8A74F3BC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086275" y="3132115"/>
            <a:ext cx="369944" cy="369944"/>
          </a:xfrm>
          <a:prstGeom prst="rect">
            <a:avLst/>
          </a:prstGeom>
        </p:spPr>
      </p:pic>
      <p:pic>
        <p:nvPicPr>
          <p:cNvPr id="41" name="图形 40">
            <a:extLst>
              <a:ext uri="{FF2B5EF4-FFF2-40B4-BE49-F238E27FC236}">
                <a16:creationId xmlns:a16="http://schemas.microsoft.com/office/drawing/2014/main" id="{8136B605-15D1-514B-5AF2-59A0DCEFE7B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509268" y="3159794"/>
            <a:ext cx="341725" cy="341725"/>
          </a:xfrm>
          <a:prstGeom prst="rect">
            <a:avLst/>
          </a:prstGeom>
        </p:spPr>
      </p:pic>
      <p:pic>
        <p:nvPicPr>
          <p:cNvPr id="42" name="图形 41">
            <a:extLst>
              <a:ext uri="{FF2B5EF4-FFF2-40B4-BE49-F238E27FC236}">
                <a16:creationId xmlns:a16="http://schemas.microsoft.com/office/drawing/2014/main" id="{2C8DEF00-1BCA-116E-5ACC-59882526655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799648" y="3184541"/>
            <a:ext cx="329461" cy="329461"/>
          </a:xfrm>
          <a:prstGeom prst="rect">
            <a:avLst/>
          </a:prstGeom>
        </p:spPr>
      </p:pic>
      <p:pic>
        <p:nvPicPr>
          <p:cNvPr id="43" name="图形 42">
            <a:extLst>
              <a:ext uri="{FF2B5EF4-FFF2-40B4-BE49-F238E27FC236}">
                <a16:creationId xmlns:a16="http://schemas.microsoft.com/office/drawing/2014/main" id="{26CD7637-AFDF-2D9A-07C5-739E63AA6AB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521935" y="2552332"/>
            <a:ext cx="365379" cy="365379"/>
          </a:xfrm>
          <a:prstGeom prst="rect">
            <a:avLst/>
          </a:prstGeom>
        </p:spPr>
      </p:pic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92960E1F-331E-B1DC-252B-77BADAA9E391}"/>
              </a:ext>
            </a:extLst>
          </p:cNvPr>
          <p:cNvCxnSpPr>
            <a:cxnSpLocks/>
          </p:cNvCxnSpPr>
          <p:nvPr/>
        </p:nvCxnSpPr>
        <p:spPr>
          <a:xfrm>
            <a:off x="8790034" y="2917323"/>
            <a:ext cx="220967" cy="287538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4EE9064D-6F5C-5E57-ACF1-A06C2108A1C6}"/>
              </a:ext>
            </a:extLst>
          </p:cNvPr>
          <p:cNvSpPr txBox="1"/>
          <p:nvPr/>
        </p:nvSpPr>
        <p:spPr>
          <a:xfrm>
            <a:off x="1999405" y="1952062"/>
            <a:ext cx="21796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仅使用协同信息</a:t>
            </a:r>
          </a:p>
        </p:txBody>
      </p:sp>
      <p:sp>
        <p:nvSpPr>
          <p:cNvPr id="46" name="箭头: 下 45">
            <a:extLst>
              <a:ext uri="{FF2B5EF4-FFF2-40B4-BE49-F238E27FC236}">
                <a16:creationId xmlns:a16="http://schemas.microsoft.com/office/drawing/2014/main" id="{7588B6AD-F8CC-96E2-B49E-A1AC08B47C87}"/>
              </a:ext>
            </a:extLst>
          </p:cNvPr>
          <p:cNvSpPr/>
          <p:nvPr/>
        </p:nvSpPr>
        <p:spPr>
          <a:xfrm>
            <a:off x="2795859" y="3574865"/>
            <a:ext cx="367562" cy="52243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44934EC1-EF1D-2EEA-A6C0-E1993EC7D096}"/>
              </a:ext>
            </a:extLst>
          </p:cNvPr>
          <p:cNvSpPr txBox="1"/>
          <p:nvPr/>
        </p:nvSpPr>
        <p:spPr>
          <a:xfrm>
            <a:off x="1429254" y="4034677"/>
            <a:ext cx="29183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i="0" dirty="0">
                <a:solidFill>
                  <a:srgbClr val="2C2C36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❌ 忽略物品内容</a:t>
            </a:r>
          </a:p>
          <a:p>
            <a:pPr algn="ctr"/>
            <a:r>
              <a:rPr lang="zh-CN" altLang="en-US" b="1" i="0" dirty="0">
                <a:solidFill>
                  <a:srgbClr val="2C2C36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❌ 容易误判噪声</a:t>
            </a:r>
            <a:endParaRPr lang="en-US" altLang="zh-CN" b="1" i="0" dirty="0">
              <a:solidFill>
                <a:srgbClr val="2C2C36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FA4A194F-BDC0-870D-1D58-15DD4C47EFF5}"/>
              </a:ext>
            </a:extLst>
          </p:cNvPr>
          <p:cNvCxnSpPr>
            <a:cxnSpLocks/>
          </p:cNvCxnSpPr>
          <p:nvPr/>
        </p:nvCxnSpPr>
        <p:spPr>
          <a:xfrm>
            <a:off x="2292258" y="2829370"/>
            <a:ext cx="660929" cy="28067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BC21D62C-2B10-DDF6-4063-40021BAA3B21}"/>
              </a:ext>
            </a:extLst>
          </p:cNvPr>
          <p:cNvSpPr txBox="1"/>
          <p:nvPr/>
        </p:nvSpPr>
        <p:spPr>
          <a:xfrm>
            <a:off x="2501436" y="2750095"/>
            <a:ext cx="35477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i="0" dirty="0">
                <a:solidFill>
                  <a:srgbClr val="2C2C36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❌</a:t>
            </a:r>
            <a:endParaRPr lang="zh-CN" altLang="en-US" sz="1400" dirty="0"/>
          </a:p>
        </p:txBody>
      </p: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06D2FC79-1EF6-D955-AA0E-786CC113C1A8}"/>
              </a:ext>
            </a:extLst>
          </p:cNvPr>
          <p:cNvCxnSpPr>
            <a:cxnSpLocks/>
          </p:cNvCxnSpPr>
          <p:nvPr/>
        </p:nvCxnSpPr>
        <p:spPr>
          <a:xfrm flipH="1">
            <a:off x="4479070" y="2005718"/>
            <a:ext cx="13149" cy="271574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本框 58">
            <a:extLst>
              <a:ext uri="{FF2B5EF4-FFF2-40B4-BE49-F238E27FC236}">
                <a16:creationId xmlns:a16="http://schemas.microsoft.com/office/drawing/2014/main" id="{B5348645-25FE-BEF5-6DAD-962E3A9C6852}"/>
              </a:ext>
            </a:extLst>
          </p:cNvPr>
          <p:cNvSpPr txBox="1"/>
          <p:nvPr/>
        </p:nvSpPr>
        <p:spPr>
          <a:xfrm>
            <a:off x="5436818" y="1889812"/>
            <a:ext cx="2950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使用协同信息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+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模态信息</a:t>
            </a:r>
          </a:p>
        </p:txBody>
      </p:sp>
      <p:sp>
        <p:nvSpPr>
          <p:cNvPr id="2" name="箭头: 下 1">
            <a:extLst>
              <a:ext uri="{FF2B5EF4-FFF2-40B4-BE49-F238E27FC236}">
                <a16:creationId xmlns:a16="http://schemas.microsoft.com/office/drawing/2014/main" id="{2F7BE74F-A93F-3803-127C-47FBFCCF84A3}"/>
              </a:ext>
            </a:extLst>
          </p:cNvPr>
          <p:cNvSpPr/>
          <p:nvPr/>
        </p:nvSpPr>
        <p:spPr>
          <a:xfrm>
            <a:off x="6515028" y="4337640"/>
            <a:ext cx="367562" cy="52243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B7EB919-541A-1986-E9B7-04C4509031F9}"/>
              </a:ext>
            </a:extLst>
          </p:cNvPr>
          <p:cNvSpPr txBox="1"/>
          <p:nvPr/>
        </p:nvSpPr>
        <p:spPr>
          <a:xfrm>
            <a:off x="5358399" y="4856911"/>
            <a:ext cx="291836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✅ 融合行为与语义信息 ✅ 更稳健的噪声识别 </a:t>
            </a:r>
            <a:endParaRPr lang="en-US" altLang="zh-CN" dirty="0"/>
          </a:p>
          <a:p>
            <a:r>
              <a:rPr lang="zh-CN" altLang="en-US" dirty="0"/>
              <a:t>✅ 更精细的偏好刻画</a:t>
            </a:r>
            <a:endParaRPr lang="en-US" altLang="zh-CN" b="1" i="0" dirty="0">
              <a:solidFill>
                <a:srgbClr val="2C2C36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398209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23FF93AD-B291-5347-AC70-D7287ABA5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32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3. </a:t>
            </a:r>
            <a:r>
              <a:rPr kumimoji="1" lang="zh-CN" altLang="en-US" sz="32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多模态多行为去噪推荐算法</a:t>
            </a:r>
            <a:endParaRPr kumimoji="1" lang="en-US" altLang="zh-CN" sz="32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4" name="内容占位符 1">
            <a:extLst>
              <a:ext uri="{FF2B5EF4-FFF2-40B4-BE49-F238E27FC236}">
                <a16:creationId xmlns:a16="http://schemas.microsoft.com/office/drawing/2014/main" id="{150F55FE-A301-9D0C-41F8-6748694CA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377" y="3939424"/>
            <a:ext cx="9913385" cy="1930997"/>
          </a:xfrm>
        </p:spPr>
        <p:txBody>
          <a:bodyPr>
            <a:normAutofit fontScale="85000" lnSpcReduction="10000"/>
          </a:bodyPr>
          <a:lstStyle/>
          <a:p>
            <a:r>
              <a:rPr lang="zh-CN" altLang="en-US" dirty="0"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多模态推荐中的模态特征提取不足：</a:t>
            </a:r>
            <a:endParaRPr lang="en-US" altLang="zh-CN" dirty="0">
              <a:solidFill>
                <a:schemeClr val="tx1"/>
              </a:solidFill>
              <a:effectLst/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以往的方法中，视觉和文本信息被</a:t>
            </a:r>
            <a:r>
              <a:rPr lang="zh-CN" altLang="en-US" dirty="0">
                <a:solidFill>
                  <a:srgbClr val="FF0000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不同的模型</a:t>
            </a:r>
            <a:r>
              <a:rPr lang="zh-CN" altLang="en-US" dirty="0"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映射到</a:t>
            </a:r>
            <a:r>
              <a:rPr lang="zh-CN" altLang="en-US" dirty="0">
                <a:solidFill>
                  <a:srgbClr val="FF0000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不同的特征空间</a:t>
            </a:r>
            <a:r>
              <a:rPr lang="zh-CN" altLang="en-US" dirty="0"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中。</a:t>
            </a:r>
            <a:endParaRPr lang="en-US" altLang="zh-CN" dirty="0">
              <a:solidFill>
                <a:schemeClr val="tx1"/>
              </a:solidFill>
              <a:effectLst/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不同模态之间的</a:t>
            </a:r>
            <a:r>
              <a:rPr lang="zh-CN" altLang="en-US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语义空间差异</a:t>
            </a:r>
            <a:r>
              <a:rPr lang="zh-CN" altLang="en-US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，使得这种特征提取和融合的方式是</a:t>
            </a:r>
            <a:r>
              <a:rPr lang="zh-CN" altLang="en-US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低效且不充分</a:t>
            </a:r>
            <a:r>
              <a:rPr lang="zh-CN" altLang="en-US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的。</a:t>
            </a:r>
            <a:endParaRPr lang="en-US" altLang="zh-CN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视觉信息可能包含</a:t>
            </a:r>
            <a:r>
              <a:rPr lang="zh-CN" altLang="en-US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非商品信息</a:t>
            </a:r>
            <a:r>
              <a:rPr lang="zh-CN" altLang="en-US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，直接提取会受到</a:t>
            </a:r>
            <a:r>
              <a:rPr lang="zh-CN" altLang="en-US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背景</a:t>
            </a:r>
            <a:r>
              <a:rPr lang="zh-CN" altLang="en-US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等因素</a:t>
            </a:r>
            <a:r>
              <a:rPr lang="zh-CN" altLang="en-US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影响</a:t>
            </a:r>
            <a:r>
              <a:rPr lang="zh-CN" altLang="en-US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。</a:t>
            </a:r>
            <a:endParaRPr lang="en-US" altLang="zh-CN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文本信息包含商家的标题，可能存在</a:t>
            </a:r>
            <a:r>
              <a:rPr lang="zh-CN" altLang="en-US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冗余信息</a:t>
            </a:r>
            <a:r>
              <a:rPr lang="zh-CN" altLang="en-US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，</a:t>
            </a:r>
            <a:r>
              <a:rPr lang="zh-CN" altLang="en-US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无法</a:t>
            </a:r>
            <a:r>
              <a:rPr lang="zh-CN" altLang="en-US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精准</a:t>
            </a:r>
            <a:r>
              <a:rPr lang="zh-CN" altLang="en-US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反映</a:t>
            </a:r>
            <a:r>
              <a:rPr lang="zh-CN" altLang="en-US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物品的</a:t>
            </a:r>
            <a:r>
              <a:rPr lang="zh-CN" altLang="en-US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具体特征</a:t>
            </a:r>
            <a:r>
              <a:rPr lang="zh-CN" altLang="en-US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。</a:t>
            </a:r>
            <a:endParaRPr lang="en-US" altLang="zh-CN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6" name="内容占位符 1">
            <a:extLst>
              <a:ext uri="{FF2B5EF4-FFF2-40B4-BE49-F238E27FC236}">
                <a16:creationId xmlns:a16="http://schemas.microsoft.com/office/drawing/2014/main" id="{13A5183B-5944-C1B6-23F6-EB5AC270AD48}"/>
              </a:ext>
            </a:extLst>
          </p:cNvPr>
          <p:cNvSpPr txBox="1">
            <a:spLocks/>
          </p:cNvSpPr>
          <p:nvPr/>
        </p:nvSpPr>
        <p:spPr>
          <a:xfrm>
            <a:off x="270377" y="1387378"/>
            <a:ext cx="11258178" cy="351754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05992" indent="-305992" algn="l" defTabSz="457189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29984" indent="-305992" algn="l" defTabSz="457189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99978" indent="-269993" algn="l" defTabSz="457189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1969" indent="-233994" algn="l" defTabSz="457189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1960" indent="-233994" algn="l" defTabSz="457189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99953" indent="-228594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99945" indent="-228594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99938" indent="-228594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99930" indent="-228594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仅使用协同信息判断噪声的不足：</a:t>
            </a:r>
            <a:endParaRPr lang="en-US" altLang="zh-CN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以往的方法中，</a:t>
            </a:r>
            <a:r>
              <a:rPr lang="zh-CN" altLang="en-US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仅使用协同信息</a:t>
            </a:r>
            <a:r>
              <a:rPr lang="zh-CN" altLang="en-US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进行</a:t>
            </a:r>
            <a:r>
              <a:rPr lang="zh-CN" altLang="en-US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去噪，</a:t>
            </a:r>
            <a:r>
              <a:rPr lang="zh-CN" altLang="en-US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本质上是基于</a:t>
            </a:r>
            <a:r>
              <a:rPr lang="zh-CN" altLang="en-US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共现</a:t>
            </a:r>
            <a:r>
              <a:rPr lang="zh-CN" altLang="en-US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交互来判断，容易</a:t>
            </a:r>
            <a:r>
              <a:rPr lang="zh-CN" altLang="en-US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受到热门物品</a:t>
            </a:r>
            <a:r>
              <a:rPr lang="zh-CN" altLang="en-US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与</a:t>
            </a:r>
            <a:r>
              <a:rPr lang="zh-CN" altLang="en-US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冷门物品的影响</a:t>
            </a:r>
            <a:r>
              <a:rPr lang="zh-CN" altLang="en-US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。</a:t>
            </a:r>
            <a:endParaRPr lang="en-US" altLang="zh-CN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容易将用户的</a:t>
            </a:r>
            <a:r>
              <a:rPr lang="zh-CN" altLang="en-US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冷门兴趣</a:t>
            </a:r>
            <a:r>
              <a:rPr lang="zh-CN" altLang="en-US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时误判为</a:t>
            </a:r>
            <a:r>
              <a:rPr lang="zh-CN" altLang="en-US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噪声交互</a:t>
            </a:r>
            <a:r>
              <a:rPr lang="zh-CN" altLang="en-US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。</a:t>
            </a:r>
            <a:endParaRPr lang="en-US" altLang="zh-CN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容易将用户对</a:t>
            </a:r>
            <a:r>
              <a:rPr lang="zh-CN" altLang="en-US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热门物品</a:t>
            </a:r>
            <a:r>
              <a:rPr lang="zh-CN" altLang="en-US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</a:t>
            </a:r>
            <a:r>
              <a:rPr lang="zh-CN" altLang="en-US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探索性交互</a:t>
            </a:r>
            <a:r>
              <a:rPr lang="zh-CN" altLang="en-US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误判为</a:t>
            </a:r>
            <a:r>
              <a:rPr lang="zh-CN" altLang="en-US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真实偏好</a:t>
            </a:r>
            <a:r>
              <a:rPr lang="zh-CN" altLang="en-US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。</a:t>
            </a:r>
            <a:endParaRPr lang="en-US" altLang="zh-CN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831820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23FF93AD-B291-5347-AC70-D7287ABA5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32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3. </a:t>
            </a:r>
            <a:r>
              <a:rPr kumimoji="1" lang="zh-CN" altLang="en-US" sz="32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多模态多行为去噪推荐算法</a:t>
            </a:r>
            <a:endParaRPr kumimoji="1" lang="en-US" altLang="zh-CN" sz="32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8" name="内容占位符 1">
            <a:extLst>
              <a:ext uri="{FF2B5EF4-FFF2-40B4-BE49-F238E27FC236}">
                <a16:creationId xmlns:a16="http://schemas.microsoft.com/office/drawing/2014/main" id="{F9E1F06C-9AC2-BB9E-9BCF-6514463793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580" y="1391682"/>
            <a:ext cx="11258178" cy="3517544"/>
          </a:xfrm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仅使用协同信息判断噪声的不足</a:t>
            </a:r>
            <a:r>
              <a:rPr lang="zh-CN" altLang="en-US" dirty="0"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：</a:t>
            </a:r>
            <a:endParaRPr lang="en-US" altLang="zh-CN" dirty="0">
              <a:solidFill>
                <a:schemeClr val="tx1"/>
              </a:solidFill>
              <a:effectLst/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以往的方法中，</a:t>
            </a:r>
            <a:r>
              <a:rPr lang="zh-CN" altLang="en-US" dirty="0">
                <a:solidFill>
                  <a:srgbClr val="FF0000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仅使用协同信息</a:t>
            </a:r>
            <a:r>
              <a:rPr lang="zh-CN" altLang="en-US" dirty="0"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进行</a:t>
            </a:r>
            <a:r>
              <a:rPr lang="zh-CN" altLang="en-US" dirty="0">
                <a:solidFill>
                  <a:srgbClr val="FF0000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去噪，</a:t>
            </a:r>
            <a:r>
              <a:rPr lang="zh-CN" altLang="en-US" dirty="0"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本质上是基于</a:t>
            </a:r>
            <a:r>
              <a:rPr lang="zh-CN" altLang="en-US" dirty="0">
                <a:solidFill>
                  <a:srgbClr val="FF0000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共现</a:t>
            </a:r>
            <a:r>
              <a:rPr lang="zh-CN" altLang="en-US" dirty="0"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交互来判断，容易</a:t>
            </a:r>
            <a:r>
              <a:rPr lang="zh-CN" altLang="en-US" dirty="0">
                <a:solidFill>
                  <a:srgbClr val="FF0000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受到热门物品</a:t>
            </a:r>
            <a:r>
              <a:rPr lang="zh-CN" altLang="en-US" dirty="0"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与</a:t>
            </a:r>
            <a:r>
              <a:rPr lang="zh-CN" altLang="en-US" dirty="0">
                <a:solidFill>
                  <a:srgbClr val="FF0000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冷门物品的影响</a:t>
            </a:r>
            <a:r>
              <a:rPr lang="zh-CN" altLang="en-US" dirty="0"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。</a:t>
            </a:r>
            <a:endParaRPr lang="en-US" altLang="zh-CN" dirty="0">
              <a:solidFill>
                <a:schemeClr val="tx1"/>
              </a:solidFill>
              <a:effectLst/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容易将用户的</a:t>
            </a:r>
            <a:r>
              <a:rPr lang="zh-CN" altLang="en-US" dirty="0">
                <a:solidFill>
                  <a:srgbClr val="FF0000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冷门兴趣</a:t>
            </a:r>
            <a:r>
              <a:rPr lang="zh-CN" altLang="en-US" dirty="0"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时误判为</a:t>
            </a:r>
            <a:r>
              <a:rPr lang="zh-CN" altLang="en-US" dirty="0">
                <a:solidFill>
                  <a:srgbClr val="FF0000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噪声交互</a:t>
            </a:r>
            <a:r>
              <a:rPr lang="zh-CN" altLang="en-US" dirty="0"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。</a:t>
            </a:r>
            <a:endParaRPr lang="en-US" altLang="zh-CN" dirty="0">
              <a:solidFill>
                <a:schemeClr val="tx1"/>
              </a:solidFill>
              <a:effectLst/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容易将用户对</a:t>
            </a:r>
            <a:r>
              <a:rPr lang="zh-CN" altLang="en-US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热门物品</a:t>
            </a:r>
            <a:r>
              <a:rPr lang="zh-CN" altLang="en-US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</a:t>
            </a:r>
            <a:r>
              <a:rPr lang="zh-CN" altLang="en-US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探索性交互</a:t>
            </a:r>
            <a:r>
              <a:rPr lang="zh-CN" altLang="en-US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误判为</a:t>
            </a:r>
            <a:r>
              <a:rPr lang="zh-CN" altLang="en-US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真实偏好</a:t>
            </a:r>
            <a:r>
              <a:rPr lang="zh-CN" altLang="en-US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。</a:t>
            </a:r>
            <a:endParaRPr lang="en-US" altLang="zh-CN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r>
              <a:rPr lang="zh-CN" altLang="en-US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利用大模型，结合协同信息与模态信息识别噪声交互，生成用户偏好：</a:t>
            </a:r>
            <a:endParaRPr lang="en-US" altLang="zh-CN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使用</a:t>
            </a:r>
            <a:r>
              <a:rPr lang="en-US" altLang="zh-CN" dirty="0">
                <a:solidFill>
                  <a:schemeClr val="tx1"/>
                </a:solidFill>
                <a:latin typeface="+mj-lt"/>
                <a:ea typeface="华文中宋" panose="02010600040101010101" pitchFamily="2" charset="-122"/>
              </a:rPr>
              <a:t>NIPER</a:t>
            </a:r>
            <a:r>
              <a:rPr lang="zh-CN" altLang="en-US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中的行为间</a:t>
            </a:r>
            <a:r>
              <a:rPr lang="en-US" altLang="zh-CN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-</a:t>
            </a:r>
            <a:r>
              <a:rPr lang="zh-CN" altLang="en-US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行为内加权方法，为每对用户</a:t>
            </a:r>
            <a:r>
              <a:rPr lang="en-US" altLang="zh-CN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-</a:t>
            </a:r>
            <a:r>
              <a:rPr lang="zh-CN" altLang="en-US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物品交互进行打分</a:t>
            </a:r>
            <a:endParaRPr lang="en-US" altLang="zh-CN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将该分数与</a:t>
            </a:r>
            <a:endParaRPr lang="en-US" altLang="zh-CN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B2536104-9C9A-BEC6-B6A0-6D4946CA1D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2377" y="2112939"/>
            <a:ext cx="3552827" cy="3691813"/>
          </a:xfrm>
          <a:prstGeom prst="rect">
            <a:avLst/>
          </a:prstGeom>
        </p:spPr>
      </p:pic>
      <p:sp>
        <p:nvSpPr>
          <p:cNvPr id="16" name="内容占位符 1">
            <a:extLst>
              <a:ext uri="{FF2B5EF4-FFF2-40B4-BE49-F238E27FC236}">
                <a16:creationId xmlns:a16="http://schemas.microsoft.com/office/drawing/2014/main" id="{8D496094-FA27-D6F4-4A76-1295644BB3E0}"/>
              </a:ext>
            </a:extLst>
          </p:cNvPr>
          <p:cNvSpPr txBox="1">
            <a:spLocks/>
          </p:cNvSpPr>
          <p:nvPr/>
        </p:nvSpPr>
        <p:spPr>
          <a:xfrm>
            <a:off x="270377" y="4839254"/>
            <a:ext cx="9913385" cy="19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305992" indent="-305992" algn="l" defTabSz="457189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29984" indent="-305992" algn="l" defTabSz="457189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99978" indent="-269993" algn="l" defTabSz="457189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1969" indent="-233994" algn="l" defTabSz="457189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1960" indent="-233994" algn="l" defTabSz="457189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99953" indent="-228594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99945" indent="-228594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99938" indent="-228594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99930" indent="-228594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利用大模型对模态特征进行提取。</a:t>
            </a:r>
            <a:endParaRPr lang="en-US" altLang="zh-CN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r>
              <a:rPr lang="zh-CN" altLang="en-US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结合视觉与原始文本信息，生成物品的</a:t>
            </a:r>
            <a:r>
              <a:rPr lang="zh-CN" altLang="en-US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文本摘要</a:t>
            </a:r>
            <a:r>
              <a:rPr lang="zh-CN" altLang="en-US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。</a:t>
            </a:r>
            <a:endParaRPr lang="en-US" altLang="zh-CN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r>
              <a:rPr lang="zh-CN" altLang="en-US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结合协同信息与模态信息实现</a:t>
            </a:r>
            <a:r>
              <a:rPr lang="zh-CN" altLang="en-US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更准确的噪声识别</a:t>
            </a:r>
            <a:r>
              <a:rPr lang="zh-CN" altLang="en-US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。</a:t>
            </a:r>
            <a:endParaRPr lang="en-US" altLang="zh-CN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r>
              <a:rPr lang="zh-CN" altLang="en-US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结合协同信息与模态信息实现</a:t>
            </a:r>
            <a:r>
              <a:rPr lang="zh-CN" altLang="en-US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更丰富的真实偏好提取</a:t>
            </a:r>
            <a:r>
              <a:rPr lang="zh-CN" altLang="en-US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。</a:t>
            </a:r>
            <a:endParaRPr lang="en-US" altLang="zh-CN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endParaRPr lang="en-US" altLang="zh-CN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397018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</TotalTime>
  <Words>381</Words>
  <Application>Microsoft Office PowerPoint</Application>
  <PresentationFormat>宽屏</PresentationFormat>
  <Paragraphs>30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0" baseType="lpstr">
      <vt:lpstr>等线</vt:lpstr>
      <vt:lpstr>等线 Light</vt:lpstr>
      <vt:lpstr>华文中宋</vt:lpstr>
      <vt:lpstr>宋体</vt:lpstr>
      <vt:lpstr>Arial</vt:lpstr>
      <vt:lpstr>Times New Roman</vt:lpstr>
      <vt:lpstr>Office 主题​​</vt:lpstr>
      <vt:lpstr>PowerPoint 演示文稿</vt:lpstr>
      <vt:lpstr>3. 多模态多行为去噪推荐算法</vt:lpstr>
      <vt:lpstr>3. 多模态多行为去噪推荐算法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红雨 樊</dc:creator>
  <cp:lastModifiedBy>红雨 樊</cp:lastModifiedBy>
  <cp:revision>9</cp:revision>
  <dcterms:created xsi:type="dcterms:W3CDTF">2025-06-29T08:32:17Z</dcterms:created>
  <dcterms:modified xsi:type="dcterms:W3CDTF">2025-06-29T16:52:41Z</dcterms:modified>
</cp:coreProperties>
</file>