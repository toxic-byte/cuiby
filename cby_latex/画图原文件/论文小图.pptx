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799445" cy="539940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0" userDrawn="1">
          <p15:clr>
            <a:srgbClr val="A4A3A4"/>
          </p15:clr>
        </p15:guide>
        <p15:guide id="2" pos="33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700"/>
        <p:guide pos="33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0069" y="883835"/>
            <a:ext cx="8100415" cy="1880179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069" y="2836521"/>
            <a:ext cx="8100415" cy="1303874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5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913" y="1346379"/>
            <a:ext cx="9315478" cy="2246464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913" y="3614095"/>
            <a:ext cx="9315478" cy="1181362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2538" y="1437637"/>
            <a:ext cx="4590235" cy="342657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67780" y="1437637"/>
            <a:ext cx="4590235" cy="342657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45" y="287527"/>
            <a:ext cx="9315478" cy="10438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945" y="1323877"/>
            <a:ext cx="4569140" cy="648812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3945" y="1972688"/>
            <a:ext cx="4569140" cy="290152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67780" y="1323877"/>
            <a:ext cx="4591642" cy="648812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67780" y="1972688"/>
            <a:ext cx="4591642" cy="290152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45" y="360034"/>
            <a:ext cx="3483459" cy="126012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642" y="777574"/>
            <a:ext cx="5467780" cy="3837866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45" y="1620155"/>
            <a:ext cx="3483459" cy="3001537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90"/>
            </a:lvl4pPr>
            <a:lvl5pPr marL="1440180" indent="0">
              <a:buNone/>
              <a:defRPr sz="790"/>
            </a:lvl5pPr>
            <a:lvl6pPr marL="1800225" indent="0">
              <a:buNone/>
              <a:defRPr sz="790"/>
            </a:lvl6pPr>
            <a:lvl7pPr marL="2160270" indent="0">
              <a:buNone/>
              <a:defRPr sz="790"/>
            </a:lvl7pPr>
            <a:lvl8pPr marL="2520315" indent="0">
              <a:buNone/>
              <a:defRPr sz="790"/>
            </a:lvl8pPr>
            <a:lvl9pPr marL="2880360" indent="0">
              <a:buNone/>
              <a:defRPr sz="7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45" y="360034"/>
            <a:ext cx="3483459" cy="126012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642" y="777574"/>
            <a:ext cx="5467780" cy="3837866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45" y="1620155"/>
            <a:ext cx="3483459" cy="3001537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90"/>
            </a:lvl4pPr>
            <a:lvl5pPr marL="1440180" indent="0">
              <a:buNone/>
              <a:defRPr sz="790"/>
            </a:lvl5pPr>
            <a:lvl6pPr marL="1800225" indent="0">
              <a:buNone/>
              <a:defRPr sz="790"/>
            </a:lvl6pPr>
            <a:lvl7pPr marL="2160270" indent="0">
              <a:buNone/>
              <a:defRPr sz="790"/>
            </a:lvl7pPr>
            <a:lvl8pPr marL="2520315" indent="0">
              <a:buNone/>
              <a:defRPr sz="790"/>
            </a:lvl8pPr>
            <a:lvl9pPr marL="2880360" indent="0">
              <a:buNone/>
              <a:defRPr sz="7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29146" y="287527"/>
            <a:ext cx="2328869" cy="4576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2538" y="287527"/>
            <a:ext cx="6851601" cy="4576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538" y="287527"/>
            <a:ext cx="9315478" cy="1043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2538" y="1437637"/>
            <a:ext cx="9315478" cy="3426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42538" y="5005478"/>
            <a:ext cx="2430125" cy="287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77683" y="5005478"/>
            <a:ext cx="3645187" cy="287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27891" y="5005478"/>
            <a:ext cx="2430125" cy="287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2009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43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61988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4061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70002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6006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731757" y="671450"/>
            <a:ext cx="9461500" cy="142113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b="1">
                <a:solidFill>
                  <a:schemeClr val="tx1"/>
                </a:solidFill>
              </a:rPr>
              <a:t>任务说明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Instruction)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你是一位推荐系统助手。用户与物品之间的交互行为具有不同强度，例如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购买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通常表示较强兴趣，而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点击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可能仅代表短暂关注。请根据用户的历史交互记录，总结其主要兴趣偏好。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31757" y="2466595"/>
            <a:ext cx="8535035" cy="21767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数据输入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(Input)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包括交互行为类型、物品摘要文本以及协同评分，例如：用户</a:t>
            </a:r>
            <a:r>
              <a:rPr lang="en-US" altLang="zh-CN">
                <a:solidFill>
                  <a:schemeClr val="tx1"/>
                </a:solidFill>
              </a:rPr>
              <a:t> ID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u1234  </a:t>
            </a:r>
            <a:r>
              <a:rPr lang="zh-CN" altLang="en-US">
                <a:solidFill>
                  <a:schemeClr val="tx1"/>
                </a:solidFill>
              </a:rPr>
              <a:t>交互物品列表：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    [1] </a:t>
            </a:r>
            <a:r>
              <a:rPr lang="zh-CN" altLang="en-US">
                <a:solidFill>
                  <a:schemeClr val="tx1"/>
                </a:solidFill>
              </a:rPr>
              <a:t>行为：购买；摘要：轻质透气的跑步鞋；评分：</a:t>
            </a:r>
            <a:r>
              <a:rPr lang="en-US" altLang="zh-CN">
                <a:solidFill>
                  <a:schemeClr val="tx1"/>
                </a:solidFill>
              </a:rPr>
              <a:t>0.92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     [2] </a:t>
            </a:r>
            <a:r>
              <a:rPr lang="zh-CN" altLang="en-US">
                <a:solidFill>
                  <a:schemeClr val="tx1"/>
                </a:solidFill>
              </a:rPr>
              <a:t>行为：点击；摘要：女士时尚手提包；评分：</a:t>
            </a:r>
            <a:r>
              <a:rPr lang="en-US" altLang="zh-CN">
                <a:solidFill>
                  <a:schemeClr val="tx1"/>
                </a:solidFill>
              </a:rPr>
              <a:t>0.23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     [3] </a:t>
            </a:r>
            <a:r>
              <a:rPr lang="zh-CN" altLang="en-US">
                <a:solidFill>
                  <a:schemeClr val="tx1"/>
                </a:solidFill>
              </a:rPr>
              <a:t>行为：加购；摘要：运动功能手表，适合日常锻炼；评分：</a:t>
            </a:r>
            <a:r>
              <a:rPr lang="en-US" altLang="zh-CN">
                <a:solidFill>
                  <a:schemeClr val="tx1"/>
                </a:solidFill>
              </a:rPr>
              <a:t>0.87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     ......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84742" y="383160"/>
            <a:ext cx="9899015" cy="463359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FanHongYu</dc:creator>
  <cp:lastModifiedBy>樊红雨</cp:lastModifiedBy>
  <cp:revision>19</cp:revision>
  <dcterms:created xsi:type="dcterms:W3CDTF">2023-08-09T12:44:00Z</dcterms:created>
  <dcterms:modified xsi:type="dcterms:W3CDTF">2026-03-04T15:18:07Z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91A2996DAB66429688C6CB09DC1A0E23_12</vt:lpwstr>
  </property>
</Properties>
</file>