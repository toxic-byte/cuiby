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xml" ContentType="application/vnd.openxmlformats-officedocument.presentationml.tags+xml"/>
  <Override PartName="/ppt/notesSlides/notesSlide8.xml" ContentType="application/vnd.openxmlformats-officedocument.presentationml.notesSlide+xml"/>
  <Override PartName="/ppt/tags/tag2.xml" ContentType="application/vnd.openxmlformats-officedocument.presentationml.tags+xml"/>
  <Override PartName="/ppt/notesSlides/notesSlide9.xml" ContentType="application/vnd.openxmlformats-officedocument.presentationml.notesSlide+xml"/>
  <Override PartName="/ppt/tags/tag3.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4.xml" ContentType="application/vnd.openxmlformats-officedocument.presentationml.tags+xml"/>
  <Override PartName="/ppt/notesSlides/notesSlide12.xml" ContentType="application/vnd.openxmlformats-officedocument.presentationml.notesSlide+xml"/>
  <Override PartName="/ppt/tags/tag5.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58" r:id="rId1"/>
  </p:sldMasterIdLst>
  <p:notesMasterIdLst>
    <p:notesMasterId r:id="rId31"/>
  </p:notesMasterIdLst>
  <p:sldIdLst>
    <p:sldId id="256" r:id="rId2"/>
    <p:sldId id="258" r:id="rId3"/>
    <p:sldId id="269" r:id="rId4"/>
    <p:sldId id="273" r:id="rId5"/>
    <p:sldId id="275" r:id="rId6"/>
    <p:sldId id="301" r:id="rId7"/>
    <p:sldId id="278" r:id="rId8"/>
    <p:sldId id="280" r:id="rId9"/>
    <p:sldId id="281" r:id="rId10"/>
    <p:sldId id="282" r:id="rId11"/>
    <p:sldId id="283" r:id="rId12"/>
    <p:sldId id="284" r:id="rId13"/>
    <p:sldId id="302" r:id="rId14"/>
    <p:sldId id="303" r:id="rId15"/>
    <p:sldId id="285" r:id="rId16"/>
    <p:sldId id="286" r:id="rId17"/>
    <p:sldId id="305" r:id="rId18"/>
    <p:sldId id="306" r:id="rId19"/>
    <p:sldId id="287" r:id="rId20"/>
    <p:sldId id="292" r:id="rId21"/>
    <p:sldId id="293" r:id="rId22"/>
    <p:sldId id="294" r:id="rId23"/>
    <p:sldId id="295" r:id="rId24"/>
    <p:sldId id="308" r:id="rId25"/>
    <p:sldId id="309" r:id="rId26"/>
    <p:sldId id="300" r:id="rId27"/>
    <p:sldId id="274" r:id="rId28"/>
    <p:sldId id="277" r:id="rId29"/>
    <p:sldId id="289"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EFDFF"/>
    <a:srgbClr val="E1DFE2"/>
    <a:srgbClr val="215CC1"/>
    <a:srgbClr val="5C307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272"/>
    <p:restoredTop sz="70767" autoAdjust="0"/>
  </p:normalViewPr>
  <p:slideViewPr>
    <p:cSldViewPr snapToGrid="0" snapToObjects="1">
      <p:cViewPr varScale="1">
        <p:scale>
          <a:sx n="86" d="100"/>
          <a:sy n="86" d="100"/>
        </p:scale>
        <p:origin x="1786" y="72"/>
      </p:cViewPr>
      <p:guideLst/>
    </p:cSldViewPr>
  </p:slideViewPr>
  <p:outlineViewPr>
    <p:cViewPr>
      <p:scale>
        <a:sx n="33" d="100"/>
        <a:sy n="33" d="100"/>
      </p:scale>
      <p:origin x="0" y="-11400"/>
    </p:cViewPr>
  </p:outlin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A87FCA-ADCF-4650-A928-2B85CADE410A}" type="datetimeFigureOut">
              <a:rPr lang="zh-CN" altLang="en-US" smtClean="0"/>
              <a:t>2026/1/6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FA68EA-72A2-4252-BA25-A6764274F607}" type="slidenum">
              <a:rPr lang="zh-CN" altLang="en-US" smtClean="0"/>
              <a:t>‹#›</a:t>
            </a:fld>
            <a:endParaRPr lang="zh-CN" altLang="en-US"/>
          </a:p>
        </p:txBody>
      </p:sp>
    </p:spTree>
    <p:extLst>
      <p:ext uri="{BB962C8B-B14F-4D97-AF65-F5344CB8AC3E}">
        <p14:creationId xmlns:p14="http://schemas.microsoft.com/office/powerpoint/2010/main" val="26030569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FA68EA-72A2-4252-BA25-A6764274F607}" type="slidenum">
              <a:rPr lang="zh-CN" altLang="en-US" smtClean="0"/>
              <a:t>1</a:t>
            </a:fld>
            <a:endParaRPr lang="zh-CN" altLang="en-US"/>
          </a:p>
        </p:txBody>
      </p:sp>
    </p:spTree>
    <p:extLst>
      <p:ext uri="{BB962C8B-B14F-4D97-AF65-F5344CB8AC3E}">
        <p14:creationId xmlns:p14="http://schemas.microsoft.com/office/powerpoint/2010/main" val="10113348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060A26"/>
                </a:solidFill>
                <a:effectLst/>
                <a:latin typeface="PingFang SC"/>
              </a:rPr>
              <a:t>大家都知道，电商平台已经成为当前互联网经济中最核心的商业形态之一。而支撑其高效运转的关键技术之一，就是</a:t>
            </a:r>
            <a:r>
              <a:rPr lang="zh-CN" altLang="en-US" b="1" i="0" dirty="0">
                <a:solidFill>
                  <a:srgbClr val="060A26"/>
                </a:solidFill>
                <a:effectLst/>
                <a:latin typeface="PingFang SC"/>
              </a:rPr>
              <a:t>推荐系统</a:t>
            </a:r>
            <a:r>
              <a:rPr lang="zh-CN" altLang="en-US" b="0" i="0" dirty="0">
                <a:solidFill>
                  <a:srgbClr val="060A26"/>
                </a:solidFill>
                <a:effectLst/>
                <a:latin typeface="PingFang SC"/>
              </a:rPr>
              <a:t>。平台通过推荐系统精准捕捉用户的兴趣偏好，从而实现商品的个性化推送，提升转化率和用户体验。</a:t>
            </a:r>
          </a:p>
          <a:p>
            <a:pPr algn="l"/>
            <a:r>
              <a:rPr lang="zh-CN" altLang="en-US" b="0" i="0" dirty="0">
                <a:solidFill>
                  <a:srgbClr val="060A26"/>
                </a:solidFill>
                <a:effectLst/>
                <a:latin typeface="PingFang SC"/>
              </a:rPr>
              <a:t>那么，推荐系统靠什么来理解用户呢？答案是</a:t>
            </a:r>
            <a:r>
              <a:rPr lang="en-US" altLang="zh-CN" b="0" i="0" dirty="0">
                <a:solidFill>
                  <a:srgbClr val="060A26"/>
                </a:solidFill>
                <a:effectLst/>
                <a:latin typeface="PingFang SC"/>
              </a:rPr>
              <a:t>——</a:t>
            </a:r>
            <a:r>
              <a:rPr lang="zh-CN" altLang="en-US" b="1" i="0" dirty="0">
                <a:solidFill>
                  <a:srgbClr val="060A26"/>
                </a:solidFill>
                <a:effectLst/>
                <a:latin typeface="PingFang SC"/>
              </a:rPr>
              <a:t>用户行为数据</a:t>
            </a:r>
            <a:r>
              <a:rPr lang="zh-CN" altLang="en-US" b="0" i="0" dirty="0">
                <a:solidFill>
                  <a:srgbClr val="060A26"/>
                </a:solidFill>
                <a:effectLst/>
                <a:latin typeface="PingFang SC"/>
              </a:rPr>
              <a:t>。</a:t>
            </a:r>
          </a:p>
          <a:p>
            <a:pPr algn="l"/>
            <a:r>
              <a:rPr lang="zh-CN" altLang="en-US" b="0" i="0" dirty="0">
                <a:solidFill>
                  <a:srgbClr val="060A26"/>
                </a:solidFill>
                <a:effectLst/>
                <a:latin typeface="PingFang SC"/>
              </a:rPr>
              <a:t>如图</a:t>
            </a:r>
            <a:r>
              <a:rPr lang="en-US" altLang="zh-CN" b="0" i="0" dirty="0">
                <a:solidFill>
                  <a:srgbClr val="060A26"/>
                </a:solidFill>
                <a:effectLst/>
                <a:latin typeface="PingFang SC"/>
              </a:rPr>
              <a:t>1-1</a:t>
            </a:r>
            <a:r>
              <a:rPr lang="zh-CN" altLang="en-US" b="0" i="0" dirty="0">
                <a:solidFill>
                  <a:srgbClr val="060A26"/>
                </a:solidFill>
                <a:effectLst/>
                <a:latin typeface="PingFang SC"/>
              </a:rPr>
              <a:t>所示，在典型的电商平台上，用户会产生多种类型的行为，比如“待付款”、“待发货”、“待收货”、“待评价”，还有“收藏”和“浏览足迹”等。这些行为看似普通，但其实蕴含着丰富的信息：</a:t>
            </a:r>
          </a:p>
          <a:p>
            <a:pPr algn="l">
              <a:buFont typeface="Arial" panose="020B0604020202020204" pitchFamily="34" charset="0"/>
              <a:buChar char="•"/>
            </a:pPr>
            <a:r>
              <a:rPr lang="zh-CN" altLang="en-US" b="0" i="0" dirty="0">
                <a:solidFill>
                  <a:srgbClr val="060A26"/>
                </a:solidFill>
                <a:effectLst/>
                <a:latin typeface="PingFang SC"/>
              </a:rPr>
              <a:t>“收藏”通常代表用户有较强的购买意愿；</a:t>
            </a:r>
          </a:p>
          <a:p>
            <a:pPr algn="l">
              <a:buFont typeface="Arial" panose="020B0604020202020204" pitchFamily="34" charset="0"/>
              <a:buChar char="•"/>
            </a:pPr>
            <a:r>
              <a:rPr lang="zh-CN" altLang="en-US" b="0" i="0" dirty="0">
                <a:solidFill>
                  <a:srgbClr val="060A26"/>
                </a:solidFill>
                <a:effectLst/>
                <a:latin typeface="PingFang SC"/>
              </a:rPr>
              <a:t>“浏览足迹”反映的是初步的兴趣探索；</a:t>
            </a:r>
          </a:p>
          <a:p>
            <a:pPr algn="l">
              <a:buFont typeface="Arial" panose="020B0604020202020204" pitchFamily="34" charset="0"/>
              <a:buChar char="•"/>
            </a:pPr>
            <a:r>
              <a:rPr lang="zh-CN" altLang="en-US" b="0" i="0" dirty="0">
                <a:solidFill>
                  <a:srgbClr val="060A26"/>
                </a:solidFill>
                <a:effectLst/>
                <a:latin typeface="PingFang SC"/>
              </a:rPr>
              <a:t>而“待评价”则说明用户已完成消费，可能还隐含对商品的满意度。</a:t>
            </a:r>
          </a:p>
          <a:p>
            <a:pPr algn="l"/>
            <a:r>
              <a:rPr lang="zh-CN" altLang="en-US" b="0" i="0" dirty="0">
                <a:solidFill>
                  <a:srgbClr val="060A26"/>
                </a:solidFill>
                <a:effectLst/>
                <a:latin typeface="PingFang SC"/>
              </a:rPr>
              <a:t>也就是说，不同行为对应用户在</a:t>
            </a:r>
            <a:r>
              <a:rPr lang="zh-CN" altLang="en-US" b="1" i="0" dirty="0">
                <a:solidFill>
                  <a:srgbClr val="060A26"/>
                </a:solidFill>
                <a:effectLst/>
                <a:latin typeface="PingFang SC"/>
              </a:rPr>
              <a:t>不同决策阶段</a:t>
            </a:r>
            <a:r>
              <a:rPr lang="zh-CN" altLang="en-US" b="0" i="0" dirty="0">
                <a:solidFill>
                  <a:srgbClr val="060A26"/>
                </a:solidFill>
                <a:effectLst/>
                <a:latin typeface="PingFang SC"/>
              </a:rPr>
              <a:t>的心理状态和偏好强度。如果推荐系统只关注单一行为（比如点击或购买），就很容易忽略这些潜在但重要的信号。</a:t>
            </a:r>
          </a:p>
          <a:p>
            <a:pPr algn="l"/>
            <a:r>
              <a:rPr lang="zh-CN" altLang="en-US" b="0" i="0" dirty="0">
                <a:solidFill>
                  <a:srgbClr val="060A26"/>
                </a:solidFill>
                <a:effectLst/>
                <a:latin typeface="PingFang SC"/>
              </a:rPr>
              <a:t>因此，本研究的核心目标就是：</a:t>
            </a:r>
            <a:r>
              <a:rPr lang="zh-CN" altLang="en-US" b="1" i="0" dirty="0">
                <a:solidFill>
                  <a:srgbClr val="060A26"/>
                </a:solidFill>
                <a:effectLst/>
                <a:latin typeface="PingFang SC"/>
              </a:rPr>
              <a:t>如何有效融合用户的多类型行为，构建更全面、更细粒度的用户兴趣模型，从而提升推荐系统的准确性和鲁棒性</a:t>
            </a:r>
            <a:r>
              <a:rPr lang="zh-CN" altLang="en-US" b="0" i="0" dirty="0">
                <a:solidFill>
                  <a:srgbClr val="060A26"/>
                </a:solidFill>
                <a:effectLst/>
                <a:latin typeface="PingFang SC"/>
              </a:rPr>
              <a:t>。</a:t>
            </a:r>
          </a:p>
        </p:txBody>
      </p:sp>
      <p:sp>
        <p:nvSpPr>
          <p:cNvPr id="4" name="灯片编号占位符 3"/>
          <p:cNvSpPr>
            <a:spLocks noGrp="1"/>
          </p:cNvSpPr>
          <p:nvPr>
            <p:ph type="sldNum" sz="quarter" idx="5"/>
          </p:nvPr>
        </p:nvSpPr>
        <p:spPr/>
        <p:txBody>
          <a:bodyPr/>
          <a:lstStyle/>
          <a:p>
            <a:fld id="{FEFA68EA-72A2-4252-BA25-A6764274F607}" type="slidenum">
              <a:rPr lang="zh-CN" altLang="en-US" smtClean="0"/>
              <a:t>3</a:t>
            </a:fld>
            <a:endParaRPr lang="zh-CN" altLang="en-US"/>
          </a:p>
        </p:txBody>
      </p:sp>
    </p:spTree>
    <p:extLst>
      <p:ext uri="{BB962C8B-B14F-4D97-AF65-F5344CB8AC3E}">
        <p14:creationId xmlns:p14="http://schemas.microsoft.com/office/powerpoint/2010/main" val="37611413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060A26"/>
                </a:solidFill>
                <a:effectLst/>
                <a:latin typeface="PingFang SC"/>
              </a:rPr>
              <a:t>各位老师好，接下来我将介绍电商平台中多行为数据的特点以及现有方法面临的瓶颈。</a:t>
            </a:r>
          </a:p>
          <a:p>
            <a:pPr algn="l"/>
            <a:r>
              <a:rPr lang="zh-CN" altLang="en-US" b="0" i="0" dirty="0">
                <a:solidFill>
                  <a:srgbClr val="060A26"/>
                </a:solidFill>
                <a:effectLst/>
                <a:latin typeface="PingFang SC"/>
              </a:rPr>
              <a:t>在电商场景中，用户会产生多种行为，比如点击、浏览、收藏、加购和购买等。这些行为虽</a:t>
            </a:r>
            <a:r>
              <a:rPr lang="en-US" altLang="zh-CN" b="0" i="0" dirty="0">
                <a:solidFill>
                  <a:srgbClr val="060A26"/>
                </a:solidFill>
                <a:effectLst/>
                <a:latin typeface="PingFang SC"/>
              </a:rPr>
              <a:t>0</a:t>
            </a:r>
            <a:r>
              <a:rPr lang="zh-CN" altLang="en-US" b="0" i="0" dirty="0">
                <a:solidFill>
                  <a:srgbClr val="060A26"/>
                </a:solidFill>
                <a:effectLst/>
                <a:latin typeface="PingFang SC"/>
              </a:rPr>
              <a:t>然形式不同，但都隐含着丰富的兴趣信号。例如：</a:t>
            </a:r>
          </a:p>
          <a:p>
            <a:pPr algn="l">
              <a:buFont typeface="Arial" panose="020B0604020202020204" pitchFamily="34" charset="0"/>
              <a:buChar char="•"/>
            </a:pPr>
            <a:r>
              <a:rPr lang="zh-CN" altLang="en-US" b="0" i="0" dirty="0">
                <a:solidFill>
                  <a:srgbClr val="060A26"/>
                </a:solidFill>
                <a:effectLst/>
                <a:latin typeface="PingFang SC"/>
              </a:rPr>
              <a:t>点击可能表示初步兴趣；</a:t>
            </a:r>
          </a:p>
          <a:p>
            <a:pPr algn="l">
              <a:buFont typeface="Arial" panose="020B0604020202020204" pitchFamily="34" charset="0"/>
              <a:buChar char="•"/>
            </a:pPr>
            <a:r>
              <a:rPr lang="zh-CN" altLang="en-US" b="0" i="0" dirty="0">
                <a:solidFill>
                  <a:srgbClr val="060A26"/>
                </a:solidFill>
                <a:effectLst/>
                <a:latin typeface="PingFang SC"/>
              </a:rPr>
              <a:t>收藏或加购说明用户有较强购买意向；</a:t>
            </a:r>
          </a:p>
          <a:p>
            <a:pPr algn="l">
              <a:buFont typeface="Arial" panose="020B0604020202020204" pitchFamily="34" charset="0"/>
              <a:buChar char="•"/>
            </a:pPr>
            <a:r>
              <a:rPr lang="zh-CN" altLang="en-US" b="0" i="0" dirty="0">
                <a:solidFill>
                  <a:srgbClr val="060A26"/>
                </a:solidFill>
                <a:effectLst/>
                <a:latin typeface="PingFang SC"/>
              </a:rPr>
              <a:t>而最终的购买行为，则是最高价值的兴趣表达。</a:t>
            </a:r>
          </a:p>
          <a:p>
            <a:pPr algn="l"/>
            <a:r>
              <a:rPr lang="zh-CN" altLang="en-US" b="0" i="0" dirty="0">
                <a:solidFill>
                  <a:srgbClr val="060A26"/>
                </a:solidFill>
                <a:effectLst/>
                <a:latin typeface="PingFang SC"/>
              </a:rPr>
              <a:t>因此，如果能够对这些</a:t>
            </a:r>
            <a:r>
              <a:rPr lang="zh-CN" altLang="en-US" b="1" i="0" dirty="0">
                <a:solidFill>
                  <a:srgbClr val="060A26"/>
                </a:solidFill>
                <a:effectLst/>
                <a:latin typeface="PingFang SC"/>
              </a:rPr>
              <a:t>多类型行为进行协同建模</a:t>
            </a:r>
            <a:r>
              <a:rPr lang="zh-CN" altLang="en-US" b="0" i="0" dirty="0">
                <a:solidFill>
                  <a:srgbClr val="060A26"/>
                </a:solidFill>
                <a:effectLst/>
                <a:latin typeface="PingFang SC"/>
              </a:rPr>
              <a:t>，就能更全面、前瞻性地理解用户的意图，从而提升转化率和推荐效果。</a:t>
            </a:r>
          </a:p>
          <a:p>
            <a:pPr algn="l"/>
            <a:r>
              <a:rPr lang="zh-CN" altLang="en-US" b="0" i="0" dirty="0">
                <a:solidFill>
                  <a:srgbClr val="060A26"/>
                </a:solidFill>
                <a:effectLst/>
                <a:latin typeface="PingFang SC"/>
              </a:rPr>
              <a:t>然而，现实情况并不理想。正如图</a:t>
            </a:r>
            <a:r>
              <a:rPr lang="en-US" altLang="zh-CN" b="0" i="0" dirty="0">
                <a:solidFill>
                  <a:srgbClr val="060A26"/>
                </a:solidFill>
                <a:effectLst/>
                <a:latin typeface="PingFang SC"/>
              </a:rPr>
              <a:t>1-2</a:t>
            </a:r>
            <a:r>
              <a:rPr lang="zh-CN" altLang="en-US" b="0" i="0" dirty="0">
                <a:solidFill>
                  <a:srgbClr val="060A26"/>
                </a:solidFill>
                <a:effectLst/>
                <a:latin typeface="PingFang SC"/>
              </a:rPr>
              <a:t>所示，不同用户行为的交互次数分布存在显著差异：</a:t>
            </a:r>
          </a:p>
          <a:p>
            <a:pPr algn="l">
              <a:buFont typeface="Arial" panose="020B0604020202020204" pitchFamily="34" charset="0"/>
              <a:buChar char="•"/>
            </a:pPr>
            <a:r>
              <a:rPr lang="zh-CN" altLang="en-US" b="0" i="0" dirty="0">
                <a:solidFill>
                  <a:srgbClr val="060A26"/>
                </a:solidFill>
                <a:effectLst/>
                <a:latin typeface="PingFang SC"/>
              </a:rPr>
              <a:t>蓝色代表“浏览”（</a:t>
            </a:r>
            <a:r>
              <a:rPr lang="en-US" altLang="zh-CN" b="0" i="0" dirty="0">
                <a:solidFill>
                  <a:srgbClr val="060A26"/>
                </a:solidFill>
                <a:effectLst/>
                <a:latin typeface="PingFang SC"/>
              </a:rPr>
              <a:t>View</a:t>
            </a:r>
            <a:r>
              <a:rPr lang="zh-CN" altLang="en-US" b="0" i="0" dirty="0">
                <a:solidFill>
                  <a:srgbClr val="060A26"/>
                </a:solidFill>
                <a:effectLst/>
                <a:latin typeface="PingFang SC"/>
              </a:rPr>
              <a:t>），数量最多，峰值极高；</a:t>
            </a:r>
          </a:p>
          <a:p>
            <a:pPr algn="l">
              <a:buFont typeface="Arial" panose="020B0604020202020204" pitchFamily="34" charset="0"/>
              <a:buChar char="•"/>
            </a:pPr>
            <a:r>
              <a:rPr lang="zh-CN" altLang="en-US" b="0" i="0" dirty="0">
                <a:solidFill>
                  <a:srgbClr val="060A26"/>
                </a:solidFill>
                <a:effectLst/>
                <a:latin typeface="PingFang SC"/>
              </a:rPr>
              <a:t>绿色代表“加购”（</a:t>
            </a:r>
            <a:r>
              <a:rPr lang="en-US" altLang="zh-CN" b="0" i="0" dirty="0">
                <a:solidFill>
                  <a:srgbClr val="060A26"/>
                </a:solidFill>
                <a:effectLst/>
                <a:latin typeface="PingFang SC"/>
              </a:rPr>
              <a:t>Cart</a:t>
            </a:r>
            <a:r>
              <a:rPr lang="zh-CN" altLang="en-US" b="0" i="0" dirty="0">
                <a:solidFill>
                  <a:srgbClr val="060A26"/>
                </a:solidFill>
                <a:effectLst/>
                <a:latin typeface="PingFang SC"/>
              </a:rPr>
              <a:t>），次之；</a:t>
            </a:r>
          </a:p>
          <a:p>
            <a:pPr algn="l">
              <a:buFont typeface="Arial" panose="020B0604020202020204" pitchFamily="34" charset="0"/>
              <a:buChar char="•"/>
            </a:pPr>
            <a:r>
              <a:rPr lang="zh-CN" altLang="en-US" b="0" i="0" dirty="0">
                <a:solidFill>
                  <a:srgbClr val="060A26"/>
                </a:solidFill>
                <a:effectLst/>
                <a:latin typeface="PingFang SC"/>
              </a:rPr>
              <a:t>红色代表“购买”（</a:t>
            </a:r>
            <a:r>
              <a:rPr lang="en-US" altLang="zh-CN" b="0" i="0" dirty="0">
                <a:solidFill>
                  <a:srgbClr val="060A26"/>
                </a:solidFill>
                <a:effectLst/>
                <a:latin typeface="PingFang SC"/>
              </a:rPr>
              <a:t>Purchase</a:t>
            </a:r>
            <a:r>
              <a:rPr lang="zh-CN" altLang="en-US" b="0" i="0" dirty="0">
                <a:solidFill>
                  <a:srgbClr val="060A26"/>
                </a:solidFill>
                <a:effectLst/>
                <a:latin typeface="PingFang SC"/>
              </a:rPr>
              <a:t>），虽然占比极低，但却是最具价值的行为。</a:t>
            </a:r>
          </a:p>
          <a:p>
            <a:pPr algn="l"/>
            <a:r>
              <a:rPr lang="zh-CN" altLang="en-US" b="0" i="0" dirty="0">
                <a:solidFill>
                  <a:srgbClr val="060A26"/>
                </a:solidFill>
                <a:effectLst/>
                <a:latin typeface="PingFang SC"/>
              </a:rPr>
              <a:t>我们可以看到，</a:t>
            </a:r>
            <a:r>
              <a:rPr lang="zh-CN" altLang="en-US" b="1" i="0" dirty="0">
                <a:solidFill>
                  <a:srgbClr val="060A26"/>
                </a:solidFill>
                <a:effectLst/>
                <a:latin typeface="PingFang SC"/>
              </a:rPr>
              <a:t>低价值行为如浏览和点击占绝大多数，而高价值行为如购买则极为稀疏</a:t>
            </a:r>
            <a:r>
              <a:rPr lang="zh-CN" altLang="en-US" b="0" i="0" dirty="0">
                <a:solidFill>
                  <a:srgbClr val="060A26"/>
                </a:solidFill>
                <a:effectLst/>
                <a:latin typeface="PingFang SC"/>
              </a:rPr>
              <a:t>。这种严重的长尾分布，带来了两个核心挑战：</a:t>
            </a:r>
          </a:p>
          <a:p>
            <a:pPr algn="l"/>
            <a:r>
              <a:rPr lang="zh-CN" altLang="en-US" b="0" i="0" dirty="0">
                <a:solidFill>
                  <a:srgbClr val="060A26"/>
                </a:solidFill>
                <a:effectLst/>
                <a:latin typeface="PingFang SC"/>
              </a:rPr>
              <a:t>第一，现有方法大多采用统一建模策略，把所有行为当作同等重要来处理，</a:t>
            </a:r>
            <a:r>
              <a:rPr lang="zh-CN" altLang="en-US" b="1" i="0" dirty="0">
                <a:solidFill>
                  <a:srgbClr val="060A26"/>
                </a:solidFill>
                <a:effectLst/>
                <a:latin typeface="PingFang SC"/>
              </a:rPr>
              <a:t>忽略了不同类型行为之间的噪声水平差异</a:t>
            </a:r>
            <a:r>
              <a:rPr lang="zh-CN" altLang="en-US" b="0" i="0" dirty="0">
                <a:solidFill>
                  <a:srgbClr val="060A26"/>
                </a:solidFill>
                <a:effectLst/>
                <a:latin typeface="PingFang SC"/>
              </a:rPr>
              <a:t>。</a:t>
            </a:r>
            <a:br>
              <a:rPr lang="zh-CN" altLang="en-US" b="0" i="0" dirty="0">
                <a:solidFill>
                  <a:srgbClr val="060A26"/>
                </a:solidFill>
                <a:effectLst/>
                <a:latin typeface="PingFang SC"/>
              </a:rPr>
            </a:br>
            <a:r>
              <a:rPr lang="zh-CN" altLang="en-US" b="0" i="0" dirty="0">
                <a:solidFill>
                  <a:srgbClr val="060A26"/>
                </a:solidFill>
                <a:effectLst/>
                <a:latin typeface="PingFang SC"/>
              </a:rPr>
              <a:t>比如，一次点击可能是误触或随意浏览，属于“噪声”；而一次购买则是明确决策，属于“强信号”。</a:t>
            </a:r>
            <a:br>
              <a:rPr lang="zh-CN" altLang="en-US" b="0" i="0" dirty="0">
                <a:solidFill>
                  <a:srgbClr val="060A26"/>
                </a:solidFill>
                <a:effectLst/>
                <a:latin typeface="PingFang SC"/>
              </a:rPr>
            </a:br>
            <a:r>
              <a:rPr lang="zh-CN" altLang="en-US" b="0" i="0" dirty="0">
                <a:solidFill>
                  <a:srgbClr val="060A26"/>
                </a:solidFill>
                <a:effectLst/>
                <a:latin typeface="PingFang SC"/>
              </a:rPr>
              <a:t>但如果模型不区分这些差异，就会导致</a:t>
            </a:r>
            <a:r>
              <a:rPr lang="zh-CN" altLang="en-US" b="1" i="0" dirty="0">
                <a:solidFill>
                  <a:srgbClr val="060A26"/>
                </a:solidFill>
                <a:effectLst/>
                <a:latin typeface="PingFang SC"/>
              </a:rPr>
              <a:t>高价值行为的信号被大量低价值行为稀释</a:t>
            </a:r>
            <a:r>
              <a:rPr lang="zh-CN" altLang="en-US" b="0" i="0" dirty="0">
                <a:solidFill>
                  <a:srgbClr val="060A26"/>
                </a:solidFill>
                <a:effectLst/>
                <a:latin typeface="PingFang SC"/>
              </a:rPr>
              <a:t>。</a:t>
            </a:r>
          </a:p>
          <a:p>
            <a:pPr algn="l"/>
            <a:r>
              <a:rPr lang="zh-CN" altLang="en-US" b="0" i="0" dirty="0">
                <a:solidFill>
                  <a:srgbClr val="060A26"/>
                </a:solidFill>
                <a:effectLst/>
                <a:latin typeface="PingFang SC"/>
              </a:rPr>
              <a:t>第二，由于模型容易被频繁出现的噪声行为主导，最终的兴趣表征会偏向于“点击偏好”，而非真实购买意图。这不仅降低了推荐的准确性，还可能引入行为间依赖关系的偏差</a:t>
            </a:r>
            <a:r>
              <a:rPr lang="en-US" altLang="zh-CN" b="0" i="0" dirty="0">
                <a:solidFill>
                  <a:srgbClr val="060A26"/>
                </a:solidFill>
                <a:effectLst/>
                <a:latin typeface="PingFang SC"/>
              </a:rPr>
              <a:t>——</a:t>
            </a:r>
            <a:r>
              <a:rPr lang="zh-CN" altLang="en-US" b="0" i="0" dirty="0">
                <a:solidFill>
                  <a:srgbClr val="060A26"/>
                </a:solidFill>
                <a:effectLst/>
                <a:latin typeface="PingFang SC"/>
              </a:rPr>
              <a:t>即模型错误地认为“点击→购买”是必然路径，而忽视了其他路径的可能性。</a:t>
            </a:r>
          </a:p>
          <a:p>
            <a:pPr algn="l"/>
            <a:r>
              <a:rPr lang="zh-CN" altLang="en-US" b="0" i="0" dirty="0">
                <a:solidFill>
                  <a:srgbClr val="060A26"/>
                </a:solidFill>
                <a:effectLst/>
                <a:latin typeface="PingFang SC"/>
              </a:rPr>
              <a:t>综上所述，当前主流方法在处理多行为数据时，尚未有效解决</a:t>
            </a:r>
            <a:r>
              <a:rPr lang="zh-CN" altLang="en-US" b="1" i="0" dirty="0">
                <a:solidFill>
                  <a:srgbClr val="060A26"/>
                </a:solidFill>
                <a:effectLst/>
                <a:latin typeface="PingFang SC"/>
              </a:rPr>
              <a:t>行为异质性</a:t>
            </a:r>
            <a:r>
              <a:rPr lang="zh-CN" altLang="en-US" b="0" i="0" dirty="0">
                <a:solidFill>
                  <a:srgbClr val="060A26"/>
                </a:solidFill>
                <a:effectLst/>
                <a:latin typeface="PingFang SC"/>
              </a:rPr>
              <a:t>和</a:t>
            </a:r>
            <a:r>
              <a:rPr lang="zh-CN" altLang="en-US" b="1" i="0" dirty="0">
                <a:solidFill>
                  <a:srgbClr val="060A26"/>
                </a:solidFill>
                <a:effectLst/>
                <a:latin typeface="PingFang SC"/>
              </a:rPr>
              <a:t>信号稀释</a:t>
            </a:r>
            <a:r>
              <a:rPr lang="zh-CN" altLang="en-US" b="0" i="0" dirty="0">
                <a:solidFill>
                  <a:srgbClr val="060A26"/>
                </a:solidFill>
                <a:effectLst/>
                <a:latin typeface="PingFang SC"/>
              </a:rPr>
              <a:t>的问题。这也正是本研究要突破的关键瓶颈。</a:t>
            </a:r>
          </a:p>
          <a:p>
            <a:endParaRPr lang="zh-CN" altLang="en-US" dirty="0"/>
          </a:p>
        </p:txBody>
      </p:sp>
      <p:sp>
        <p:nvSpPr>
          <p:cNvPr id="4" name="灯片编号占位符 3"/>
          <p:cNvSpPr>
            <a:spLocks noGrp="1"/>
          </p:cNvSpPr>
          <p:nvPr>
            <p:ph type="sldNum" sz="quarter" idx="5"/>
          </p:nvPr>
        </p:nvSpPr>
        <p:spPr/>
        <p:txBody>
          <a:bodyPr/>
          <a:lstStyle/>
          <a:p>
            <a:fld id="{FEFA68EA-72A2-4252-BA25-A6764274F607}" type="slidenum">
              <a:rPr lang="zh-CN" altLang="en-US" smtClean="0"/>
              <a:t>4</a:t>
            </a:fld>
            <a:endParaRPr lang="zh-CN" altLang="en-US"/>
          </a:p>
        </p:txBody>
      </p:sp>
    </p:spTree>
    <p:extLst>
      <p:ext uri="{BB962C8B-B14F-4D97-AF65-F5344CB8AC3E}">
        <p14:creationId xmlns:p14="http://schemas.microsoft.com/office/powerpoint/2010/main" val="21284080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060A26"/>
                </a:solidFill>
                <a:effectLst/>
                <a:latin typeface="PingFang SC"/>
              </a:rPr>
              <a:t>接下来，我将介绍当前多行为推荐领域的研究重点</a:t>
            </a:r>
            <a:r>
              <a:rPr lang="en-US" altLang="zh-CN" b="0" i="0" dirty="0">
                <a:solidFill>
                  <a:srgbClr val="060A26"/>
                </a:solidFill>
                <a:effectLst/>
                <a:latin typeface="PingFang SC"/>
              </a:rPr>
              <a:t>——</a:t>
            </a:r>
            <a:r>
              <a:rPr lang="zh-CN" altLang="en-US" b="1" i="0" dirty="0">
                <a:solidFill>
                  <a:srgbClr val="060A26"/>
                </a:solidFill>
                <a:effectLst/>
                <a:latin typeface="PingFang SC"/>
              </a:rPr>
              <a:t>行为信号的融合与噪声抑制</a:t>
            </a:r>
            <a:r>
              <a:rPr lang="zh-CN" altLang="en-US" b="0" i="0" dirty="0">
                <a:solidFill>
                  <a:srgbClr val="060A26"/>
                </a:solidFill>
                <a:effectLst/>
                <a:latin typeface="PingFang SC"/>
              </a:rPr>
              <a:t>。</a:t>
            </a:r>
          </a:p>
          <a:p>
            <a:pPr algn="l"/>
            <a:r>
              <a:rPr lang="zh-CN" altLang="en-US" b="0" i="0" dirty="0">
                <a:solidFill>
                  <a:srgbClr val="060A26"/>
                </a:solidFill>
                <a:effectLst/>
                <a:latin typeface="PingFang SC"/>
              </a:rPr>
              <a:t>这一方向的核心目标是：如何有效整合用户在不同阶段产生的多种行为，同时抑制低价值行为带来的噪声干扰，从而更准确地建模用户真实兴趣。</a:t>
            </a:r>
          </a:p>
          <a:p>
            <a:pPr algn="l"/>
            <a:r>
              <a:rPr lang="zh-CN" altLang="en-US" b="0" i="0" dirty="0">
                <a:solidFill>
                  <a:srgbClr val="060A26"/>
                </a:solidFill>
                <a:effectLst/>
                <a:latin typeface="PingFang SC"/>
              </a:rPr>
              <a:t>近年来，该领域取得了显著进展，主要体现在以下几个方面：</a:t>
            </a:r>
          </a:p>
          <a:p>
            <a:pPr algn="l"/>
            <a:r>
              <a:rPr lang="zh-CN" altLang="en-US" b="0" i="0" dirty="0">
                <a:solidFill>
                  <a:srgbClr val="060A26"/>
                </a:solidFill>
                <a:effectLst/>
                <a:latin typeface="PingFang SC"/>
              </a:rPr>
              <a:t>首先，在</a:t>
            </a:r>
            <a:r>
              <a:rPr lang="en-US" altLang="zh-CN" b="0" i="0" dirty="0">
                <a:solidFill>
                  <a:srgbClr val="060A26"/>
                </a:solidFill>
                <a:effectLst/>
                <a:latin typeface="PingFang SC"/>
              </a:rPr>
              <a:t>2020</a:t>
            </a:r>
            <a:r>
              <a:rPr lang="zh-CN" altLang="en-US" b="0" i="0" dirty="0">
                <a:solidFill>
                  <a:srgbClr val="060A26"/>
                </a:solidFill>
                <a:effectLst/>
                <a:latin typeface="PingFang SC"/>
              </a:rPr>
              <a:t>年，</a:t>
            </a:r>
            <a:r>
              <a:rPr lang="en-US" altLang="zh-CN" b="0" i="0" dirty="0" err="1">
                <a:solidFill>
                  <a:srgbClr val="060A26"/>
                </a:solidFill>
                <a:effectLst/>
                <a:latin typeface="PingFang SC"/>
              </a:rPr>
              <a:t>Jin</a:t>
            </a:r>
            <a:r>
              <a:rPr lang="zh-CN" altLang="en-US" b="0" i="0" dirty="0">
                <a:solidFill>
                  <a:srgbClr val="060A26"/>
                </a:solidFill>
                <a:effectLst/>
                <a:latin typeface="PingFang SC"/>
              </a:rPr>
              <a:t>等人提出构建一个</a:t>
            </a:r>
            <a:r>
              <a:rPr lang="zh-CN" altLang="en-US" b="1" i="0" dirty="0">
                <a:solidFill>
                  <a:srgbClr val="060A26"/>
                </a:solidFill>
                <a:effectLst/>
                <a:latin typeface="PingFang SC"/>
              </a:rPr>
              <a:t>融合多行为的统一交互图</a:t>
            </a:r>
            <a:r>
              <a:rPr lang="zh-CN" altLang="en-US" b="0" i="0" dirty="0">
                <a:solidFill>
                  <a:srgbClr val="060A26"/>
                </a:solidFill>
                <a:effectLst/>
                <a:latin typeface="PingFang SC"/>
              </a:rPr>
              <a:t>，并设计了行为感知的图神经网络，能够</a:t>
            </a:r>
            <a:r>
              <a:rPr lang="zh-CN" altLang="en-US" b="1" i="0" dirty="0">
                <a:solidFill>
                  <a:srgbClr val="060A26"/>
                </a:solidFill>
                <a:effectLst/>
                <a:latin typeface="PingFang SC"/>
              </a:rPr>
              <a:t>差异化地学习不同行为之间的依赖关系</a:t>
            </a:r>
            <a:r>
              <a:rPr lang="zh-CN" altLang="en-US" b="0" i="0" dirty="0">
                <a:solidFill>
                  <a:srgbClr val="060A26"/>
                </a:solidFill>
                <a:effectLst/>
                <a:latin typeface="PingFang SC"/>
              </a:rPr>
              <a:t>。这是早期尝试从结构层面统一建模多行为的重要工作。</a:t>
            </a:r>
          </a:p>
          <a:p>
            <a:pPr algn="l"/>
            <a:r>
              <a:rPr lang="zh-CN" altLang="en-US" b="0" i="0" dirty="0">
                <a:solidFill>
                  <a:srgbClr val="060A26"/>
                </a:solidFill>
                <a:effectLst/>
                <a:latin typeface="PingFang SC"/>
              </a:rPr>
              <a:t>随后，</a:t>
            </a:r>
            <a:r>
              <a:rPr lang="en-US" altLang="zh-CN" b="0" i="0" dirty="0">
                <a:solidFill>
                  <a:srgbClr val="060A26"/>
                </a:solidFill>
                <a:effectLst/>
                <a:latin typeface="PingFang SC"/>
              </a:rPr>
              <a:t>2021</a:t>
            </a:r>
            <a:r>
              <a:rPr lang="zh-CN" altLang="en-US" b="0" i="0" dirty="0">
                <a:solidFill>
                  <a:srgbClr val="060A26"/>
                </a:solidFill>
                <a:effectLst/>
                <a:latin typeface="PingFang SC"/>
              </a:rPr>
              <a:t>年，</a:t>
            </a:r>
            <a:r>
              <a:rPr lang="en-US" altLang="zh-CN" b="0" i="0" dirty="0">
                <a:solidFill>
                  <a:srgbClr val="060A26"/>
                </a:solidFill>
                <a:effectLst/>
                <a:latin typeface="PingFang SC"/>
              </a:rPr>
              <a:t>Xia</a:t>
            </a:r>
            <a:r>
              <a:rPr lang="zh-CN" altLang="en-US" b="0" i="0" dirty="0">
                <a:solidFill>
                  <a:srgbClr val="060A26"/>
                </a:solidFill>
                <a:effectLst/>
                <a:latin typeface="PingFang SC"/>
              </a:rPr>
              <a:t>等人进一步指出：</a:t>
            </a:r>
            <a:r>
              <a:rPr lang="zh-CN" altLang="en-US" b="1" i="0" dirty="0">
                <a:solidFill>
                  <a:srgbClr val="060A26"/>
                </a:solidFill>
                <a:effectLst/>
                <a:latin typeface="PingFang SC"/>
              </a:rPr>
              <a:t>不同用户对各种行为的偏好存在差异</a:t>
            </a:r>
            <a:r>
              <a:rPr lang="zh-CN" altLang="en-US" b="0" i="0" dirty="0">
                <a:solidFill>
                  <a:srgbClr val="060A26"/>
                </a:solidFill>
                <a:effectLst/>
                <a:latin typeface="PingFang SC"/>
              </a:rPr>
              <a:t>。例如，有的用户习惯收藏后购买，而有的则直接下单。为此，他们采用元学习的方式，将每种行为视为独立任务，实现了</a:t>
            </a:r>
            <a:r>
              <a:rPr lang="zh-CN" altLang="en-US" b="1" i="0" dirty="0">
                <a:solidFill>
                  <a:srgbClr val="060A26"/>
                </a:solidFill>
                <a:effectLst/>
                <a:latin typeface="PingFang SC"/>
              </a:rPr>
              <a:t>跨行为的知识迁移</a:t>
            </a:r>
            <a:r>
              <a:rPr lang="zh-CN" altLang="en-US" b="0" i="0" dirty="0">
                <a:solidFill>
                  <a:srgbClr val="060A26"/>
                </a:solidFill>
                <a:effectLst/>
                <a:latin typeface="PingFang SC"/>
              </a:rPr>
              <a:t>，提升了模型的泛化能力。</a:t>
            </a:r>
          </a:p>
          <a:p>
            <a:pPr algn="l"/>
            <a:r>
              <a:rPr lang="zh-CN" altLang="en-US" b="0" i="0" dirty="0">
                <a:solidFill>
                  <a:srgbClr val="060A26"/>
                </a:solidFill>
                <a:effectLst/>
                <a:latin typeface="PingFang SC"/>
              </a:rPr>
              <a:t>到了</a:t>
            </a:r>
            <a:r>
              <a:rPr lang="en-US" altLang="zh-CN" b="0" i="0" dirty="0">
                <a:solidFill>
                  <a:srgbClr val="060A26"/>
                </a:solidFill>
                <a:effectLst/>
                <a:latin typeface="PingFang SC"/>
              </a:rPr>
              <a:t>2022</a:t>
            </a:r>
            <a:r>
              <a:rPr lang="zh-CN" altLang="en-US" b="0" i="0" dirty="0">
                <a:solidFill>
                  <a:srgbClr val="060A26"/>
                </a:solidFill>
                <a:effectLst/>
                <a:latin typeface="PingFang SC"/>
              </a:rPr>
              <a:t>年，</a:t>
            </a:r>
            <a:r>
              <a:rPr lang="en-US" altLang="zh-CN" b="0" i="0" dirty="0">
                <a:solidFill>
                  <a:srgbClr val="060A26"/>
                </a:solidFill>
                <a:effectLst/>
                <a:latin typeface="PingFang SC"/>
              </a:rPr>
              <a:t>Gu</a:t>
            </a:r>
            <a:r>
              <a:rPr lang="zh-CN" altLang="en-US" b="0" i="0" dirty="0">
                <a:solidFill>
                  <a:srgbClr val="060A26"/>
                </a:solidFill>
                <a:effectLst/>
                <a:latin typeface="PingFang SC"/>
              </a:rPr>
              <a:t>等人引入了</a:t>
            </a:r>
            <a:r>
              <a:rPr lang="zh-CN" altLang="en-US" b="1" i="0" dirty="0">
                <a:solidFill>
                  <a:srgbClr val="060A26"/>
                </a:solidFill>
                <a:effectLst/>
                <a:latin typeface="PingFang SC"/>
              </a:rPr>
              <a:t>对比学习策略</a:t>
            </a:r>
            <a:r>
              <a:rPr lang="zh-CN" altLang="en-US" b="0" i="0" dirty="0">
                <a:solidFill>
                  <a:srgbClr val="060A26"/>
                </a:solidFill>
                <a:effectLst/>
                <a:latin typeface="PingFang SC"/>
              </a:rPr>
              <a:t>，通过设计多种图神经网络结构并进行对比训练，来增强模型对不同行为信息的融合能力。这种方法有助于挖掘行为间的隐式关联。</a:t>
            </a:r>
          </a:p>
          <a:p>
            <a:pPr algn="l"/>
            <a:r>
              <a:rPr lang="en-US" altLang="zh-CN" b="0" i="0" dirty="0">
                <a:solidFill>
                  <a:srgbClr val="060A26"/>
                </a:solidFill>
                <a:effectLst/>
                <a:latin typeface="PingFang SC"/>
              </a:rPr>
              <a:t>2023</a:t>
            </a:r>
            <a:r>
              <a:rPr lang="zh-CN" altLang="en-US" b="0" i="0" dirty="0">
                <a:solidFill>
                  <a:srgbClr val="060A26"/>
                </a:solidFill>
                <a:effectLst/>
                <a:latin typeface="PingFang SC"/>
              </a:rPr>
              <a:t>年，</a:t>
            </a:r>
            <a:r>
              <a:rPr lang="en-US" altLang="zh-CN" b="0" i="0" dirty="0">
                <a:solidFill>
                  <a:srgbClr val="060A26"/>
                </a:solidFill>
                <a:effectLst/>
                <a:latin typeface="PingFang SC"/>
              </a:rPr>
              <a:t>Cheng</a:t>
            </a:r>
            <a:r>
              <a:rPr lang="zh-CN" altLang="en-US" b="0" i="0" dirty="0">
                <a:solidFill>
                  <a:srgbClr val="060A26"/>
                </a:solidFill>
                <a:effectLst/>
                <a:latin typeface="PingFang SC"/>
              </a:rPr>
              <a:t>等人关注到行为的实际发生顺序，提出了</a:t>
            </a:r>
            <a:r>
              <a:rPr lang="zh-CN" altLang="en-US" b="1" i="0" dirty="0">
                <a:solidFill>
                  <a:srgbClr val="060A26"/>
                </a:solidFill>
                <a:effectLst/>
                <a:latin typeface="PingFang SC"/>
              </a:rPr>
              <a:t>级联结构</a:t>
            </a:r>
            <a:r>
              <a:rPr lang="zh-CN" altLang="en-US" b="0" i="0" dirty="0">
                <a:solidFill>
                  <a:srgbClr val="060A26"/>
                </a:solidFill>
                <a:effectLst/>
                <a:latin typeface="PingFang SC"/>
              </a:rPr>
              <a:t>，以显式建模行为之间的层次关系。比如，“浏览→加购→购买”是一个典型的决策路径，这种结构能更好地捕捉用户意图的演化过程。</a:t>
            </a:r>
          </a:p>
          <a:p>
            <a:pPr algn="l"/>
            <a:r>
              <a:rPr lang="zh-CN" altLang="en-US" b="0" i="0" dirty="0">
                <a:solidFill>
                  <a:srgbClr val="060A26"/>
                </a:solidFill>
                <a:effectLst/>
                <a:latin typeface="PingFang SC"/>
              </a:rPr>
              <a:t>最近，在</a:t>
            </a:r>
            <a:r>
              <a:rPr lang="en-US" altLang="zh-CN" b="0" i="0" dirty="0">
                <a:solidFill>
                  <a:srgbClr val="060A26"/>
                </a:solidFill>
                <a:effectLst/>
                <a:latin typeface="PingFang SC"/>
              </a:rPr>
              <a:t>2024</a:t>
            </a:r>
            <a:r>
              <a:rPr lang="zh-CN" altLang="en-US" b="0" i="0" dirty="0">
                <a:solidFill>
                  <a:srgbClr val="060A26"/>
                </a:solidFill>
                <a:effectLst/>
                <a:latin typeface="PingFang SC"/>
              </a:rPr>
              <a:t>年，</a:t>
            </a:r>
            <a:r>
              <a:rPr lang="en-US" altLang="zh-CN" b="0" i="0" dirty="0">
                <a:solidFill>
                  <a:srgbClr val="060A26"/>
                </a:solidFill>
                <a:effectLst/>
                <a:latin typeface="PingFang SC"/>
              </a:rPr>
              <a:t>Zhang</a:t>
            </a:r>
            <a:r>
              <a:rPr lang="zh-CN" altLang="en-US" b="0" i="0" dirty="0">
                <a:solidFill>
                  <a:srgbClr val="060A26"/>
                </a:solidFill>
                <a:effectLst/>
                <a:latin typeface="PingFang SC"/>
              </a:rPr>
              <a:t>等人进一步提出了一种新的思路：</a:t>
            </a:r>
            <a:r>
              <a:rPr lang="zh-CN" altLang="en-US" b="1" i="0" dirty="0">
                <a:solidFill>
                  <a:srgbClr val="060A26"/>
                </a:solidFill>
                <a:effectLst/>
                <a:latin typeface="PingFang SC"/>
              </a:rPr>
              <a:t>量化不同行为之间的强度差异</a:t>
            </a:r>
            <a:r>
              <a:rPr lang="zh-CN" altLang="en-US" b="0" i="0" dirty="0">
                <a:solidFill>
                  <a:srgbClr val="060A26"/>
                </a:solidFill>
                <a:effectLst/>
                <a:latin typeface="PingFang SC"/>
              </a:rPr>
              <a:t>，并通过该规则对行为信号进行</a:t>
            </a:r>
            <a:r>
              <a:rPr lang="zh-CN" altLang="en-US" b="1" i="0" dirty="0">
                <a:solidFill>
                  <a:srgbClr val="060A26"/>
                </a:solidFill>
                <a:effectLst/>
                <a:latin typeface="PingFang SC"/>
              </a:rPr>
              <a:t>加权融合</a:t>
            </a:r>
            <a:r>
              <a:rPr lang="zh-CN" altLang="en-US" b="0" i="0" dirty="0">
                <a:solidFill>
                  <a:srgbClr val="060A26"/>
                </a:solidFill>
                <a:effectLst/>
                <a:latin typeface="PingFang SC"/>
              </a:rPr>
              <a:t>。这正是我们之前提到的“高价值行为不应被稀释”的关键突破之一。</a:t>
            </a:r>
          </a:p>
          <a:p>
            <a:pPr algn="l"/>
            <a:r>
              <a:rPr lang="zh-CN" altLang="en-US" b="0" i="0" dirty="0">
                <a:solidFill>
                  <a:srgbClr val="060A26"/>
                </a:solidFill>
                <a:effectLst/>
                <a:latin typeface="PingFang SC"/>
              </a:rPr>
              <a:t>可以看到，从最初的统一图结构，到如今的行为强度量化和加权融合，研究逐渐从“共性建模”走向“异质性建模”，越来越注重</a:t>
            </a:r>
            <a:r>
              <a:rPr lang="zh-CN" altLang="en-US" b="1" i="0" dirty="0">
                <a:solidFill>
                  <a:srgbClr val="060A26"/>
                </a:solidFill>
                <a:effectLst/>
                <a:latin typeface="PingFang SC"/>
              </a:rPr>
              <a:t>行为信号的价值差异</a:t>
            </a:r>
            <a:r>
              <a:rPr lang="zh-CN" altLang="en-US" b="0" i="0" dirty="0">
                <a:solidFill>
                  <a:srgbClr val="060A26"/>
                </a:solidFill>
                <a:effectLst/>
                <a:latin typeface="PingFang SC"/>
              </a:rPr>
              <a:t>。</a:t>
            </a:r>
          </a:p>
          <a:p>
            <a:pPr algn="l"/>
            <a:r>
              <a:rPr lang="zh-CN" altLang="en-US" b="0" i="0" dirty="0">
                <a:solidFill>
                  <a:srgbClr val="060A26"/>
                </a:solidFill>
                <a:effectLst/>
                <a:latin typeface="PingFang SC"/>
              </a:rPr>
              <a:t>这也为我们本研究提供了重要启发：</a:t>
            </a:r>
            <a:r>
              <a:rPr lang="zh-CN" altLang="en-US" b="1" i="0" dirty="0">
                <a:solidFill>
                  <a:srgbClr val="060A26"/>
                </a:solidFill>
                <a:effectLst/>
                <a:latin typeface="PingFang SC"/>
              </a:rPr>
              <a:t>是否可以结合行为强度评估与动态权重机制，实现更精细的兴趣表征？</a:t>
            </a:r>
            <a:endParaRPr lang="zh-CN" altLang="en-US" b="0" i="0" dirty="0">
              <a:solidFill>
                <a:srgbClr val="060A26"/>
              </a:solidFill>
              <a:effectLst/>
              <a:latin typeface="PingFang SC"/>
            </a:endParaRPr>
          </a:p>
          <a:p>
            <a:endParaRPr lang="zh-CN" altLang="en-US" dirty="0"/>
          </a:p>
        </p:txBody>
      </p:sp>
      <p:sp>
        <p:nvSpPr>
          <p:cNvPr id="4" name="灯片编号占位符 3"/>
          <p:cNvSpPr>
            <a:spLocks noGrp="1"/>
          </p:cNvSpPr>
          <p:nvPr>
            <p:ph type="sldNum" sz="quarter" idx="5"/>
          </p:nvPr>
        </p:nvSpPr>
        <p:spPr/>
        <p:txBody>
          <a:bodyPr/>
          <a:lstStyle/>
          <a:p>
            <a:fld id="{FEFA68EA-72A2-4252-BA25-A6764274F607}" type="slidenum">
              <a:rPr lang="zh-CN" altLang="en-US" smtClean="0"/>
              <a:t>5</a:t>
            </a:fld>
            <a:endParaRPr lang="zh-CN" altLang="en-US"/>
          </a:p>
        </p:txBody>
      </p:sp>
    </p:spTree>
    <p:extLst>
      <p:ext uri="{BB962C8B-B14F-4D97-AF65-F5344CB8AC3E}">
        <p14:creationId xmlns:p14="http://schemas.microsoft.com/office/powerpoint/2010/main" val="5976556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060A26"/>
                </a:solidFill>
                <a:effectLst/>
                <a:latin typeface="PingFang SC"/>
              </a:rPr>
              <a:t>正如前文所述，用户行为数据中存在大量低价值甚至无意义的交互，如误触、随意浏览等。这些“噪声行为”会严重干扰兴趣建模的准确性。因此，如何有效识别并过滤噪声，成为提升推荐系统性能的关键环节。</a:t>
            </a:r>
          </a:p>
          <a:p>
            <a:pPr algn="l"/>
            <a:r>
              <a:rPr lang="zh-CN" altLang="en-US" b="0" i="0" dirty="0">
                <a:solidFill>
                  <a:srgbClr val="060A26"/>
                </a:solidFill>
                <a:effectLst/>
                <a:latin typeface="PingFang SC"/>
              </a:rPr>
              <a:t>近年来，噪声抑制的研究也取得了显著进展。我们来看几个代表性工作：</a:t>
            </a:r>
          </a:p>
          <a:p>
            <a:pPr algn="l"/>
            <a:r>
              <a:rPr lang="zh-CN" altLang="en-US" b="0" i="0" dirty="0">
                <a:solidFill>
                  <a:srgbClr val="060A26"/>
                </a:solidFill>
                <a:effectLst/>
                <a:latin typeface="PingFang SC"/>
              </a:rPr>
              <a:t>首先，在</a:t>
            </a:r>
            <a:r>
              <a:rPr lang="en-US" altLang="zh-CN" b="0" i="0" dirty="0">
                <a:solidFill>
                  <a:srgbClr val="060A26"/>
                </a:solidFill>
                <a:effectLst/>
                <a:latin typeface="PingFang SC"/>
              </a:rPr>
              <a:t>2024</a:t>
            </a:r>
            <a:r>
              <a:rPr lang="zh-CN" altLang="en-US" b="0" i="0" dirty="0">
                <a:solidFill>
                  <a:srgbClr val="060A26"/>
                </a:solidFill>
                <a:effectLst/>
                <a:latin typeface="PingFang SC"/>
              </a:rPr>
              <a:t>年，</a:t>
            </a:r>
            <a:r>
              <a:rPr lang="en-US" altLang="zh-CN" b="0" i="0" dirty="0">
                <a:solidFill>
                  <a:srgbClr val="060A26"/>
                </a:solidFill>
                <a:effectLst/>
                <a:latin typeface="PingFang SC"/>
              </a:rPr>
              <a:t>Zhang</a:t>
            </a:r>
            <a:r>
              <a:rPr lang="zh-CN" altLang="en-US" b="0" i="0" dirty="0">
                <a:solidFill>
                  <a:srgbClr val="060A26"/>
                </a:solidFill>
                <a:effectLst/>
                <a:latin typeface="PingFang SC"/>
              </a:rPr>
              <a:t>等人提出了一种基于</a:t>
            </a:r>
            <a:r>
              <a:rPr lang="zh-CN" altLang="en-US" b="1" i="0" dirty="0">
                <a:solidFill>
                  <a:srgbClr val="060A26"/>
                </a:solidFill>
                <a:effectLst/>
                <a:latin typeface="PingFang SC"/>
              </a:rPr>
              <a:t>单行为图神经网络预训练</a:t>
            </a:r>
            <a:r>
              <a:rPr lang="zh-CN" altLang="en-US" b="0" i="0" dirty="0">
                <a:solidFill>
                  <a:srgbClr val="060A26"/>
                </a:solidFill>
                <a:effectLst/>
                <a:latin typeface="PingFang SC"/>
              </a:rPr>
              <a:t>的方法。他们利用单一类型的行为（如点击）构建图结构进行预训练，从而学习到高质量的交互特征，并以此作为基准来评估其他行为的交互质量，进而过滤掉低分的噪声交互。</a:t>
            </a:r>
          </a:p>
          <a:p>
            <a:pPr algn="l"/>
            <a:r>
              <a:rPr lang="zh-CN" altLang="en-US" b="0" i="0" dirty="0">
                <a:solidFill>
                  <a:srgbClr val="060A26"/>
                </a:solidFill>
                <a:effectLst/>
                <a:latin typeface="PingFang SC"/>
              </a:rPr>
              <a:t>同年，</a:t>
            </a:r>
            <a:r>
              <a:rPr lang="en-US" altLang="zh-CN" b="0" i="0" dirty="0">
                <a:solidFill>
                  <a:srgbClr val="060A26"/>
                </a:solidFill>
                <a:effectLst/>
                <a:latin typeface="PingFang SC"/>
              </a:rPr>
              <a:t>Zhang</a:t>
            </a:r>
            <a:r>
              <a:rPr lang="zh-CN" altLang="en-US" b="0" i="0" dirty="0">
                <a:solidFill>
                  <a:srgbClr val="060A26"/>
                </a:solidFill>
                <a:effectLst/>
                <a:latin typeface="PingFang SC"/>
              </a:rPr>
              <a:t>团队还提出了一个更精细的双层去噪机制：</a:t>
            </a:r>
          </a:p>
          <a:p>
            <a:pPr algn="l">
              <a:buFont typeface="Arial" panose="020B0604020202020204" pitchFamily="34" charset="0"/>
              <a:buChar char="•"/>
            </a:pPr>
            <a:r>
              <a:rPr lang="zh-CN" altLang="en-US" b="0" i="0" dirty="0">
                <a:solidFill>
                  <a:srgbClr val="060A26"/>
                </a:solidFill>
                <a:effectLst/>
                <a:latin typeface="PingFang SC"/>
              </a:rPr>
              <a:t>第一层是基于相似度的硬去噪，直接移除明显不相关的交互；</a:t>
            </a:r>
          </a:p>
          <a:p>
            <a:pPr algn="l">
              <a:buFont typeface="Arial" panose="020B0604020202020204" pitchFamily="34" charset="0"/>
              <a:buChar char="•"/>
            </a:pPr>
            <a:r>
              <a:rPr lang="zh-CN" altLang="en-US" b="0" i="0" dirty="0">
                <a:solidFill>
                  <a:srgbClr val="060A26"/>
                </a:solidFill>
                <a:effectLst/>
                <a:latin typeface="PingFang SC"/>
              </a:rPr>
              <a:t>第二层是强行为引导的软去噪，通过高价值行为（如购买）来反向推断哪些低价值行为可能是真实的兴趣表达。</a:t>
            </a:r>
            <a:br>
              <a:rPr lang="zh-CN" altLang="en-US" b="0" i="0" dirty="0">
                <a:solidFill>
                  <a:srgbClr val="060A26"/>
                </a:solidFill>
                <a:effectLst/>
                <a:latin typeface="PingFang SC"/>
              </a:rPr>
            </a:br>
            <a:r>
              <a:rPr lang="zh-CN" altLang="en-US" b="0" i="0" dirty="0">
                <a:solidFill>
                  <a:srgbClr val="060A26"/>
                </a:solidFill>
                <a:effectLst/>
                <a:latin typeface="PingFang SC"/>
              </a:rPr>
              <a:t>这种方法实现了“粗筛</a:t>
            </a:r>
            <a:r>
              <a:rPr lang="en-US" altLang="zh-CN" b="0" i="0" dirty="0">
                <a:solidFill>
                  <a:srgbClr val="060A26"/>
                </a:solidFill>
                <a:effectLst/>
                <a:latin typeface="PingFang SC"/>
              </a:rPr>
              <a:t>+</a:t>
            </a:r>
            <a:r>
              <a:rPr lang="zh-CN" altLang="en-US" b="0" i="0" dirty="0">
                <a:solidFill>
                  <a:srgbClr val="060A26"/>
                </a:solidFill>
                <a:effectLst/>
                <a:latin typeface="PingFang SC"/>
              </a:rPr>
              <a:t>精调”的双重过滤，显著提升了数据纯净度。</a:t>
            </a:r>
          </a:p>
          <a:p>
            <a:pPr algn="l"/>
            <a:r>
              <a:rPr lang="zh-CN" altLang="en-US" b="0" i="0" dirty="0">
                <a:solidFill>
                  <a:srgbClr val="060A26"/>
                </a:solidFill>
                <a:effectLst/>
                <a:latin typeface="PingFang SC"/>
              </a:rPr>
              <a:t>而到了</a:t>
            </a:r>
            <a:r>
              <a:rPr lang="en-US" altLang="zh-CN" b="0" i="0" dirty="0">
                <a:solidFill>
                  <a:srgbClr val="060A26"/>
                </a:solidFill>
                <a:effectLst/>
                <a:latin typeface="PingFang SC"/>
              </a:rPr>
              <a:t>2025</a:t>
            </a:r>
            <a:r>
              <a:rPr lang="zh-CN" altLang="en-US" b="0" i="0" dirty="0">
                <a:solidFill>
                  <a:srgbClr val="060A26"/>
                </a:solidFill>
                <a:effectLst/>
                <a:latin typeface="PingFang SC"/>
              </a:rPr>
              <a:t>年，</a:t>
            </a:r>
            <a:r>
              <a:rPr lang="en-US" altLang="zh-CN" b="0" i="0" dirty="0">
                <a:solidFill>
                  <a:srgbClr val="060A26"/>
                </a:solidFill>
                <a:effectLst/>
                <a:latin typeface="PingFang SC"/>
              </a:rPr>
              <a:t>Wang</a:t>
            </a:r>
            <a:r>
              <a:rPr lang="zh-CN" altLang="en-US" b="0" i="0" dirty="0">
                <a:solidFill>
                  <a:srgbClr val="060A26"/>
                </a:solidFill>
                <a:effectLst/>
                <a:latin typeface="PingFang SC"/>
              </a:rPr>
              <a:t>等人进一步突破传统范式，</a:t>
            </a:r>
            <a:r>
              <a:rPr lang="zh-CN" altLang="en-US" b="1" i="0" dirty="0">
                <a:solidFill>
                  <a:srgbClr val="060A26"/>
                </a:solidFill>
                <a:effectLst/>
                <a:latin typeface="PingFang SC"/>
              </a:rPr>
              <a:t>结合大语言模型（</a:t>
            </a:r>
            <a:r>
              <a:rPr lang="en-US" altLang="zh-CN" b="1" i="0" dirty="0">
                <a:solidFill>
                  <a:srgbClr val="060A26"/>
                </a:solidFill>
                <a:effectLst/>
                <a:latin typeface="PingFang SC"/>
              </a:rPr>
              <a:t>LLM</a:t>
            </a:r>
            <a:r>
              <a:rPr lang="zh-CN" altLang="en-US" b="1" i="0" dirty="0">
                <a:solidFill>
                  <a:srgbClr val="060A26"/>
                </a:solidFill>
                <a:effectLst/>
                <a:latin typeface="PingFang SC"/>
              </a:rPr>
              <a:t>）的语义推理与知识生成能力</a:t>
            </a:r>
            <a:r>
              <a:rPr lang="zh-CN" altLang="en-US" b="0" i="0" dirty="0">
                <a:solidFill>
                  <a:srgbClr val="060A26"/>
                </a:solidFill>
                <a:effectLst/>
                <a:latin typeface="PingFang SC"/>
              </a:rPr>
              <a:t>，提出了一种全新的去噪框架</a:t>
            </a:r>
            <a:r>
              <a:rPr lang="en-US" altLang="zh-CN" b="0" i="0" dirty="0">
                <a:solidFill>
                  <a:srgbClr val="060A26"/>
                </a:solidFill>
                <a:effectLst/>
                <a:latin typeface="PingFang SC"/>
              </a:rPr>
              <a:t>——</a:t>
            </a:r>
            <a:r>
              <a:rPr lang="en-US" altLang="zh-CN" b="0" i="0" dirty="0" err="1">
                <a:solidFill>
                  <a:srgbClr val="060A26"/>
                </a:solidFill>
                <a:effectLst/>
                <a:latin typeface="PingFang SC"/>
              </a:rPr>
              <a:t>LLaRD</a:t>
            </a:r>
            <a:r>
              <a:rPr lang="zh-CN" altLang="en-US" b="0" i="0" dirty="0">
                <a:solidFill>
                  <a:srgbClr val="060A26"/>
                </a:solidFill>
                <a:effectLst/>
                <a:latin typeface="PingFang SC"/>
              </a:rPr>
              <a:t>。其核心思想是：</a:t>
            </a:r>
            <a:r>
              <a:rPr lang="zh-CN" altLang="en-US" b="1" i="0" dirty="0">
                <a:solidFill>
                  <a:srgbClr val="060A26"/>
                </a:solidFill>
                <a:effectLst/>
                <a:latin typeface="PingFang SC"/>
              </a:rPr>
              <a:t>让大模型像人类一样思考，理解用户行为背后的意图</a:t>
            </a:r>
            <a:r>
              <a:rPr lang="zh-CN" altLang="en-US" b="0" i="0" dirty="0">
                <a:solidFill>
                  <a:srgbClr val="060A26"/>
                </a:solidFill>
                <a:effectLst/>
                <a:latin typeface="PingFang SC"/>
              </a:rPr>
              <a:t>。</a:t>
            </a:r>
          </a:p>
          <a:p>
            <a:pPr algn="l"/>
            <a:r>
              <a:rPr lang="zh-CN" altLang="en-US" b="0" i="0" dirty="0">
                <a:solidFill>
                  <a:srgbClr val="060A26"/>
                </a:solidFill>
                <a:effectLst/>
                <a:latin typeface="PingFang SC"/>
              </a:rPr>
              <a:t>如图</a:t>
            </a:r>
            <a:r>
              <a:rPr lang="en-US" altLang="zh-CN" b="0" i="0" dirty="0">
                <a:solidFill>
                  <a:srgbClr val="060A26"/>
                </a:solidFill>
                <a:effectLst/>
                <a:latin typeface="PingFang SC"/>
              </a:rPr>
              <a:t>2-1</a:t>
            </a:r>
            <a:r>
              <a:rPr lang="zh-CN" altLang="en-US" b="0" i="0" dirty="0">
                <a:solidFill>
                  <a:srgbClr val="060A26"/>
                </a:solidFill>
                <a:effectLst/>
                <a:latin typeface="PingFang SC"/>
              </a:rPr>
              <a:t>所示，该流程分为四个步骤：</a:t>
            </a:r>
          </a:p>
          <a:p>
            <a:pPr algn="l">
              <a:buFont typeface="+mj-lt"/>
              <a:buAutoNum type="arabicPeriod"/>
            </a:pPr>
            <a:r>
              <a:rPr lang="zh-CN" altLang="en-US" b="0" i="0" dirty="0">
                <a:solidFill>
                  <a:srgbClr val="060A26"/>
                </a:solidFill>
                <a:effectLst/>
                <a:latin typeface="PingFang SC"/>
              </a:rPr>
              <a:t>偏好评分：给每个交互打上“高</a:t>
            </a:r>
            <a:r>
              <a:rPr lang="en-US" altLang="zh-CN" b="0" i="0" dirty="0">
                <a:solidFill>
                  <a:srgbClr val="060A26"/>
                </a:solidFill>
                <a:effectLst/>
                <a:latin typeface="PingFang SC"/>
              </a:rPr>
              <a:t>/</a:t>
            </a:r>
            <a:r>
              <a:rPr lang="zh-CN" altLang="en-US" b="0" i="0" dirty="0">
                <a:solidFill>
                  <a:srgbClr val="060A26"/>
                </a:solidFill>
                <a:effectLst/>
                <a:latin typeface="PingFang SC"/>
              </a:rPr>
              <a:t>中</a:t>
            </a:r>
            <a:r>
              <a:rPr lang="en-US" altLang="zh-CN" b="0" i="0" dirty="0">
                <a:solidFill>
                  <a:srgbClr val="060A26"/>
                </a:solidFill>
                <a:effectLst/>
                <a:latin typeface="PingFang SC"/>
              </a:rPr>
              <a:t>/</a:t>
            </a:r>
            <a:r>
              <a:rPr lang="zh-CN" altLang="en-US" b="0" i="0" dirty="0">
                <a:solidFill>
                  <a:srgbClr val="060A26"/>
                </a:solidFill>
                <a:effectLst/>
                <a:latin typeface="PingFang SC"/>
              </a:rPr>
              <a:t>低”偏好标签；</a:t>
            </a:r>
          </a:p>
          <a:p>
            <a:pPr algn="l">
              <a:buFont typeface="+mj-lt"/>
              <a:buAutoNum type="arabicPeriod"/>
            </a:pPr>
            <a:r>
              <a:rPr lang="zh-CN" altLang="en-US" b="0" i="0" dirty="0">
                <a:solidFill>
                  <a:srgbClr val="060A26"/>
                </a:solidFill>
                <a:effectLst/>
                <a:latin typeface="PingFang SC"/>
              </a:rPr>
              <a:t>噪声识别：分析“低分”交互是否缺乏与用户画像一致的特征；</a:t>
            </a:r>
          </a:p>
          <a:p>
            <a:pPr algn="l">
              <a:buFont typeface="+mj-lt"/>
              <a:buAutoNum type="arabicPeriod"/>
            </a:pPr>
            <a:r>
              <a:rPr lang="zh-CN" altLang="en-US" b="0" i="0" dirty="0">
                <a:solidFill>
                  <a:srgbClr val="060A26"/>
                </a:solidFill>
                <a:effectLst/>
                <a:latin typeface="PingFang SC"/>
              </a:rPr>
              <a:t>协同增强：通过邻居用户的相似偏好进行验证；</a:t>
            </a:r>
          </a:p>
          <a:p>
            <a:pPr algn="l">
              <a:buFont typeface="+mj-lt"/>
              <a:buAutoNum type="arabicPeriod"/>
            </a:pPr>
            <a:r>
              <a:rPr lang="zh-CN" altLang="en-US" b="0" i="0" dirty="0">
                <a:solidFill>
                  <a:srgbClr val="060A26"/>
                </a:solidFill>
                <a:effectLst/>
                <a:latin typeface="PingFang SC"/>
              </a:rPr>
              <a:t>兴趣探索：挖掘潜在的兴趣主题，比如“自我发现”、“浪漫故事”等。</a:t>
            </a:r>
          </a:p>
          <a:p>
            <a:pPr algn="l"/>
            <a:r>
              <a:rPr lang="zh-CN" altLang="en-US" b="0" i="0" dirty="0">
                <a:solidFill>
                  <a:srgbClr val="060A26"/>
                </a:solidFill>
                <a:effectLst/>
                <a:latin typeface="PingFang SC"/>
              </a:rPr>
              <a:t>最终输出不仅包括去噪后的行为序列，还包括协作增强和兴趣拓展的结果。这种</a:t>
            </a:r>
            <a:r>
              <a:rPr lang="en-US" altLang="zh-CN" b="1" i="0" dirty="0">
                <a:solidFill>
                  <a:srgbClr val="060A26"/>
                </a:solidFill>
                <a:effectLst/>
                <a:latin typeface="PingFang SC"/>
              </a:rPr>
              <a:t>Chain-of-Thought</a:t>
            </a:r>
            <a:r>
              <a:rPr lang="zh-CN" altLang="en-US" b="1" i="0" dirty="0">
                <a:solidFill>
                  <a:srgbClr val="060A26"/>
                </a:solidFill>
                <a:effectLst/>
                <a:latin typeface="PingFang SC"/>
              </a:rPr>
              <a:t>（思维链）推理机制</a:t>
            </a:r>
            <a:r>
              <a:rPr lang="zh-CN" altLang="en-US" b="0" i="0" dirty="0">
                <a:solidFill>
                  <a:srgbClr val="060A26"/>
                </a:solidFill>
                <a:effectLst/>
                <a:latin typeface="PingFang SC"/>
              </a:rPr>
              <a:t>，使得去噪过程更具解释性，也能更好地对齐用户的真实偏好。</a:t>
            </a:r>
          </a:p>
          <a:p>
            <a:pPr algn="l"/>
            <a:r>
              <a:rPr lang="zh-CN" altLang="en-US" b="0" i="0" dirty="0">
                <a:solidFill>
                  <a:srgbClr val="060A26"/>
                </a:solidFill>
                <a:effectLst/>
                <a:latin typeface="PingFang SC"/>
              </a:rPr>
              <a:t>值得一提的是，这种方法不再依赖纯统计或规则，而是引入了</a:t>
            </a:r>
            <a:r>
              <a:rPr lang="zh-CN" altLang="en-US" b="1" i="0" dirty="0">
                <a:solidFill>
                  <a:srgbClr val="060A26"/>
                </a:solidFill>
                <a:effectLst/>
                <a:latin typeface="PingFang SC"/>
              </a:rPr>
              <a:t>语义理解和上下文推理能力</a:t>
            </a:r>
            <a:r>
              <a:rPr lang="zh-CN" altLang="en-US" b="0" i="0" dirty="0">
                <a:solidFill>
                  <a:srgbClr val="060A26"/>
                </a:solidFill>
                <a:effectLst/>
                <a:latin typeface="PingFang SC"/>
              </a:rPr>
              <a:t>，代表了未来推荐系统向“可解释、可理解、可控制”发展的新趋势。</a:t>
            </a:r>
          </a:p>
          <a:p>
            <a:endParaRPr lang="zh-CN" altLang="en-US" dirty="0"/>
          </a:p>
        </p:txBody>
      </p:sp>
      <p:sp>
        <p:nvSpPr>
          <p:cNvPr id="4" name="灯片编号占位符 3"/>
          <p:cNvSpPr>
            <a:spLocks noGrp="1"/>
          </p:cNvSpPr>
          <p:nvPr>
            <p:ph type="sldNum" sz="quarter" idx="5"/>
          </p:nvPr>
        </p:nvSpPr>
        <p:spPr/>
        <p:txBody>
          <a:bodyPr/>
          <a:lstStyle/>
          <a:p>
            <a:fld id="{FEFA68EA-72A2-4252-BA25-A6764274F607}" type="slidenum">
              <a:rPr lang="zh-CN" altLang="en-US" smtClean="0"/>
              <a:t>6</a:t>
            </a:fld>
            <a:endParaRPr lang="zh-CN" altLang="en-US"/>
          </a:p>
        </p:txBody>
      </p:sp>
    </p:spTree>
    <p:extLst>
      <p:ext uri="{BB962C8B-B14F-4D97-AF65-F5344CB8AC3E}">
        <p14:creationId xmlns:p14="http://schemas.microsoft.com/office/powerpoint/2010/main" val="40131848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060A26"/>
                </a:solidFill>
                <a:effectLst/>
                <a:latin typeface="PingFang SC"/>
              </a:rPr>
              <a:t>第一，</a:t>
            </a:r>
            <a:r>
              <a:rPr lang="zh-CN" altLang="en-US" b="1" i="0" dirty="0">
                <a:solidFill>
                  <a:srgbClr val="060A26"/>
                </a:solidFill>
                <a:effectLst/>
                <a:latin typeface="PingFang SC"/>
              </a:rPr>
              <a:t>辅助行为噪声问题</a:t>
            </a:r>
            <a:r>
              <a:rPr lang="zh-CN" altLang="en-US" b="0" i="0" dirty="0">
                <a:solidFill>
                  <a:srgbClr val="060A26"/>
                </a:solidFill>
                <a:effectLst/>
                <a:latin typeface="PingFang SC"/>
              </a:rPr>
              <a:t>。</a:t>
            </a:r>
            <a:br>
              <a:rPr lang="zh-CN" altLang="en-US" b="0" i="0" dirty="0">
                <a:solidFill>
                  <a:srgbClr val="060A26"/>
                </a:solidFill>
                <a:effectLst/>
                <a:latin typeface="PingFang SC"/>
              </a:rPr>
            </a:br>
            <a:r>
              <a:rPr lang="zh-CN" altLang="en-US" b="0" i="0" dirty="0">
                <a:solidFill>
                  <a:srgbClr val="060A26"/>
                </a:solidFill>
                <a:effectLst/>
                <a:latin typeface="PingFang SC"/>
              </a:rPr>
              <a:t>用户在电商平台中会产生大量点击、浏览等低质量交互，比如误触或随意滑动。如果直接把这些行为用于建模，就会稀释购买、收藏等高价值信号，影响推荐准确性。</a:t>
            </a:r>
          </a:p>
          <a:p>
            <a:pPr algn="l"/>
            <a:r>
              <a:rPr lang="zh-CN" altLang="en-US" b="0" i="0" dirty="0">
                <a:solidFill>
                  <a:srgbClr val="060A26"/>
                </a:solidFill>
                <a:effectLst/>
                <a:latin typeface="PingFang SC"/>
              </a:rPr>
              <a:t>第二，</a:t>
            </a:r>
            <a:r>
              <a:rPr lang="zh-CN" altLang="en-US" b="1" i="0" dirty="0">
                <a:solidFill>
                  <a:srgbClr val="060A26"/>
                </a:solidFill>
                <a:effectLst/>
                <a:latin typeface="PingFang SC"/>
              </a:rPr>
              <a:t>多行为交互信号融合问题</a:t>
            </a:r>
            <a:r>
              <a:rPr lang="zh-CN" altLang="en-US" b="0" i="0" dirty="0">
                <a:solidFill>
                  <a:srgbClr val="060A26"/>
                </a:solidFill>
                <a:effectLst/>
                <a:latin typeface="PingFang SC"/>
              </a:rPr>
              <a:t>。</a:t>
            </a:r>
            <a:br>
              <a:rPr lang="zh-CN" altLang="en-US" b="0" i="0" dirty="0">
                <a:solidFill>
                  <a:srgbClr val="060A26"/>
                </a:solidFill>
                <a:effectLst/>
                <a:latin typeface="PingFang SC"/>
              </a:rPr>
            </a:br>
            <a:r>
              <a:rPr lang="zh-CN" altLang="en-US" b="0" i="0" dirty="0">
                <a:solidFill>
                  <a:srgbClr val="060A26"/>
                </a:solidFill>
                <a:effectLst/>
                <a:latin typeface="PingFang SC"/>
              </a:rPr>
              <a:t>虽然辅助行为有噪声，但其中仍包含反映用户偏好的有效信息。如何从中挖掘并融合不同行为之间的互补关系，是提升推荐性能的关键。</a:t>
            </a:r>
          </a:p>
          <a:p>
            <a:pPr algn="l"/>
            <a:r>
              <a:rPr lang="zh-CN" altLang="en-US" b="0" i="0" dirty="0">
                <a:solidFill>
                  <a:srgbClr val="060A26"/>
                </a:solidFill>
                <a:effectLst/>
                <a:latin typeface="PingFang SC"/>
              </a:rPr>
              <a:t>第三，</a:t>
            </a:r>
            <a:r>
              <a:rPr lang="zh-CN" altLang="en-US" b="1" i="0" dirty="0">
                <a:solidFill>
                  <a:srgbClr val="060A26"/>
                </a:solidFill>
                <a:effectLst/>
                <a:latin typeface="PingFang SC"/>
              </a:rPr>
              <a:t>多模态多行为推荐问题</a:t>
            </a:r>
            <a:r>
              <a:rPr lang="zh-CN" altLang="en-US" b="0" i="0" dirty="0">
                <a:solidFill>
                  <a:srgbClr val="060A26"/>
                </a:solidFill>
                <a:effectLst/>
                <a:latin typeface="PingFang SC"/>
              </a:rPr>
              <a:t>。</a:t>
            </a:r>
            <a:br>
              <a:rPr lang="zh-CN" altLang="en-US" b="0" i="0" dirty="0">
                <a:solidFill>
                  <a:srgbClr val="060A26"/>
                </a:solidFill>
                <a:effectLst/>
                <a:latin typeface="PingFang SC"/>
              </a:rPr>
            </a:br>
            <a:r>
              <a:rPr lang="zh-CN" altLang="en-US" b="0" i="0" dirty="0">
                <a:solidFill>
                  <a:srgbClr val="060A26"/>
                </a:solidFill>
                <a:effectLst/>
                <a:latin typeface="PingFang SC"/>
              </a:rPr>
              <a:t>传统方法主要依赖用户</a:t>
            </a:r>
            <a:r>
              <a:rPr lang="en-US" altLang="zh-CN" b="0" i="0" dirty="0">
                <a:solidFill>
                  <a:srgbClr val="060A26"/>
                </a:solidFill>
                <a:effectLst/>
                <a:latin typeface="PingFang SC"/>
              </a:rPr>
              <a:t>-</a:t>
            </a:r>
            <a:r>
              <a:rPr lang="zh-CN" altLang="en-US" b="0" i="0" dirty="0">
                <a:solidFill>
                  <a:srgbClr val="060A26"/>
                </a:solidFill>
                <a:effectLst/>
                <a:latin typeface="PingFang SC"/>
              </a:rPr>
              <a:t>物品协同信息，忽略了商品的图片、文本、标签等多模态特征。而这些特征能揭示不同行为之间的潜在语义关联，比如“看图→加购→购买”背后的视觉偏好。</a:t>
            </a:r>
          </a:p>
          <a:p>
            <a:pPr algn="l"/>
            <a:r>
              <a:rPr lang="zh-CN" altLang="en-US" b="0" i="0" dirty="0">
                <a:solidFill>
                  <a:srgbClr val="060A26"/>
                </a:solidFill>
                <a:effectLst/>
                <a:latin typeface="PingFang SC"/>
              </a:rPr>
              <a:t>因此，本研究的目标是：</a:t>
            </a:r>
            <a:r>
              <a:rPr lang="zh-CN" altLang="en-US" b="1" i="0" dirty="0">
                <a:solidFill>
                  <a:srgbClr val="060A26"/>
                </a:solidFill>
                <a:effectLst/>
                <a:latin typeface="PingFang SC"/>
              </a:rPr>
              <a:t>构建一个既能抑制噪声、又能融合多行为与多模态信息的推荐框架</a:t>
            </a:r>
            <a:r>
              <a:rPr lang="zh-CN" altLang="en-US" b="0" i="0" dirty="0">
                <a:solidFill>
                  <a:srgbClr val="060A26"/>
                </a:solidFill>
                <a:effectLst/>
                <a:latin typeface="PingFang SC"/>
              </a:rPr>
              <a:t>。</a:t>
            </a:r>
          </a:p>
          <a:p>
            <a:endParaRPr lang="zh-CN" altLang="en-US" dirty="0"/>
          </a:p>
        </p:txBody>
      </p:sp>
      <p:sp>
        <p:nvSpPr>
          <p:cNvPr id="4" name="灯片编号占位符 3"/>
          <p:cNvSpPr>
            <a:spLocks noGrp="1"/>
          </p:cNvSpPr>
          <p:nvPr>
            <p:ph type="sldNum" sz="quarter" idx="5"/>
          </p:nvPr>
        </p:nvSpPr>
        <p:spPr/>
        <p:txBody>
          <a:bodyPr/>
          <a:lstStyle/>
          <a:p>
            <a:fld id="{FEFA68EA-72A2-4252-BA25-A6764274F607}" type="slidenum">
              <a:rPr lang="zh-CN" altLang="en-US" smtClean="0"/>
              <a:t>7</a:t>
            </a:fld>
            <a:endParaRPr lang="zh-CN" altLang="en-US"/>
          </a:p>
        </p:txBody>
      </p:sp>
    </p:spTree>
    <p:extLst>
      <p:ext uri="{BB962C8B-B14F-4D97-AF65-F5344CB8AC3E}">
        <p14:creationId xmlns:p14="http://schemas.microsoft.com/office/powerpoint/2010/main" val="12009140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060A26"/>
                </a:solidFill>
                <a:effectLst/>
                <a:latin typeface="PingFang SC"/>
              </a:rPr>
              <a:t>首先是</a:t>
            </a:r>
            <a:r>
              <a:rPr lang="zh-CN" altLang="en-US" b="1" i="0" dirty="0">
                <a:solidFill>
                  <a:srgbClr val="060A26"/>
                </a:solidFill>
                <a:effectLst/>
                <a:latin typeface="PingFang SC"/>
              </a:rPr>
              <a:t>上半部分：加权去噪模块</a:t>
            </a:r>
            <a:r>
              <a:rPr lang="zh-CN" altLang="en-US" b="0" i="0" dirty="0">
                <a:solidFill>
                  <a:srgbClr val="060A26"/>
                </a:solidFill>
                <a:effectLst/>
                <a:latin typeface="PingFang SC"/>
              </a:rPr>
              <a:t>。</a:t>
            </a:r>
            <a:br>
              <a:rPr lang="zh-CN" altLang="en-US" b="0" i="0" dirty="0">
                <a:solidFill>
                  <a:srgbClr val="060A26"/>
                </a:solidFill>
                <a:effectLst/>
                <a:latin typeface="PingFang SC"/>
              </a:rPr>
            </a:br>
            <a:r>
              <a:rPr lang="zh-CN" altLang="en-US" b="0" i="0" dirty="0">
                <a:solidFill>
                  <a:srgbClr val="060A26"/>
                </a:solidFill>
                <a:effectLst/>
                <a:latin typeface="PingFang SC"/>
              </a:rPr>
              <a:t>它包含两个子模块：</a:t>
            </a:r>
          </a:p>
          <a:p>
            <a:pPr algn="l">
              <a:buFont typeface="Arial" panose="020B0604020202020204" pitchFamily="34" charset="0"/>
              <a:buChar char="•"/>
            </a:pPr>
            <a:r>
              <a:rPr lang="en-US" altLang="zh-CN" b="0" i="0" dirty="0">
                <a:solidFill>
                  <a:srgbClr val="060A26"/>
                </a:solidFill>
                <a:effectLst/>
                <a:latin typeface="PingFang SC"/>
              </a:rPr>
              <a:t>Intra-Behavior Weighting</a:t>
            </a:r>
            <a:r>
              <a:rPr lang="zh-CN" altLang="en-US" b="0" i="0" dirty="0">
                <a:solidFill>
                  <a:srgbClr val="060A26"/>
                </a:solidFill>
                <a:effectLst/>
                <a:latin typeface="PingFang SC"/>
              </a:rPr>
              <a:t>：针对每种行为内部进行权重分配。比如，同一个用户对不同商品的点击行为，有的可能是真兴趣，有的是误触，我们会根据上下文动态调整其权重。</a:t>
            </a:r>
          </a:p>
          <a:p>
            <a:pPr algn="l">
              <a:buFont typeface="Arial" panose="020B0604020202020204" pitchFamily="34" charset="0"/>
              <a:buChar char="•"/>
            </a:pPr>
            <a:r>
              <a:rPr lang="en-US" altLang="zh-CN" b="0" i="0" dirty="0">
                <a:solidFill>
                  <a:srgbClr val="060A26"/>
                </a:solidFill>
                <a:effectLst/>
                <a:latin typeface="PingFang SC"/>
              </a:rPr>
              <a:t>Inter-Behavior Weighting</a:t>
            </a:r>
            <a:r>
              <a:rPr lang="zh-CN" altLang="en-US" b="0" i="0" dirty="0">
                <a:solidFill>
                  <a:srgbClr val="060A26"/>
                </a:solidFill>
                <a:effectLst/>
                <a:latin typeface="PingFang SC"/>
              </a:rPr>
              <a:t>：在不同行为之间进行加权。例如，购买行为比浏览更重要，我们会给高价值行为更高的权重。</a:t>
            </a:r>
            <a:br>
              <a:rPr lang="zh-CN" altLang="en-US" b="0" i="0" dirty="0">
                <a:solidFill>
                  <a:srgbClr val="060A26"/>
                </a:solidFill>
                <a:effectLst/>
                <a:latin typeface="PingFang SC"/>
              </a:rPr>
            </a:br>
            <a:r>
              <a:rPr lang="zh-CN" altLang="en-US" b="0" i="0" dirty="0">
                <a:solidFill>
                  <a:srgbClr val="060A26"/>
                </a:solidFill>
                <a:effectLst/>
                <a:latin typeface="PingFang SC"/>
              </a:rPr>
              <a:t>最终通过“权重融合与去噪”，得到更干净的行为序列。</a:t>
            </a:r>
          </a:p>
          <a:p>
            <a:pPr algn="l"/>
            <a:r>
              <a:rPr lang="zh-CN" altLang="en-US" b="0" i="0" dirty="0">
                <a:solidFill>
                  <a:srgbClr val="060A26"/>
                </a:solidFill>
                <a:effectLst/>
                <a:latin typeface="PingFang SC"/>
              </a:rPr>
              <a:t>其次是</a:t>
            </a:r>
            <a:r>
              <a:rPr lang="zh-CN" altLang="en-US" b="1" i="0" dirty="0">
                <a:solidFill>
                  <a:srgbClr val="060A26"/>
                </a:solidFill>
                <a:effectLst/>
                <a:latin typeface="PingFang SC"/>
              </a:rPr>
              <a:t>下半部分：偏好感知的表示增强模块</a:t>
            </a:r>
            <a:r>
              <a:rPr lang="zh-CN" altLang="en-US" b="0" i="0" dirty="0">
                <a:solidFill>
                  <a:srgbClr val="060A26"/>
                </a:solidFill>
                <a:effectLst/>
                <a:latin typeface="PingFang SC"/>
              </a:rPr>
              <a:t>。</a:t>
            </a:r>
            <a:br>
              <a:rPr lang="zh-CN" altLang="en-US" b="0" i="0" dirty="0">
                <a:solidFill>
                  <a:srgbClr val="060A26"/>
                </a:solidFill>
                <a:effectLst/>
                <a:latin typeface="PingFang SC"/>
              </a:rPr>
            </a:br>
            <a:r>
              <a:rPr lang="zh-CN" altLang="en-US" b="0" i="0" dirty="0">
                <a:solidFill>
                  <a:srgbClr val="060A26"/>
                </a:solidFill>
                <a:effectLst/>
                <a:latin typeface="PingFang SC"/>
              </a:rPr>
              <a:t>我们引入了</a:t>
            </a:r>
            <a:r>
              <a:rPr lang="zh-CN" altLang="en-US" b="1" i="0" dirty="0">
                <a:solidFill>
                  <a:srgbClr val="060A26"/>
                </a:solidFill>
                <a:effectLst/>
                <a:latin typeface="PingFang SC"/>
              </a:rPr>
              <a:t>自监督学习机制</a:t>
            </a:r>
            <a:r>
              <a:rPr lang="zh-CN" altLang="en-US" b="0" i="0" dirty="0">
                <a:solidFill>
                  <a:srgbClr val="060A26"/>
                </a:solidFill>
                <a:effectLst/>
                <a:latin typeface="PingFang SC"/>
              </a:rPr>
              <a:t>来提升表示质量：</a:t>
            </a:r>
          </a:p>
          <a:p>
            <a:pPr algn="l">
              <a:buFont typeface="Arial" panose="020B0604020202020204" pitchFamily="34" charset="0"/>
              <a:buChar char="•"/>
            </a:pPr>
            <a:r>
              <a:rPr lang="zh-CN" altLang="en-US" b="0" i="0" dirty="0">
                <a:solidFill>
                  <a:srgbClr val="060A26"/>
                </a:solidFill>
                <a:effectLst/>
                <a:latin typeface="PingFang SC"/>
              </a:rPr>
              <a:t>左边是</a:t>
            </a:r>
            <a:r>
              <a:rPr lang="en-US" altLang="zh-CN" b="0" i="0" dirty="0">
                <a:solidFill>
                  <a:srgbClr val="060A26"/>
                </a:solidFill>
                <a:effectLst/>
                <a:latin typeface="PingFang SC"/>
              </a:rPr>
              <a:t>Intra-Behavior SSL</a:t>
            </a:r>
            <a:r>
              <a:rPr lang="zh-CN" altLang="en-US" b="0" i="0" dirty="0">
                <a:solidFill>
                  <a:srgbClr val="060A26"/>
                </a:solidFill>
                <a:effectLst/>
                <a:latin typeface="PingFang SC"/>
              </a:rPr>
              <a:t>，通过数据增强和对比学习，让模型学会区分同一行为中的有效信号；</a:t>
            </a:r>
          </a:p>
          <a:p>
            <a:pPr algn="l">
              <a:buFont typeface="Arial" panose="020B0604020202020204" pitchFamily="34" charset="0"/>
              <a:buChar char="•"/>
            </a:pPr>
            <a:r>
              <a:rPr lang="zh-CN" altLang="en-US" b="0" i="0" dirty="0">
                <a:solidFill>
                  <a:srgbClr val="060A26"/>
                </a:solidFill>
                <a:effectLst/>
                <a:latin typeface="PingFang SC"/>
              </a:rPr>
              <a:t>右边是</a:t>
            </a:r>
            <a:r>
              <a:rPr lang="en-US" altLang="zh-CN" b="0" i="0" dirty="0">
                <a:solidFill>
                  <a:srgbClr val="060A26"/>
                </a:solidFill>
                <a:effectLst/>
                <a:latin typeface="PingFang SC"/>
              </a:rPr>
              <a:t>Inter-Behavior SSL</a:t>
            </a:r>
            <a:r>
              <a:rPr lang="zh-CN" altLang="en-US" b="0" i="0" dirty="0">
                <a:solidFill>
                  <a:srgbClr val="060A26"/>
                </a:solidFill>
                <a:effectLst/>
                <a:latin typeface="PingFang SC"/>
              </a:rPr>
              <a:t>，利用不同行为之间的关联性，增强跨行为的语义一致性。</a:t>
            </a:r>
          </a:p>
          <a:p>
            <a:pPr algn="l"/>
            <a:r>
              <a:rPr lang="zh-CN" altLang="en-US" b="0" i="0" dirty="0">
                <a:solidFill>
                  <a:srgbClr val="060A26"/>
                </a:solidFill>
                <a:effectLst/>
                <a:latin typeface="PingFang SC"/>
              </a:rPr>
              <a:t>最后，所有信息输入到</a:t>
            </a:r>
            <a:r>
              <a:rPr lang="zh-CN" altLang="en-US" b="1" i="0" dirty="0">
                <a:solidFill>
                  <a:srgbClr val="060A26"/>
                </a:solidFill>
                <a:effectLst/>
                <a:latin typeface="PingFang SC"/>
              </a:rPr>
              <a:t>加权去噪图神经网络（</a:t>
            </a:r>
            <a:r>
              <a:rPr lang="en-US" altLang="zh-CN" b="1" i="0" dirty="0">
                <a:solidFill>
                  <a:srgbClr val="060A26"/>
                </a:solidFill>
                <a:effectLst/>
                <a:latin typeface="PingFang SC"/>
              </a:rPr>
              <a:t>Weighted Denoising GNN</a:t>
            </a:r>
            <a:r>
              <a:rPr lang="zh-CN" altLang="en-US" b="1" i="0" dirty="0">
                <a:solidFill>
                  <a:srgbClr val="060A26"/>
                </a:solidFill>
                <a:effectLst/>
                <a:latin typeface="PingFang SC"/>
              </a:rPr>
              <a:t>）</a:t>
            </a:r>
            <a:r>
              <a:rPr lang="zh-CN" altLang="en-US" b="0" i="0" dirty="0">
                <a:solidFill>
                  <a:srgbClr val="060A26"/>
                </a:solidFill>
                <a:effectLst/>
                <a:latin typeface="PingFang SC"/>
              </a:rPr>
              <a:t> 中，生成用户和物品的最终嵌入，并用于预测。</a:t>
            </a:r>
          </a:p>
          <a:p>
            <a:pPr algn="l"/>
            <a:r>
              <a:rPr lang="zh-CN" altLang="en-US" b="0" i="0" dirty="0">
                <a:solidFill>
                  <a:srgbClr val="060A26"/>
                </a:solidFill>
                <a:effectLst/>
                <a:latin typeface="PingFang SC"/>
              </a:rPr>
              <a:t>这个框架的核心思想是：</a:t>
            </a:r>
            <a:r>
              <a:rPr lang="zh-CN" altLang="en-US" b="1" i="0" dirty="0">
                <a:solidFill>
                  <a:srgbClr val="060A26"/>
                </a:solidFill>
                <a:effectLst/>
                <a:latin typeface="PingFang SC"/>
              </a:rPr>
              <a:t>既抑制噪声，又保留并强化高价值信号</a:t>
            </a:r>
            <a:r>
              <a:rPr lang="zh-CN" altLang="en-US" b="0" i="0" dirty="0">
                <a:solidFill>
                  <a:srgbClr val="060A26"/>
                </a:solidFill>
                <a:effectLst/>
                <a:latin typeface="PingFang SC"/>
              </a:rPr>
              <a:t>，从而实现更精准的兴趣建模。</a:t>
            </a:r>
          </a:p>
          <a:p>
            <a:endParaRPr lang="zh-CN" altLang="en-US" dirty="0"/>
          </a:p>
        </p:txBody>
      </p:sp>
      <p:sp>
        <p:nvSpPr>
          <p:cNvPr id="4" name="灯片编号占位符 3"/>
          <p:cNvSpPr>
            <a:spLocks noGrp="1"/>
          </p:cNvSpPr>
          <p:nvPr>
            <p:ph type="sldNum" sz="quarter" idx="5"/>
          </p:nvPr>
        </p:nvSpPr>
        <p:spPr/>
        <p:txBody>
          <a:bodyPr/>
          <a:lstStyle/>
          <a:p>
            <a:fld id="{FEFA68EA-72A2-4252-BA25-A6764274F607}" type="slidenum">
              <a:rPr lang="zh-CN" altLang="en-US" smtClean="0"/>
              <a:t>8</a:t>
            </a:fld>
            <a:endParaRPr lang="zh-CN" altLang="en-US"/>
          </a:p>
        </p:txBody>
      </p:sp>
    </p:spTree>
    <p:extLst>
      <p:ext uri="{BB962C8B-B14F-4D97-AF65-F5344CB8AC3E}">
        <p14:creationId xmlns:p14="http://schemas.microsoft.com/office/powerpoint/2010/main" val="4160339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060A26"/>
                </a:solidFill>
                <a:effectLst/>
                <a:latin typeface="PingFang SC"/>
              </a:rPr>
              <a:t>我们发现，不同行为反映用户兴趣的</a:t>
            </a:r>
            <a:r>
              <a:rPr lang="zh-CN" altLang="en-US" b="1" i="0" dirty="0">
                <a:solidFill>
                  <a:srgbClr val="060A26"/>
                </a:solidFill>
                <a:effectLst/>
                <a:latin typeface="PingFang SC"/>
              </a:rPr>
              <a:t>强度是不同的</a:t>
            </a:r>
            <a:r>
              <a:rPr lang="zh-CN" altLang="en-US" b="0" i="0" dirty="0">
                <a:solidFill>
                  <a:srgbClr val="060A26"/>
                </a:solidFill>
                <a:effectLst/>
                <a:latin typeface="PingFang SC"/>
              </a:rPr>
              <a:t>。比如，点击可能只是随意浏览，而加购则说明有较强购买意向。因此，我们需要量化每种行为的“价值”。</a:t>
            </a:r>
          </a:p>
          <a:p>
            <a:pPr algn="l"/>
            <a:r>
              <a:rPr lang="zh-CN" altLang="en-US" b="0" i="0" dirty="0">
                <a:solidFill>
                  <a:srgbClr val="060A26"/>
                </a:solidFill>
                <a:effectLst/>
                <a:latin typeface="PingFang SC"/>
              </a:rPr>
              <a:t>为此，我们采用</a:t>
            </a:r>
            <a:r>
              <a:rPr lang="zh-CN" altLang="en-US" b="1" i="0" dirty="0">
                <a:solidFill>
                  <a:srgbClr val="060A26"/>
                </a:solidFill>
                <a:effectLst/>
                <a:latin typeface="PingFang SC"/>
              </a:rPr>
              <a:t>因果森林模型</a:t>
            </a:r>
            <a:r>
              <a:rPr lang="zh-CN" altLang="en-US" b="0" i="0" dirty="0">
                <a:solidFill>
                  <a:srgbClr val="060A26"/>
                </a:solidFill>
                <a:effectLst/>
                <a:latin typeface="PingFang SC"/>
              </a:rPr>
              <a:t>来估计点击和加购对最终购买的影响。</a:t>
            </a:r>
          </a:p>
          <a:p>
            <a:pPr algn="l"/>
            <a:r>
              <a:rPr lang="zh-CN" altLang="en-US" b="0" i="0" dirty="0">
                <a:solidFill>
                  <a:srgbClr val="060A26"/>
                </a:solidFill>
                <a:effectLst/>
                <a:latin typeface="PingFang SC"/>
              </a:rPr>
              <a:t>具体来说：</a:t>
            </a:r>
          </a:p>
          <a:p>
            <a:pPr algn="l">
              <a:buFont typeface="Arial" panose="020B0604020202020204" pitchFamily="34" charset="0"/>
              <a:buChar char="•"/>
            </a:pPr>
            <a:r>
              <a:rPr lang="zh-CN" altLang="en-US" b="0" i="0" dirty="0">
                <a:solidFill>
                  <a:srgbClr val="060A26"/>
                </a:solidFill>
                <a:effectLst/>
                <a:latin typeface="PingFang SC"/>
              </a:rPr>
              <a:t>干预变量 </a:t>
            </a:r>
            <a:r>
              <a:rPr lang="en-US" altLang="zh-CN" b="0" i="0" dirty="0">
                <a:solidFill>
                  <a:srgbClr val="060A26"/>
                </a:solidFill>
                <a:effectLst/>
                <a:latin typeface="PingFang SC"/>
              </a:rPr>
              <a:t>T</a:t>
            </a:r>
            <a:r>
              <a:rPr lang="zh-CN" altLang="en-US" b="0" i="0" dirty="0">
                <a:solidFill>
                  <a:srgbClr val="060A26"/>
                </a:solidFill>
                <a:effectLst/>
                <a:latin typeface="PingFang SC"/>
              </a:rPr>
              <a:t>：</a:t>
            </a:r>
            <a:r>
              <a:rPr lang="en-US" altLang="zh-CN" b="0" i="0" dirty="0">
                <a:solidFill>
                  <a:srgbClr val="060A26"/>
                </a:solidFill>
                <a:effectLst/>
                <a:latin typeface="PingFang SC"/>
              </a:rPr>
              <a:t>T=1 </a:t>
            </a:r>
            <a:r>
              <a:rPr lang="zh-CN" altLang="en-US" b="0" i="0" dirty="0">
                <a:solidFill>
                  <a:srgbClr val="060A26"/>
                </a:solidFill>
                <a:effectLst/>
                <a:latin typeface="PingFang SC"/>
              </a:rPr>
              <a:t>表示点击，</a:t>
            </a:r>
            <a:r>
              <a:rPr lang="en-US" altLang="zh-CN" b="0" i="0" dirty="0">
                <a:solidFill>
                  <a:srgbClr val="060A26"/>
                </a:solidFill>
                <a:effectLst/>
                <a:latin typeface="PingFang SC"/>
              </a:rPr>
              <a:t>T=2 </a:t>
            </a:r>
            <a:r>
              <a:rPr lang="zh-CN" altLang="en-US" b="0" i="0" dirty="0">
                <a:solidFill>
                  <a:srgbClr val="060A26"/>
                </a:solidFill>
                <a:effectLst/>
                <a:latin typeface="PingFang SC"/>
              </a:rPr>
              <a:t>表示加购；</a:t>
            </a:r>
          </a:p>
          <a:p>
            <a:pPr algn="l">
              <a:buFont typeface="Arial" panose="020B0604020202020204" pitchFamily="34" charset="0"/>
              <a:buChar char="•"/>
            </a:pPr>
            <a:r>
              <a:rPr lang="zh-CN" altLang="en-US" b="0" i="0" dirty="0">
                <a:solidFill>
                  <a:srgbClr val="060A26"/>
                </a:solidFill>
                <a:effectLst/>
                <a:latin typeface="PingFang SC"/>
              </a:rPr>
              <a:t>目标变量 </a:t>
            </a:r>
            <a:r>
              <a:rPr lang="en-US" altLang="zh-CN" b="0" i="0" dirty="0">
                <a:solidFill>
                  <a:srgbClr val="060A26"/>
                </a:solidFill>
                <a:effectLst/>
                <a:latin typeface="PingFang SC"/>
              </a:rPr>
              <a:t>Y</a:t>
            </a:r>
            <a:r>
              <a:rPr lang="zh-CN" altLang="en-US" b="0" i="0" dirty="0">
                <a:solidFill>
                  <a:srgbClr val="060A26"/>
                </a:solidFill>
                <a:effectLst/>
                <a:latin typeface="PingFang SC"/>
              </a:rPr>
              <a:t>：是否购买（</a:t>
            </a:r>
            <a:r>
              <a:rPr lang="en-US" altLang="zh-CN" b="0" i="0" dirty="0">
                <a:solidFill>
                  <a:srgbClr val="060A26"/>
                </a:solidFill>
                <a:effectLst/>
                <a:latin typeface="PingFang SC"/>
              </a:rPr>
              <a:t>Y=1 </a:t>
            </a:r>
            <a:r>
              <a:rPr lang="zh-CN" altLang="en-US" b="0" i="0" dirty="0">
                <a:solidFill>
                  <a:srgbClr val="060A26"/>
                </a:solidFill>
                <a:effectLst/>
                <a:latin typeface="PingFang SC"/>
              </a:rPr>
              <a:t>或 </a:t>
            </a:r>
            <a:r>
              <a:rPr lang="en-US" altLang="zh-CN" b="0" i="0" dirty="0">
                <a:solidFill>
                  <a:srgbClr val="060A26"/>
                </a:solidFill>
                <a:effectLst/>
                <a:latin typeface="PingFang SC"/>
              </a:rPr>
              <a:t>0</a:t>
            </a:r>
            <a:r>
              <a:rPr lang="zh-CN" altLang="en-US" b="0" i="0" dirty="0">
                <a:solidFill>
                  <a:srgbClr val="060A26"/>
                </a:solidFill>
                <a:effectLst/>
                <a:latin typeface="PingFang SC"/>
              </a:rPr>
              <a:t>）；</a:t>
            </a:r>
          </a:p>
          <a:p>
            <a:pPr algn="l">
              <a:buFont typeface="Arial" panose="020B0604020202020204" pitchFamily="34" charset="0"/>
              <a:buChar char="•"/>
            </a:pPr>
            <a:r>
              <a:rPr lang="zh-CN" altLang="en-US" b="0" i="0" dirty="0">
                <a:solidFill>
                  <a:srgbClr val="060A26"/>
                </a:solidFill>
                <a:effectLst/>
                <a:latin typeface="PingFang SC"/>
              </a:rPr>
              <a:t>协变量 </a:t>
            </a:r>
            <a:r>
              <a:rPr lang="en-US" altLang="zh-CN" b="0" i="0" dirty="0">
                <a:solidFill>
                  <a:srgbClr val="060A26"/>
                </a:solidFill>
                <a:effectLst/>
                <a:latin typeface="PingFang SC"/>
              </a:rPr>
              <a:t>X</a:t>
            </a:r>
            <a:r>
              <a:rPr lang="zh-CN" altLang="en-US" b="0" i="0" dirty="0">
                <a:solidFill>
                  <a:srgbClr val="060A26"/>
                </a:solidFill>
                <a:effectLst/>
                <a:latin typeface="PingFang SC"/>
              </a:rPr>
              <a:t>：用户的点击频率、加购频率等历史行为特征。</a:t>
            </a:r>
          </a:p>
          <a:p>
            <a:pPr algn="l"/>
            <a:r>
              <a:rPr lang="zh-CN" altLang="en-US" b="0" i="0" dirty="0">
                <a:solidFill>
                  <a:srgbClr val="060A26"/>
                </a:solidFill>
                <a:effectLst/>
                <a:latin typeface="PingFang SC"/>
              </a:rPr>
              <a:t>通过计算每个商品的</a:t>
            </a:r>
            <a:r>
              <a:rPr lang="zh-CN" altLang="en-US" b="1" i="0" dirty="0">
                <a:solidFill>
                  <a:srgbClr val="060A26"/>
                </a:solidFill>
                <a:effectLst/>
                <a:latin typeface="PingFang SC"/>
              </a:rPr>
              <a:t>平均处理效应</a:t>
            </a:r>
            <a:r>
              <a:rPr lang="zh-CN" altLang="en-US" b="0" i="0" dirty="0">
                <a:solidFill>
                  <a:srgbClr val="060A26"/>
                </a:solidFill>
                <a:effectLst/>
                <a:latin typeface="PingFang SC"/>
              </a:rPr>
              <a:t> </a:t>
            </a:r>
            <a:r>
              <a:rPr lang="en-US" altLang="zh-CN" b="0" i="0" dirty="0" err="1">
                <a:solidFill>
                  <a:srgbClr val="060A26"/>
                </a:solidFill>
                <a:effectLst/>
                <a:latin typeface="KaTeX_Main"/>
              </a:rPr>
              <a:t>τi</a:t>
            </a:r>
            <a:r>
              <a:rPr lang="en-US" altLang="zh-CN" b="0" i="1" dirty="0" err="1">
                <a:solidFill>
                  <a:srgbClr val="060A26"/>
                </a:solidFill>
                <a:effectLst/>
                <a:latin typeface="KaTeX_Math"/>
              </a:rPr>
              <a:t>τi</a:t>
            </a:r>
            <a:r>
              <a:rPr lang="zh-CN" altLang="en-US" b="0" i="0" dirty="0">
                <a:solidFill>
                  <a:srgbClr val="060A26"/>
                </a:solidFill>
                <a:effectLst/>
                <a:latin typeface="KaTeX_Main"/>
              </a:rPr>
              <a:t>​</a:t>
            </a:r>
            <a:r>
              <a:rPr lang="zh-CN" altLang="en-US" b="0" i="0" dirty="0">
                <a:solidFill>
                  <a:srgbClr val="060A26"/>
                </a:solidFill>
                <a:effectLst/>
                <a:latin typeface="PingFang SC"/>
              </a:rPr>
              <a:t> ，即：</a:t>
            </a:r>
          </a:p>
          <a:p>
            <a:r>
              <a:rPr lang="en-US" altLang="zh-CN" dirty="0" err="1">
                <a:effectLst/>
                <a:latin typeface="KaTeX_Main"/>
              </a:rPr>
              <a:t>τi</a:t>
            </a:r>
            <a:r>
              <a:rPr lang="en-US" altLang="zh-CN" dirty="0">
                <a:effectLst/>
                <a:latin typeface="KaTeX_Main"/>
              </a:rPr>
              <a:t>=E[</a:t>
            </a:r>
            <a:r>
              <a:rPr lang="en-US" altLang="zh-CN" dirty="0" err="1">
                <a:effectLst/>
                <a:latin typeface="KaTeX_Main"/>
              </a:rPr>
              <a:t>Yi∣T</a:t>
            </a:r>
            <a:r>
              <a:rPr lang="en-US" altLang="zh-CN" dirty="0">
                <a:effectLst/>
                <a:latin typeface="KaTeX_Main"/>
              </a:rPr>
              <a:t>=2,Xi]−E[</a:t>
            </a:r>
            <a:r>
              <a:rPr lang="en-US" altLang="zh-CN" dirty="0" err="1">
                <a:effectLst/>
                <a:latin typeface="KaTeX_Main"/>
              </a:rPr>
              <a:t>Yi∣T</a:t>
            </a:r>
            <a:r>
              <a:rPr lang="en-US" altLang="zh-CN" dirty="0">
                <a:effectLst/>
                <a:latin typeface="KaTeX_Main"/>
              </a:rPr>
              <a:t>=1,Xi]</a:t>
            </a:r>
            <a:r>
              <a:rPr lang="en-US" altLang="zh-CN" i="1" dirty="0" err="1">
                <a:effectLst/>
                <a:latin typeface="KaTeX_Math"/>
              </a:rPr>
              <a:t>τi</a:t>
            </a:r>
            <a:r>
              <a:rPr lang="zh-CN" altLang="en-US" dirty="0">
                <a:effectLst/>
                <a:latin typeface="KaTeX_Main"/>
              </a:rPr>
              <a:t>​</a:t>
            </a:r>
            <a:r>
              <a:rPr lang="en-US" altLang="zh-CN" dirty="0">
                <a:effectLst/>
                <a:latin typeface="KaTeX_Main"/>
              </a:rPr>
              <a:t>=</a:t>
            </a:r>
            <a:r>
              <a:rPr lang="en-US" altLang="zh-CN" i="1" dirty="0">
                <a:effectLst/>
                <a:latin typeface="KaTeX_Math"/>
              </a:rPr>
              <a:t>E</a:t>
            </a:r>
            <a:r>
              <a:rPr lang="en-US" altLang="zh-CN" dirty="0">
                <a:effectLst/>
                <a:latin typeface="KaTeX_Main"/>
              </a:rPr>
              <a:t>[</a:t>
            </a:r>
            <a:r>
              <a:rPr lang="en-US" altLang="zh-CN" i="1" dirty="0">
                <a:effectLst/>
                <a:latin typeface="KaTeX_Math"/>
              </a:rPr>
              <a:t>Yi</a:t>
            </a:r>
            <a:r>
              <a:rPr lang="zh-CN" altLang="en-US" dirty="0">
                <a:effectLst/>
                <a:latin typeface="KaTeX_Main"/>
              </a:rPr>
              <a:t>​∣</a:t>
            </a:r>
            <a:r>
              <a:rPr lang="en-US" altLang="zh-CN" i="1" dirty="0">
                <a:effectLst/>
                <a:latin typeface="KaTeX_Math"/>
              </a:rPr>
              <a:t>T</a:t>
            </a:r>
            <a:r>
              <a:rPr lang="en-US" altLang="zh-CN" dirty="0">
                <a:effectLst/>
                <a:latin typeface="KaTeX_Main"/>
              </a:rPr>
              <a:t>=2,</a:t>
            </a:r>
            <a:r>
              <a:rPr lang="en-US" altLang="zh-CN" i="1" dirty="0">
                <a:effectLst/>
                <a:latin typeface="KaTeX_Math"/>
              </a:rPr>
              <a:t>Xi</a:t>
            </a:r>
            <a:r>
              <a:rPr lang="zh-CN" altLang="en-US" dirty="0">
                <a:effectLst/>
                <a:latin typeface="KaTeX_Main"/>
              </a:rPr>
              <a:t>​</a:t>
            </a:r>
            <a:r>
              <a:rPr lang="en-US" altLang="zh-CN" dirty="0">
                <a:effectLst/>
                <a:latin typeface="KaTeX_Main"/>
              </a:rPr>
              <a:t>]−</a:t>
            </a:r>
            <a:r>
              <a:rPr lang="en-US" altLang="zh-CN" i="1" dirty="0">
                <a:effectLst/>
                <a:latin typeface="KaTeX_Math"/>
              </a:rPr>
              <a:t>E</a:t>
            </a:r>
            <a:r>
              <a:rPr lang="en-US" altLang="zh-CN" dirty="0">
                <a:effectLst/>
                <a:latin typeface="KaTeX_Main"/>
              </a:rPr>
              <a:t>[</a:t>
            </a:r>
            <a:r>
              <a:rPr lang="en-US" altLang="zh-CN" i="1" dirty="0">
                <a:effectLst/>
                <a:latin typeface="KaTeX_Math"/>
              </a:rPr>
              <a:t>Yi</a:t>
            </a:r>
            <a:r>
              <a:rPr lang="zh-CN" altLang="en-US" dirty="0">
                <a:effectLst/>
                <a:latin typeface="KaTeX_Main"/>
              </a:rPr>
              <a:t>​∣</a:t>
            </a:r>
            <a:r>
              <a:rPr lang="en-US" altLang="zh-CN" i="1" dirty="0">
                <a:effectLst/>
                <a:latin typeface="KaTeX_Math"/>
              </a:rPr>
              <a:t>T</a:t>
            </a:r>
            <a:r>
              <a:rPr lang="en-US" altLang="zh-CN" dirty="0">
                <a:effectLst/>
                <a:latin typeface="KaTeX_Main"/>
              </a:rPr>
              <a:t>=1,</a:t>
            </a:r>
            <a:r>
              <a:rPr lang="en-US" altLang="zh-CN" i="1" dirty="0">
                <a:effectLst/>
                <a:latin typeface="KaTeX_Math"/>
              </a:rPr>
              <a:t>Xi</a:t>
            </a:r>
            <a:r>
              <a:rPr lang="zh-CN" altLang="en-US" dirty="0">
                <a:effectLst/>
                <a:latin typeface="KaTeX_Main"/>
              </a:rPr>
              <a:t>​</a:t>
            </a:r>
            <a:r>
              <a:rPr lang="en-US" altLang="zh-CN" dirty="0">
                <a:effectLst/>
                <a:latin typeface="KaTeX_Main"/>
              </a:rPr>
              <a:t>]</a:t>
            </a:r>
            <a:endParaRPr lang="zh-CN" altLang="en-US" dirty="0">
              <a:effectLst/>
            </a:endParaRPr>
          </a:p>
          <a:p>
            <a:pPr algn="l"/>
            <a:r>
              <a:rPr lang="zh-CN" altLang="en-US" b="0" i="0" dirty="0">
                <a:solidFill>
                  <a:srgbClr val="060A26"/>
                </a:solidFill>
                <a:effectLst/>
                <a:latin typeface="PingFang SC"/>
              </a:rPr>
              <a:t>我们可以得到加购比点击更可能带来购买的证据。</a:t>
            </a:r>
          </a:p>
          <a:p>
            <a:pPr algn="l"/>
            <a:r>
              <a:rPr lang="zh-CN" altLang="en-US" b="0" i="0" dirty="0">
                <a:solidFill>
                  <a:srgbClr val="060A26"/>
                </a:solidFill>
                <a:effectLst/>
                <a:latin typeface="PingFang SC"/>
              </a:rPr>
              <a:t>然后，我们用指数函数将其转化为权重：</a:t>
            </a:r>
          </a:p>
          <a:p>
            <a:r>
              <a:rPr lang="en-US" altLang="zh-CN" dirty="0" err="1">
                <a:effectLst/>
                <a:latin typeface="KaTeX_Main"/>
              </a:rPr>
              <a:t>wcart,i</a:t>
            </a:r>
            <a:r>
              <a:rPr lang="en-US" altLang="zh-CN" dirty="0">
                <a:effectLst/>
                <a:latin typeface="KaTeX_Main"/>
              </a:rPr>
              <a:t>=exp⁡(</a:t>
            </a:r>
            <a:r>
              <a:rPr lang="en-US" altLang="zh-CN" dirty="0" err="1">
                <a:effectLst/>
                <a:latin typeface="KaTeX_Main"/>
              </a:rPr>
              <a:t>τi</a:t>
            </a:r>
            <a:r>
              <a:rPr lang="en-US" altLang="zh-CN" dirty="0">
                <a:effectLst/>
                <a:latin typeface="KaTeX_Main"/>
              </a:rPr>
              <a:t>)exp⁡(</a:t>
            </a:r>
            <a:r>
              <a:rPr lang="en-US" altLang="zh-CN" dirty="0" err="1">
                <a:effectLst/>
                <a:latin typeface="KaTeX_Main"/>
              </a:rPr>
              <a:t>τi</a:t>
            </a:r>
            <a:r>
              <a:rPr lang="en-US" altLang="zh-CN" dirty="0">
                <a:effectLst/>
                <a:latin typeface="KaTeX_Main"/>
              </a:rPr>
              <a:t>)+1</a:t>
            </a:r>
            <a:r>
              <a:rPr lang="en-US" altLang="zh-CN" i="1" dirty="0">
                <a:effectLst/>
                <a:latin typeface="KaTeX_Math"/>
              </a:rPr>
              <a:t>wcart</a:t>
            </a:r>
            <a:r>
              <a:rPr lang="en-US" altLang="zh-CN" dirty="0">
                <a:effectLst/>
                <a:latin typeface="KaTeX_Main"/>
              </a:rPr>
              <a:t>,</a:t>
            </a:r>
            <a:r>
              <a:rPr lang="en-US" altLang="zh-CN" i="1" dirty="0">
                <a:effectLst/>
                <a:latin typeface="KaTeX_Math"/>
              </a:rPr>
              <a:t>i</a:t>
            </a:r>
            <a:r>
              <a:rPr lang="zh-CN" altLang="en-US" dirty="0">
                <a:effectLst/>
                <a:latin typeface="KaTeX_Main"/>
              </a:rPr>
              <a:t>​</a:t>
            </a:r>
            <a:r>
              <a:rPr lang="en-US" altLang="zh-CN" dirty="0">
                <a:effectLst/>
                <a:latin typeface="KaTeX_Main"/>
              </a:rPr>
              <a:t>=exp(</a:t>
            </a:r>
            <a:r>
              <a:rPr lang="en-US" altLang="zh-CN" i="1" dirty="0" err="1">
                <a:effectLst/>
                <a:latin typeface="KaTeX_Math"/>
              </a:rPr>
              <a:t>τi</a:t>
            </a:r>
            <a:r>
              <a:rPr lang="zh-CN" altLang="en-US" dirty="0">
                <a:effectLst/>
                <a:latin typeface="KaTeX_Main"/>
              </a:rPr>
              <a:t>​</a:t>
            </a:r>
            <a:r>
              <a:rPr lang="en-US" altLang="zh-CN" dirty="0">
                <a:effectLst/>
                <a:latin typeface="KaTeX_Main"/>
              </a:rPr>
              <a:t>)+1exp(</a:t>
            </a:r>
            <a:r>
              <a:rPr lang="en-US" altLang="zh-CN" i="1" dirty="0" err="1">
                <a:effectLst/>
                <a:latin typeface="KaTeX_Math"/>
              </a:rPr>
              <a:t>τi</a:t>
            </a:r>
            <a:r>
              <a:rPr lang="zh-CN" altLang="en-US" dirty="0">
                <a:effectLst/>
                <a:latin typeface="KaTeX_Main"/>
              </a:rPr>
              <a:t>​</a:t>
            </a:r>
            <a:r>
              <a:rPr lang="en-US" altLang="zh-CN" dirty="0">
                <a:effectLst/>
                <a:latin typeface="KaTeX_Main"/>
              </a:rPr>
              <a:t>)​</a:t>
            </a:r>
            <a:endParaRPr lang="zh-CN" altLang="en-US" dirty="0">
              <a:effectLst/>
            </a:endParaRPr>
          </a:p>
          <a:p>
            <a:pPr algn="l"/>
            <a:r>
              <a:rPr lang="zh-CN" altLang="en-US" b="0" i="0" dirty="0">
                <a:solidFill>
                  <a:srgbClr val="060A26"/>
                </a:solidFill>
                <a:effectLst/>
                <a:latin typeface="PingFang SC"/>
              </a:rPr>
              <a:t>这样，每个加购行为都会被赋予一个动态权重，越接近购买的可能性，权重越高。</a:t>
            </a:r>
          </a:p>
          <a:p>
            <a:pPr algn="l"/>
            <a:r>
              <a:rPr lang="zh-CN" altLang="en-US" b="0" i="0" dirty="0">
                <a:solidFill>
                  <a:srgbClr val="060A26"/>
                </a:solidFill>
                <a:effectLst/>
                <a:latin typeface="PingFang SC"/>
              </a:rPr>
              <a:t>最后，我们统计所有加购行为的平均权重 </a:t>
            </a:r>
            <a:r>
              <a:rPr lang="en-US" altLang="zh-CN" b="0" i="0" dirty="0" err="1">
                <a:solidFill>
                  <a:srgbClr val="060A26"/>
                </a:solidFill>
                <a:effectLst/>
                <a:latin typeface="KaTeX_Main"/>
              </a:rPr>
              <a:t>pcart</a:t>
            </a:r>
            <a:r>
              <a:rPr lang="en-US" altLang="zh-CN" b="0" i="1" dirty="0" err="1">
                <a:solidFill>
                  <a:srgbClr val="060A26"/>
                </a:solidFill>
                <a:effectLst/>
                <a:latin typeface="KaTeX_Math"/>
              </a:rPr>
              <a:t>pcart</a:t>
            </a:r>
            <a:r>
              <a:rPr lang="zh-CN" altLang="en-US" b="0" i="0" dirty="0">
                <a:solidFill>
                  <a:srgbClr val="060A26"/>
                </a:solidFill>
                <a:effectLst/>
                <a:latin typeface="KaTeX_Main"/>
              </a:rPr>
              <a:t>​</a:t>
            </a:r>
            <a:r>
              <a:rPr lang="zh-CN" altLang="en-US" b="0" i="0" dirty="0">
                <a:solidFill>
                  <a:srgbClr val="060A26"/>
                </a:solidFill>
                <a:effectLst/>
                <a:latin typeface="PingFang SC"/>
              </a:rPr>
              <a:t> ，并设购买行为权重为</a:t>
            </a:r>
            <a:r>
              <a:rPr lang="en-US" altLang="zh-CN" b="0" i="0" dirty="0">
                <a:solidFill>
                  <a:srgbClr val="060A26"/>
                </a:solidFill>
                <a:effectLst/>
                <a:latin typeface="PingFang SC"/>
              </a:rPr>
              <a:t>1</a:t>
            </a:r>
            <a:r>
              <a:rPr lang="zh-CN" altLang="en-US" b="0" i="0" dirty="0">
                <a:solidFill>
                  <a:srgbClr val="060A26"/>
                </a:solidFill>
                <a:effectLst/>
                <a:latin typeface="PingFang SC"/>
              </a:rPr>
              <a:t>，点击行为权重为 </a:t>
            </a:r>
            <a:r>
              <a:rPr lang="en-US" altLang="zh-CN" b="0" i="0" dirty="0">
                <a:solidFill>
                  <a:srgbClr val="060A26"/>
                </a:solidFill>
                <a:effectLst/>
                <a:latin typeface="KaTeX_Main"/>
              </a:rPr>
              <a:t>1−pcart1−</a:t>
            </a:r>
            <a:r>
              <a:rPr lang="en-US" altLang="zh-CN" b="0" i="1" dirty="0">
                <a:solidFill>
                  <a:srgbClr val="060A26"/>
                </a:solidFill>
                <a:effectLst/>
                <a:latin typeface="KaTeX_Math"/>
              </a:rPr>
              <a:t>pcart</a:t>
            </a:r>
            <a:r>
              <a:rPr lang="zh-CN" altLang="en-US" b="0" i="0" dirty="0">
                <a:solidFill>
                  <a:srgbClr val="060A26"/>
                </a:solidFill>
                <a:effectLst/>
                <a:latin typeface="KaTeX_Main"/>
              </a:rPr>
              <a:t>​</a:t>
            </a:r>
            <a:r>
              <a:rPr lang="zh-CN" altLang="en-US" b="0" i="0" dirty="0">
                <a:solidFill>
                  <a:srgbClr val="060A26"/>
                </a:solidFill>
                <a:effectLst/>
                <a:latin typeface="PingFang SC"/>
              </a:rPr>
              <a:t> 。</a:t>
            </a:r>
          </a:p>
          <a:p>
            <a:pPr algn="l"/>
            <a:r>
              <a:rPr lang="zh-CN" altLang="en-US" b="0" i="0" dirty="0">
                <a:solidFill>
                  <a:srgbClr val="060A26"/>
                </a:solidFill>
                <a:effectLst/>
                <a:latin typeface="PingFang SC"/>
              </a:rPr>
              <a:t>如右图所示，原本三个行为图（点击、加购、购买）经过加权后，合并成一个统一的行为图，其中边的粗细代表了行为的重要性。</a:t>
            </a:r>
          </a:p>
          <a:p>
            <a:pPr algn="l"/>
            <a:r>
              <a:rPr lang="zh-CN" altLang="en-US" b="0" i="0" dirty="0">
                <a:solidFill>
                  <a:srgbClr val="060A26"/>
                </a:solidFill>
                <a:effectLst/>
                <a:latin typeface="PingFang SC"/>
              </a:rPr>
              <a:t>这个设计使得模型能够</a:t>
            </a:r>
            <a:r>
              <a:rPr lang="zh-CN" altLang="en-US" b="1" i="0" dirty="0">
                <a:solidFill>
                  <a:srgbClr val="060A26"/>
                </a:solidFill>
                <a:effectLst/>
                <a:latin typeface="PingFang SC"/>
              </a:rPr>
              <a:t>自动识别高价值行为，并在建模时给予更高权重</a:t>
            </a:r>
            <a:r>
              <a:rPr lang="zh-CN" altLang="en-US" b="0" i="0" dirty="0">
                <a:solidFill>
                  <a:srgbClr val="060A26"/>
                </a:solidFill>
                <a:effectLst/>
                <a:latin typeface="PingFang SC"/>
              </a:rPr>
              <a:t>，从而有效抑制低质量交互带来的噪声。</a:t>
            </a:r>
          </a:p>
          <a:p>
            <a:endParaRPr lang="zh-CN" altLang="en-US" dirty="0"/>
          </a:p>
        </p:txBody>
      </p:sp>
      <p:sp>
        <p:nvSpPr>
          <p:cNvPr id="4" name="灯片编号占位符 3"/>
          <p:cNvSpPr>
            <a:spLocks noGrp="1"/>
          </p:cNvSpPr>
          <p:nvPr>
            <p:ph type="sldNum" sz="quarter" idx="5"/>
          </p:nvPr>
        </p:nvSpPr>
        <p:spPr/>
        <p:txBody>
          <a:bodyPr/>
          <a:lstStyle/>
          <a:p>
            <a:fld id="{FEFA68EA-72A2-4252-BA25-A6764274F607}" type="slidenum">
              <a:rPr lang="zh-CN" altLang="en-US" smtClean="0"/>
              <a:t>9</a:t>
            </a:fld>
            <a:endParaRPr lang="zh-CN" altLang="en-US"/>
          </a:p>
        </p:txBody>
      </p:sp>
    </p:spTree>
    <p:extLst>
      <p:ext uri="{BB962C8B-B14F-4D97-AF65-F5344CB8AC3E}">
        <p14:creationId xmlns:p14="http://schemas.microsoft.com/office/powerpoint/2010/main" val="37492368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060A26"/>
                </a:solidFill>
                <a:effectLst/>
                <a:latin typeface="PingFang SC"/>
              </a:rPr>
              <a:t>我们发现，即使是同一种行为，比如“点击”，不同商品之间的价值也不同。</a:t>
            </a:r>
            <a:br>
              <a:rPr lang="zh-CN" altLang="en-US" b="0" i="0" dirty="0">
                <a:solidFill>
                  <a:srgbClr val="060A26"/>
                </a:solidFill>
                <a:effectLst/>
                <a:latin typeface="PingFang SC"/>
              </a:rPr>
            </a:br>
            <a:r>
              <a:rPr lang="zh-CN" altLang="en-US" b="0" i="0" dirty="0">
                <a:solidFill>
                  <a:srgbClr val="060A26"/>
                </a:solidFill>
                <a:effectLst/>
                <a:latin typeface="PingFang SC"/>
              </a:rPr>
              <a:t>例如，某个用户点击了一件衣服，如果有很多和他兴趣相似的用户也点击了这件衣服，那说明这件衣服更可能是他真正感兴趣的。</a:t>
            </a:r>
          </a:p>
          <a:p>
            <a:pPr algn="l"/>
            <a:r>
              <a:rPr lang="zh-CN" altLang="en-US" b="0" i="0" dirty="0">
                <a:solidFill>
                  <a:srgbClr val="060A26"/>
                </a:solidFill>
                <a:effectLst/>
                <a:latin typeface="PingFang SC"/>
              </a:rPr>
              <a:t>因此，我们的思路是：</a:t>
            </a:r>
            <a:r>
              <a:rPr lang="zh-CN" altLang="en-US" b="1" i="0" dirty="0">
                <a:solidFill>
                  <a:srgbClr val="060A26"/>
                </a:solidFill>
                <a:effectLst/>
                <a:latin typeface="PingFang SC"/>
              </a:rPr>
              <a:t>通过相似用户的共现频率来为物品赋予权重</a:t>
            </a:r>
            <a:r>
              <a:rPr lang="zh-CN" altLang="en-US" b="0" i="0" dirty="0">
                <a:solidFill>
                  <a:srgbClr val="060A26"/>
                </a:solidFill>
                <a:effectLst/>
                <a:latin typeface="PingFang SC"/>
              </a:rPr>
              <a:t>。</a:t>
            </a:r>
          </a:p>
          <a:p>
            <a:pPr algn="l"/>
            <a:r>
              <a:rPr lang="zh-CN" altLang="en-US" b="0" i="0" dirty="0">
                <a:solidFill>
                  <a:srgbClr val="060A26"/>
                </a:solidFill>
                <a:effectLst/>
                <a:latin typeface="PingFang SC"/>
              </a:rPr>
              <a:t>具体来说：</a:t>
            </a:r>
          </a:p>
          <a:p>
            <a:pPr algn="l">
              <a:buFont typeface="Arial" panose="020B0604020202020204" pitchFamily="34" charset="0"/>
              <a:buChar char="•"/>
            </a:pPr>
            <a:r>
              <a:rPr lang="zh-CN" altLang="en-US" b="0" i="0" dirty="0">
                <a:solidFill>
                  <a:srgbClr val="060A26"/>
                </a:solidFill>
                <a:effectLst/>
                <a:latin typeface="PingFang SC"/>
              </a:rPr>
              <a:t>我们先找到与当前用户有相似交互偏好的用户；</a:t>
            </a:r>
          </a:p>
          <a:p>
            <a:pPr algn="l">
              <a:buFont typeface="Arial" panose="020B0604020202020204" pitchFamily="34" charset="0"/>
              <a:buChar char="•"/>
            </a:pPr>
            <a:r>
              <a:rPr lang="zh-CN" altLang="en-US" b="0" i="0" dirty="0">
                <a:solidFill>
                  <a:srgbClr val="060A26"/>
                </a:solidFill>
                <a:effectLst/>
                <a:latin typeface="PingFang SC"/>
              </a:rPr>
              <a:t>然后统计这些相似用户中，有多少人也交互过同一物品；</a:t>
            </a:r>
          </a:p>
          <a:p>
            <a:pPr algn="l">
              <a:buFont typeface="Arial" panose="020B0604020202020204" pitchFamily="34" charset="0"/>
              <a:buChar char="•"/>
            </a:pPr>
            <a:r>
              <a:rPr lang="zh-CN" altLang="en-US" b="0" i="0" dirty="0">
                <a:solidFill>
                  <a:srgbClr val="060A26"/>
                </a:solidFill>
                <a:effectLst/>
                <a:latin typeface="PingFang SC"/>
              </a:rPr>
              <a:t>交互人数越多，说明该物品越可能代表真实偏好，权重就越高。</a:t>
            </a:r>
          </a:p>
          <a:p>
            <a:r>
              <a:rPr lang="zh-CN" altLang="en-US" b="0" i="0" dirty="0">
                <a:solidFill>
                  <a:srgbClr val="060A26"/>
                </a:solidFill>
                <a:effectLst/>
                <a:latin typeface="PingFang SC"/>
              </a:rPr>
              <a:t>这样，我们就实现了在</a:t>
            </a:r>
            <a:r>
              <a:rPr lang="zh-CN" altLang="en-US" b="1" i="0" dirty="0">
                <a:solidFill>
                  <a:srgbClr val="060A26"/>
                </a:solidFill>
                <a:effectLst/>
                <a:latin typeface="PingFang SC"/>
              </a:rPr>
              <a:t>同一行为内部</a:t>
            </a:r>
            <a:r>
              <a:rPr lang="zh-CN" altLang="en-US" b="0" i="0" dirty="0">
                <a:solidFill>
                  <a:srgbClr val="060A26"/>
                </a:solidFill>
                <a:effectLst/>
                <a:latin typeface="PingFang SC"/>
              </a:rPr>
              <a:t>对交互进行精细化加权，有效提升了高价值信号的表达能力。</a:t>
            </a:r>
            <a:endParaRPr lang="zh-CN" altLang="en-US" dirty="0"/>
          </a:p>
        </p:txBody>
      </p:sp>
      <p:sp>
        <p:nvSpPr>
          <p:cNvPr id="4" name="灯片编号占位符 3"/>
          <p:cNvSpPr>
            <a:spLocks noGrp="1"/>
          </p:cNvSpPr>
          <p:nvPr>
            <p:ph type="sldNum" sz="quarter" idx="5"/>
          </p:nvPr>
        </p:nvSpPr>
        <p:spPr/>
        <p:txBody>
          <a:bodyPr/>
          <a:lstStyle/>
          <a:p>
            <a:fld id="{FEFA68EA-72A2-4252-BA25-A6764274F607}" type="slidenum">
              <a:rPr lang="zh-CN" altLang="en-US" smtClean="0"/>
              <a:t>10</a:t>
            </a:fld>
            <a:endParaRPr lang="zh-CN" altLang="en-US"/>
          </a:p>
        </p:txBody>
      </p:sp>
    </p:spTree>
    <p:extLst>
      <p:ext uri="{BB962C8B-B14F-4D97-AF65-F5344CB8AC3E}">
        <p14:creationId xmlns:p14="http://schemas.microsoft.com/office/powerpoint/2010/main" val="2225500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060A26"/>
                </a:solidFill>
                <a:effectLst/>
                <a:latin typeface="PingFang SC"/>
              </a:rPr>
              <a:t>我们已经分别计算了</a:t>
            </a:r>
            <a:r>
              <a:rPr lang="zh-CN" altLang="en-US" b="1" i="0" dirty="0">
                <a:solidFill>
                  <a:srgbClr val="060A26"/>
                </a:solidFill>
                <a:effectLst/>
                <a:latin typeface="PingFang SC"/>
              </a:rPr>
              <a:t>行为间的权重</a:t>
            </a:r>
            <a:r>
              <a:rPr lang="zh-CN" altLang="en-US" b="0" i="0" dirty="0">
                <a:solidFill>
                  <a:srgbClr val="060A26"/>
                </a:solidFill>
                <a:effectLst/>
                <a:latin typeface="PingFang SC"/>
              </a:rPr>
              <a:t>（比如购买比点击更重要）和</a:t>
            </a:r>
            <a:r>
              <a:rPr lang="zh-CN" altLang="en-US" b="1" i="0" dirty="0">
                <a:solidFill>
                  <a:srgbClr val="060A26"/>
                </a:solidFill>
                <a:effectLst/>
                <a:latin typeface="PingFang SC"/>
              </a:rPr>
              <a:t>行为内的权重</a:t>
            </a:r>
            <a:r>
              <a:rPr lang="zh-CN" altLang="en-US" b="0" i="0" dirty="0">
                <a:solidFill>
                  <a:srgbClr val="060A26"/>
                </a:solidFill>
                <a:effectLst/>
                <a:latin typeface="PingFang SC"/>
              </a:rPr>
              <a:t>（比如被多人共同关注的商品更可信）。</a:t>
            </a:r>
            <a:br>
              <a:rPr lang="zh-CN" altLang="en-US" b="0" i="0" dirty="0">
                <a:solidFill>
                  <a:srgbClr val="060A26"/>
                </a:solidFill>
                <a:effectLst/>
                <a:latin typeface="PingFang SC"/>
              </a:rPr>
            </a:br>
            <a:r>
              <a:rPr lang="zh-CN" altLang="en-US" b="0" i="0" dirty="0">
                <a:solidFill>
                  <a:srgbClr val="060A26"/>
                </a:solidFill>
                <a:effectLst/>
                <a:latin typeface="PingFang SC"/>
              </a:rPr>
              <a:t>现在，我们将这两个维度的权重进行融合，得到每条交互的综合权重 </a:t>
            </a:r>
            <a:r>
              <a:rPr lang="en-US" altLang="zh-CN" b="0" i="0" dirty="0" err="1">
                <a:solidFill>
                  <a:srgbClr val="060A26"/>
                </a:solidFill>
                <a:effectLst/>
                <a:latin typeface="KaTeX_Main"/>
              </a:rPr>
              <a:t>wcombine</a:t>
            </a:r>
            <a:r>
              <a:rPr lang="en-US" altLang="zh-CN" b="0" i="1" dirty="0" err="1">
                <a:solidFill>
                  <a:srgbClr val="060A26"/>
                </a:solidFill>
                <a:effectLst/>
                <a:latin typeface="KaTeX_Math"/>
              </a:rPr>
              <a:t>wcombine</a:t>
            </a:r>
            <a:r>
              <a:rPr lang="zh-CN" altLang="en-US" b="0" i="0" dirty="0">
                <a:solidFill>
                  <a:srgbClr val="060A26"/>
                </a:solidFill>
                <a:effectLst/>
                <a:latin typeface="KaTeX_Main"/>
              </a:rPr>
              <a:t>​</a:t>
            </a:r>
            <a:r>
              <a:rPr lang="zh-CN" altLang="en-US" b="0" i="0" dirty="0">
                <a:solidFill>
                  <a:srgbClr val="060A26"/>
                </a:solidFill>
                <a:effectLst/>
                <a:latin typeface="PingFang SC"/>
              </a:rPr>
              <a:t> 。</a:t>
            </a:r>
          </a:p>
          <a:p>
            <a:pPr algn="l"/>
            <a:r>
              <a:rPr lang="zh-CN" altLang="en-US" b="0" i="0" dirty="0">
                <a:solidFill>
                  <a:srgbClr val="060A26"/>
                </a:solidFill>
                <a:effectLst/>
                <a:latin typeface="PingFang SC"/>
              </a:rPr>
              <a:t>我们认为：</a:t>
            </a:r>
          </a:p>
          <a:p>
            <a:pPr algn="l">
              <a:buFont typeface="Arial" panose="020B0604020202020204" pitchFamily="34" charset="0"/>
              <a:buChar char="•"/>
            </a:pPr>
            <a:r>
              <a:rPr lang="zh-CN" altLang="en-US" b="0" i="0" dirty="0">
                <a:solidFill>
                  <a:srgbClr val="060A26"/>
                </a:solidFill>
                <a:effectLst/>
                <a:latin typeface="PingFang SC"/>
              </a:rPr>
              <a:t>权重较大的交互，反映了用户的真实偏好；</a:t>
            </a:r>
          </a:p>
          <a:p>
            <a:pPr algn="l">
              <a:buFont typeface="Arial" panose="020B0604020202020204" pitchFamily="34" charset="0"/>
              <a:buChar char="•"/>
            </a:pPr>
            <a:r>
              <a:rPr lang="zh-CN" altLang="en-US" b="0" i="0" dirty="0">
                <a:solidFill>
                  <a:srgbClr val="060A26"/>
                </a:solidFill>
                <a:effectLst/>
                <a:latin typeface="PingFang SC"/>
              </a:rPr>
              <a:t>权重较小的交互，则可能是辅助行为中的噪声，比如误触或随意浏览。</a:t>
            </a:r>
          </a:p>
          <a:p>
            <a:pPr algn="l"/>
            <a:r>
              <a:rPr lang="zh-CN" altLang="en-US" b="0" i="0" dirty="0">
                <a:solidFill>
                  <a:srgbClr val="060A26"/>
                </a:solidFill>
                <a:effectLst/>
                <a:latin typeface="PingFang SC"/>
              </a:rPr>
              <a:t>因此，我们会</a:t>
            </a:r>
            <a:r>
              <a:rPr lang="zh-CN" altLang="en-US" b="1" i="0" dirty="0">
                <a:solidFill>
                  <a:srgbClr val="060A26"/>
                </a:solidFill>
                <a:effectLst/>
                <a:latin typeface="PingFang SC"/>
              </a:rPr>
              <a:t>去除这些低权重的交互</a:t>
            </a:r>
            <a:r>
              <a:rPr lang="zh-CN" altLang="en-US" b="0" i="0" dirty="0">
                <a:solidFill>
                  <a:srgbClr val="060A26"/>
                </a:solidFill>
                <a:effectLst/>
                <a:latin typeface="PingFang SC"/>
              </a:rPr>
              <a:t>，只保留高质量的行为。</a:t>
            </a:r>
          </a:p>
          <a:p>
            <a:endParaRPr lang="zh-CN" altLang="en-US" dirty="0"/>
          </a:p>
        </p:txBody>
      </p:sp>
      <p:sp>
        <p:nvSpPr>
          <p:cNvPr id="4" name="灯片编号占位符 3"/>
          <p:cNvSpPr>
            <a:spLocks noGrp="1"/>
          </p:cNvSpPr>
          <p:nvPr>
            <p:ph type="sldNum" sz="quarter" idx="5"/>
          </p:nvPr>
        </p:nvSpPr>
        <p:spPr/>
        <p:txBody>
          <a:bodyPr/>
          <a:lstStyle/>
          <a:p>
            <a:fld id="{FEFA68EA-72A2-4252-BA25-A6764274F607}" type="slidenum">
              <a:rPr lang="zh-CN" altLang="en-US" smtClean="0"/>
              <a:t>11</a:t>
            </a:fld>
            <a:endParaRPr lang="zh-CN" altLang="en-US"/>
          </a:p>
        </p:txBody>
      </p:sp>
    </p:spTree>
    <p:extLst>
      <p:ext uri="{BB962C8B-B14F-4D97-AF65-F5344CB8AC3E}">
        <p14:creationId xmlns:p14="http://schemas.microsoft.com/office/powerpoint/2010/main" val="37872476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060A26"/>
                </a:solidFill>
                <a:effectLst/>
                <a:latin typeface="PingFang SC"/>
              </a:rPr>
              <a:t>我们参考了 </a:t>
            </a:r>
            <a:r>
              <a:rPr lang="en-US" altLang="zh-CN" b="0" i="0" dirty="0">
                <a:solidFill>
                  <a:srgbClr val="060A26"/>
                </a:solidFill>
                <a:effectLst/>
                <a:latin typeface="PingFang SC"/>
              </a:rPr>
              <a:t>GHCF </a:t>
            </a:r>
            <a:r>
              <a:rPr lang="zh-CN" altLang="en-US" b="0" i="0" dirty="0">
                <a:solidFill>
                  <a:srgbClr val="060A26"/>
                </a:solidFill>
                <a:effectLst/>
                <a:latin typeface="PingFang SC"/>
              </a:rPr>
              <a:t>模型，因为它能够很好地建模不同行为类型之间的关系。</a:t>
            </a:r>
          </a:p>
          <a:p>
            <a:pPr algn="l"/>
            <a:r>
              <a:rPr lang="zh-CN" altLang="en-US" b="0" i="0" dirty="0">
                <a:solidFill>
                  <a:srgbClr val="060A26"/>
                </a:solidFill>
                <a:effectLst/>
                <a:latin typeface="PingFang SC"/>
              </a:rPr>
              <a:t>具体来说：</a:t>
            </a:r>
          </a:p>
          <a:p>
            <a:pPr algn="l">
              <a:buFont typeface="Arial" panose="020B0604020202020204" pitchFamily="34" charset="0"/>
              <a:buChar char="•"/>
            </a:pPr>
            <a:r>
              <a:rPr lang="zh-CN" altLang="en-US" b="0" i="0" dirty="0">
                <a:solidFill>
                  <a:srgbClr val="060A26"/>
                </a:solidFill>
                <a:effectLst/>
                <a:latin typeface="PingFang SC"/>
              </a:rPr>
              <a:t>通过 </a:t>
            </a:r>
            <a:r>
              <a:rPr lang="en-US" altLang="zh-CN" b="0" i="0" dirty="0">
                <a:solidFill>
                  <a:srgbClr val="060A26"/>
                </a:solidFill>
                <a:effectLst/>
                <a:latin typeface="PingFang SC"/>
              </a:rPr>
              <a:t>GHCF</a:t>
            </a:r>
            <a:r>
              <a:rPr lang="zh-CN" altLang="en-US" b="0" i="0" dirty="0">
                <a:solidFill>
                  <a:srgbClr val="060A26"/>
                </a:solidFill>
                <a:effectLst/>
                <a:latin typeface="PingFang SC"/>
              </a:rPr>
              <a:t>，我们可以分别得到用户的嵌入表示、物品的嵌入表示，以及每种行为类型的嵌入表示；</a:t>
            </a:r>
          </a:p>
          <a:p>
            <a:pPr algn="l">
              <a:buFont typeface="Arial" panose="020B0604020202020204" pitchFamily="34" charset="0"/>
              <a:buChar char="•"/>
            </a:pPr>
            <a:r>
              <a:rPr lang="zh-CN" altLang="en-US" b="0" i="0" dirty="0">
                <a:solidFill>
                  <a:srgbClr val="060A26"/>
                </a:solidFill>
                <a:effectLst/>
                <a:latin typeface="PingFang SC"/>
              </a:rPr>
              <a:t>这些嵌入会在图神经网络中进行信息传播，从而捕捉用户与物品之间的复杂交互。</a:t>
            </a:r>
          </a:p>
          <a:p>
            <a:pPr algn="l"/>
            <a:r>
              <a:rPr lang="zh-CN" altLang="en-US" b="0" i="0" dirty="0">
                <a:solidFill>
                  <a:srgbClr val="060A26"/>
                </a:solidFill>
                <a:effectLst/>
                <a:latin typeface="PingFang SC"/>
              </a:rPr>
              <a:t>在消息传递过程中，我们采用如下公式：</a:t>
            </a:r>
          </a:p>
          <a:p>
            <a:pPr algn="l">
              <a:buFont typeface="Arial" panose="020B0604020202020204" pitchFamily="34" charset="0"/>
              <a:buChar char="•"/>
            </a:pPr>
            <a:r>
              <a:rPr lang="zh-CN" altLang="en-US" b="0" i="0" dirty="0">
                <a:solidFill>
                  <a:srgbClr val="060A26"/>
                </a:solidFill>
                <a:effectLst/>
                <a:latin typeface="PingFang SC"/>
              </a:rPr>
              <a:t>对于每个用户 </a:t>
            </a:r>
            <a:r>
              <a:rPr lang="en-US" altLang="zh-CN" b="0" i="0" dirty="0" err="1">
                <a:solidFill>
                  <a:srgbClr val="060A26"/>
                </a:solidFill>
                <a:effectLst/>
                <a:latin typeface="KaTeX_Main"/>
              </a:rPr>
              <a:t>u</a:t>
            </a:r>
            <a:r>
              <a:rPr lang="en-US" altLang="zh-CN" b="0" i="1" dirty="0" err="1">
                <a:solidFill>
                  <a:srgbClr val="060A26"/>
                </a:solidFill>
                <a:effectLst/>
                <a:latin typeface="KaTeX_Math"/>
              </a:rPr>
              <a:t>u</a:t>
            </a:r>
            <a:r>
              <a:rPr lang="zh-CN" altLang="en-US" b="0" i="0" dirty="0">
                <a:solidFill>
                  <a:srgbClr val="060A26"/>
                </a:solidFill>
                <a:effectLst/>
                <a:latin typeface="PingFang SC"/>
              </a:rPr>
              <a:t> 和行为类型 </a:t>
            </a:r>
            <a:r>
              <a:rPr lang="en-US" altLang="zh-CN" b="0" i="0" dirty="0">
                <a:solidFill>
                  <a:srgbClr val="060A26"/>
                </a:solidFill>
                <a:effectLst/>
                <a:latin typeface="KaTeX_Main"/>
              </a:rPr>
              <a:t>k</a:t>
            </a:r>
            <a:r>
              <a:rPr lang="en-US" altLang="zh-CN" b="0" i="1" dirty="0">
                <a:solidFill>
                  <a:srgbClr val="060A26"/>
                </a:solidFill>
                <a:effectLst/>
                <a:latin typeface="KaTeX_Math"/>
              </a:rPr>
              <a:t>k</a:t>
            </a:r>
            <a:r>
              <a:rPr lang="zh-CN" altLang="en-US" b="0" i="0" dirty="0">
                <a:solidFill>
                  <a:srgbClr val="060A26"/>
                </a:solidFill>
                <a:effectLst/>
                <a:latin typeface="PingFang SC"/>
              </a:rPr>
              <a:t> ，我们聚合其邻居物品的信息；</a:t>
            </a:r>
          </a:p>
          <a:p>
            <a:pPr algn="l">
              <a:buFont typeface="Arial" panose="020B0604020202020204" pitchFamily="34" charset="0"/>
              <a:buChar char="•"/>
            </a:pPr>
            <a:r>
              <a:rPr lang="zh-CN" altLang="en-US" b="0" i="0" dirty="0">
                <a:solidFill>
                  <a:srgbClr val="060A26"/>
                </a:solidFill>
                <a:effectLst/>
                <a:latin typeface="PingFang SC"/>
              </a:rPr>
              <a:t>其中 </a:t>
            </a:r>
            <a:r>
              <a:rPr lang="en-US" altLang="zh-CN" b="0" i="0" dirty="0" err="1">
                <a:solidFill>
                  <a:srgbClr val="060A26"/>
                </a:solidFill>
                <a:effectLst/>
                <a:latin typeface="KaTeX_Main"/>
              </a:rPr>
              <a:t>ei,k</a:t>
            </a:r>
            <a:r>
              <a:rPr lang="en-US" altLang="zh-CN" b="0" i="0" dirty="0">
                <a:solidFill>
                  <a:srgbClr val="060A26"/>
                </a:solidFill>
                <a:effectLst/>
                <a:latin typeface="KaTeX_Main"/>
              </a:rPr>
              <a:t>(l)</a:t>
            </a:r>
            <a:r>
              <a:rPr lang="en-US" altLang="zh-CN" b="1" i="0" dirty="0" err="1">
                <a:solidFill>
                  <a:srgbClr val="060A26"/>
                </a:solidFill>
                <a:effectLst/>
                <a:latin typeface="KaTeX_Main"/>
              </a:rPr>
              <a:t>e</a:t>
            </a:r>
            <a:r>
              <a:rPr lang="en-US" altLang="zh-CN" b="0" i="1" dirty="0" err="1">
                <a:solidFill>
                  <a:srgbClr val="060A26"/>
                </a:solidFill>
                <a:effectLst/>
                <a:latin typeface="KaTeX_Math"/>
              </a:rPr>
              <a:t>i</a:t>
            </a:r>
            <a:r>
              <a:rPr lang="en-US" altLang="zh-CN" b="0" i="0" dirty="0" err="1">
                <a:solidFill>
                  <a:srgbClr val="060A26"/>
                </a:solidFill>
                <a:effectLst/>
                <a:latin typeface="KaTeX_Main"/>
              </a:rPr>
              <a:t>,</a:t>
            </a:r>
            <a:r>
              <a:rPr lang="en-US" altLang="zh-CN" b="0" i="1" dirty="0" err="1">
                <a:solidFill>
                  <a:srgbClr val="060A26"/>
                </a:solidFill>
                <a:effectLst/>
                <a:latin typeface="KaTeX_Math"/>
              </a:rPr>
              <a:t>k</a:t>
            </a:r>
            <a:r>
              <a:rPr lang="en-US" altLang="zh-CN" b="0" i="0" dirty="0">
                <a:solidFill>
                  <a:srgbClr val="060A26"/>
                </a:solidFill>
                <a:effectLst/>
                <a:latin typeface="KaTeX_Main"/>
              </a:rPr>
              <a:t>(</a:t>
            </a:r>
            <a:r>
              <a:rPr lang="en-US" altLang="zh-CN" b="0" i="1" dirty="0">
                <a:solidFill>
                  <a:srgbClr val="060A26"/>
                </a:solidFill>
                <a:effectLst/>
                <a:latin typeface="KaTeX_Math"/>
              </a:rPr>
              <a:t>l</a:t>
            </a:r>
            <a:r>
              <a:rPr lang="en-US" altLang="zh-CN" b="0" i="0" dirty="0">
                <a:solidFill>
                  <a:srgbClr val="060A26"/>
                </a:solidFill>
                <a:effectLst/>
                <a:latin typeface="KaTeX_Main"/>
              </a:rPr>
              <a:t>)​</a:t>
            </a:r>
            <a:r>
              <a:rPr lang="zh-CN" altLang="en-US" b="0" i="0" dirty="0">
                <a:solidFill>
                  <a:srgbClr val="060A26"/>
                </a:solidFill>
                <a:effectLst/>
                <a:latin typeface="PingFang SC"/>
              </a:rPr>
              <a:t> 是物品在第 </a:t>
            </a:r>
            <a:r>
              <a:rPr lang="en-US" altLang="zh-CN" b="0" i="0" dirty="0" err="1">
                <a:solidFill>
                  <a:srgbClr val="060A26"/>
                </a:solidFill>
                <a:effectLst/>
                <a:latin typeface="KaTeX_Main"/>
              </a:rPr>
              <a:t>l</a:t>
            </a:r>
            <a:r>
              <a:rPr lang="en-US" altLang="zh-CN" b="0" i="1" dirty="0" err="1">
                <a:solidFill>
                  <a:srgbClr val="060A26"/>
                </a:solidFill>
                <a:effectLst/>
                <a:latin typeface="KaTeX_Math"/>
              </a:rPr>
              <a:t>l</a:t>
            </a:r>
            <a:r>
              <a:rPr lang="zh-CN" altLang="en-US" b="0" i="0" dirty="0">
                <a:solidFill>
                  <a:srgbClr val="060A26"/>
                </a:solidFill>
                <a:effectLst/>
                <a:latin typeface="PingFang SC"/>
              </a:rPr>
              <a:t> 层的行为嵌入， </a:t>
            </a:r>
            <a:r>
              <a:rPr lang="en-US" altLang="zh-CN" b="0" i="0" dirty="0" err="1">
                <a:solidFill>
                  <a:srgbClr val="060A26"/>
                </a:solidFill>
                <a:effectLst/>
                <a:latin typeface="KaTeX_Main"/>
              </a:rPr>
              <a:t>ek</a:t>
            </a:r>
            <a:r>
              <a:rPr lang="en-US" altLang="zh-CN" b="0" i="0" dirty="0">
                <a:solidFill>
                  <a:srgbClr val="060A26"/>
                </a:solidFill>
                <a:effectLst/>
                <a:latin typeface="KaTeX_Main"/>
              </a:rPr>
              <a:t>(l)</a:t>
            </a:r>
            <a:r>
              <a:rPr lang="en-US" altLang="zh-CN" b="1" i="0" dirty="0" err="1">
                <a:solidFill>
                  <a:srgbClr val="060A26"/>
                </a:solidFill>
                <a:effectLst/>
                <a:latin typeface="KaTeX_Main"/>
              </a:rPr>
              <a:t>e</a:t>
            </a:r>
            <a:r>
              <a:rPr lang="en-US" altLang="zh-CN" b="0" i="1" dirty="0" err="1">
                <a:solidFill>
                  <a:srgbClr val="060A26"/>
                </a:solidFill>
                <a:effectLst/>
                <a:latin typeface="KaTeX_Math"/>
              </a:rPr>
              <a:t>k</a:t>
            </a:r>
            <a:r>
              <a:rPr lang="en-US" altLang="zh-CN" b="0" i="0" dirty="0">
                <a:solidFill>
                  <a:srgbClr val="060A26"/>
                </a:solidFill>
                <a:effectLst/>
                <a:latin typeface="KaTeX_Main"/>
              </a:rPr>
              <a:t>(</a:t>
            </a:r>
            <a:r>
              <a:rPr lang="en-US" altLang="zh-CN" b="0" i="1" dirty="0">
                <a:solidFill>
                  <a:srgbClr val="060A26"/>
                </a:solidFill>
                <a:effectLst/>
                <a:latin typeface="KaTeX_Math"/>
              </a:rPr>
              <a:t>l</a:t>
            </a:r>
            <a:r>
              <a:rPr lang="en-US" altLang="zh-CN" b="0" i="0" dirty="0">
                <a:solidFill>
                  <a:srgbClr val="060A26"/>
                </a:solidFill>
                <a:effectLst/>
                <a:latin typeface="KaTeX_Main"/>
              </a:rPr>
              <a:t>)​</a:t>
            </a:r>
            <a:r>
              <a:rPr lang="zh-CN" altLang="en-US" b="0" i="0" dirty="0">
                <a:solidFill>
                  <a:srgbClr val="060A26"/>
                </a:solidFill>
                <a:effectLst/>
                <a:latin typeface="PingFang SC"/>
              </a:rPr>
              <a:t> 是行为本身的嵌入；</a:t>
            </a:r>
          </a:p>
          <a:p>
            <a:pPr algn="l">
              <a:buFont typeface="Arial" panose="020B0604020202020204" pitchFamily="34" charset="0"/>
              <a:buChar char="•"/>
            </a:pPr>
            <a:r>
              <a:rPr lang="zh-CN" altLang="en-US" b="0" i="0" dirty="0">
                <a:solidFill>
                  <a:srgbClr val="060A26"/>
                </a:solidFill>
                <a:effectLst/>
                <a:latin typeface="PingFang SC"/>
              </a:rPr>
              <a:t>两者做 </a:t>
            </a:r>
            <a:r>
              <a:rPr lang="en-US" altLang="zh-CN" b="0" i="0" dirty="0">
                <a:solidFill>
                  <a:srgbClr val="060A26"/>
                </a:solidFill>
                <a:effectLst/>
                <a:latin typeface="PingFang SC"/>
              </a:rPr>
              <a:t>Hadamard </a:t>
            </a:r>
            <a:r>
              <a:rPr lang="zh-CN" altLang="en-US" b="0" i="0" dirty="0">
                <a:solidFill>
                  <a:srgbClr val="060A26"/>
                </a:solidFill>
                <a:effectLst/>
                <a:latin typeface="PingFang SC"/>
              </a:rPr>
              <a:t>积（逐元素相乘），再取均值，最后经过线性变换和激活函数更新节点表示。</a:t>
            </a:r>
          </a:p>
          <a:p>
            <a:pPr algn="l"/>
            <a:r>
              <a:rPr lang="zh-CN" altLang="en-US" b="0" i="0" dirty="0">
                <a:solidFill>
                  <a:srgbClr val="060A26"/>
                </a:solidFill>
                <a:effectLst/>
                <a:latin typeface="PingFang SC"/>
              </a:rPr>
              <a:t>这样，模型就能同时学习到用户兴趣、物品特征以及行为模式之间的关联。</a:t>
            </a:r>
          </a:p>
          <a:p>
            <a:endParaRPr lang="zh-CN" altLang="en-US" dirty="0"/>
          </a:p>
        </p:txBody>
      </p:sp>
      <p:sp>
        <p:nvSpPr>
          <p:cNvPr id="4" name="灯片编号占位符 3"/>
          <p:cNvSpPr>
            <a:spLocks noGrp="1"/>
          </p:cNvSpPr>
          <p:nvPr>
            <p:ph type="sldNum" sz="quarter" idx="5"/>
          </p:nvPr>
        </p:nvSpPr>
        <p:spPr/>
        <p:txBody>
          <a:bodyPr/>
          <a:lstStyle/>
          <a:p>
            <a:fld id="{FEFA68EA-72A2-4252-BA25-A6764274F607}" type="slidenum">
              <a:rPr lang="zh-CN" altLang="en-US" smtClean="0"/>
              <a:t>12</a:t>
            </a:fld>
            <a:endParaRPr lang="zh-CN" altLang="en-US"/>
          </a:p>
        </p:txBody>
      </p:sp>
    </p:spTree>
    <p:extLst>
      <p:ext uri="{BB962C8B-B14F-4D97-AF65-F5344CB8AC3E}">
        <p14:creationId xmlns:p14="http://schemas.microsoft.com/office/powerpoint/2010/main" val="16102953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060A26"/>
                </a:solidFill>
                <a:effectLst/>
                <a:latin typeface="PingFang SC"/>
              </a:rPr>
              <a:t>我们发现：虽然购买是目标行为，但很多高价值的辅助行为（比如加购、收藏）其实也反映了用户的潜在偏好。</a:t>
            </a:r>
            <a:br>
              <a:rPr lang="zh-CN" altLang="en-US" b="0" i="0" dirty="0">
                <a:solidFill>
                  <a:srgbClr val="060A26"/>
                </a:solidFill>
                <a:effectLst/>
                <a:latin typeface="PingFang SC"/>
              </a:rPr>
            </a:br>
            <a:r>
              <a:rPr lang="zh-CN" altLang="en-US" b="0" i="0" dirty="0">
                <a:solidFill>
                  <a:srgbClr val="060A26"/>
                </a:solidFill>
                <a:effectLst/>
                <a:latin typeface="PingFang SC"/>
              </a:rPr>
              <a:t>因此，我们提出将这些</a:t>
            </a:r>
            <a:r>
              <a:rPr lang="zh-CN" altLang="en-US" b="1" i="0" dirty="0">
                <a:solidFill>
                  <a:srgbClr val="060A26"/>
                </a:solidFill>
                <a:effectLst/>
                <a:latin typeface="PingFang SC"/>
              </a:rPr>
              <a:t>高权重的辅助行为</a:t>
            </a:r>
            <a:r>
              <a:rPr lang="zh-CN" altLang="en-US" b="0" i="0" dirty="0">
                <a:solidFill>
                  <a:srgbClr val="060A26"/>
                </a:solidFill>
                <a:effectLst/>
                <a:latin typeface="PingFang SC"/>
              </a:rPr>
              <a:t>用于增强目标行为的学习。</a:t>
            </a:r>
          </a:p>
          <a:p>
            <a:pPr algn="l"/>
            <a:r>
              <a:rPr lang="zh-CN" altLang="en-US" b="0" i="0" dirty="0">
                <a:solidFill>
                  <a:srgbClr val="060A26"/>
                </a:solidFill>
                <a:effectLst/>
                <a:latin typeface="PingFang SC"/>
              </a:rPr>
              <a:t>具体做法如下：</a:t>
            </a:r>
          </a:p>
          <a:p>
            <a:pPr algn="l">
              <a:buFont typeface="Arial" panose="020B0604020202020204" pitchFamily="34" charset="0"/>
              <a:buChar char="•"/>
            </a:pPr>
            <a:r>
              <a:rPr lang="zh-CN" altLang="en-US" b="0" i="0" dirty="0">
                <a:solidFill>
                  <a:srgbClr val="060A26"/>
                </a:solidFill>
                <a:effectLst/>
                <a:latin typeface="PingFang SC"/>
              </a:rPr>
              <a:t>首先，我们将那些经过加权后得分较高的辅助行为交互（比如被多人共同点击的商品）加入到原始的目标行为图中；</a:t>
            </a:r>
          </a:p>
          <a:p>
            <a:pPr algn="l">
              <a:buFont typeface="Arial" panose="020B0604020202020204" pitchFamily="34" charset="0"/>
              <a:buChar char="•"/>
            </a:pPr>
            <a:r>
              <a:rPr lang="zh-CN" altLang="en-US" b="0" i="0" dirty="0">
                <a:solidFill>
                  <a:srgbClr val="060A26"/>
                </a:solidFill>
                <a:effectLst/>
                <a:latin typeface="PingFang SC"/>
              </a:rPr>
              <a:t>这样就生成了一个目标行为增强图 </a:t>
            </a:r>
            <a:r>
              <a:rPr lang="en-US" altLang="zh-CN" b="0" i="0" dirty="0" err="1">
                <a:solidFill>
                  <a:srgbClr val="060A26"/>
                </a:solidFill>
                <a:effectLst/>
                <a:latin typeface="KaTeX_Main"/>
              </a:rPr>
              <a:t>GRaug</a:t>
            </a:r>
            <a:r>
              <a:rPr lang="en-US" altLang="zh-CN" b="0" i="1" dirty="0" err="1">
                <a:solidFill>
                  <a:srgbClr val="060A26"/>
                </a:solidFill>
                <a:effectLst/>
                <a:latin typeface="KaTeX_Math"/>
              </a:rPr>
              <a:t>GRaug</a:t>
            </a:r>
            <a:r>
              <a:rPr lang="zh-CN" altLang="en-US" b="0" i="0" dirty="0">
                <a:solidFill>
                  <a:srgbClr val="060A26"/>
                </a:solidFill>
                <a:effectLst/>
                <a:latin typeface="KaTeX_Main"/>
              </a:rPr>
              <a:t>​</a:t>
            </a:r>
            <a:r>
              <a:rPr lang="zh-CN" altLang="en-US" b="0" i="0" dirty="0">
                <a:solidFill>
                  <a:srgbClr val="060A26"/>
                </a:solidFill>
                <a:effectLst/>
                <a:latin typeface="PingFang SC"/>
              </a:rPr>
              <a:t> ，如右图所示。</a:t>
            </a:r>
          </a:p>
          <a:p>
            <a:pPr algn="l"/>
            <a:r>
              <a:rPr lang="zh-CN" altLang="en-US" b="0" i="0" dirty="0">
                <a:solidFill>
                  <a:srgbClr val="060A26"/>
                </a:solidFill>
                <a:effectLst/>
                <a:latin typeface="PingFang SC"/>
              </a:rPr>
              <a:t>然后，我们利用</a:t>
            </a:r>
            <a:r>
              <a:rPr lang="zh-CN" altLang="en-US" b="1" i="0" dirty="0">
                <a:solidFill>
                  <a:srgbClr val="060A26"/>
                </a:solidFill>
                <a:effectLst/>
                <a:latin typeface="PingFang SC"/>
              </a:rPr>
              <a:t>对比学习</a:t>
            </a:r>
            <a:r>
              <a:rPr lang="zh-CN" altLang="en-US" b="0" i="0" dirty="0">
                <a:solidFill>
                  <a:srgbClr val="060A26"/>
                </a:solidFill>
                <a:effectLst/>
                <a:latin typeface="PingFang SC"/>
              </a:rPr>
              <a:t>来训练模型：</a:t>
            </a:r>
          </a:p>
          <a:p>
            <a:pPr algn="l">
              <a:buFont typeface="Arial" panose="020B0604020202020204" pitchFamily="34" charset="0"/>
              <a:buChar char="•"/>
            </a:pPr>
            <a:r>
              <a:rPr lang="zh-CN" altLang="en-US" b="0" i="0" dirty="0">
                <a:solidFill>
                  <a:srgbClr val="060A26"/>
                </a:solidFill>
                <a:effectLst/>
                <a:latin typeface="PingFang SC"/>
              </a:rPr>
              <a:t>将原始目标行为图 </a:t>
            </a:r>
            <a:r>
              <a:rPr lang="en-US" altLang="zh-CN" b="0" i="0" dirty="0" err="1">
                <a:solidFill>
                  <a:srgbClr val="060A26"/>
                </a:solidFill>
                <a:effectLst/>
                <a:latin typeface="KaTeX_Main"/>
              </a:rPr>
              <a:t>GRb</a:t>
            </a:r>
            <a:r>
              <a:rPr lang="en-US" altLang="zh-CN" b="0" i="1" dirty="0" err="1">
                <a:solidFill>
                  <a:srgbClr val="060A26"/>
                </a:solidFill>
                <a:effectLst/>
                <a:latin typeface="KaTeX_Math"/>
              </a:rPr>
              <a:t>GRb</a:t>
            </a:r>
            <a:r>
              <a:rPr lang="zh-CN" altLang="en-US" b="0" i="0" dirty="0">
                <a:solidFill>
                  <a:srgbClr val="060A26"/>
                </a:solidFill>
                <a:effectLst/>
                <a:latin typeface="KaTeX_Main"/>
              </a:rPr>
              <a:t>​</a:t>
            </a:r>
            <a:r>
              <a:rPr lang="zh-CN" altLang="en-US" b="0" i="0" dirty="0">
                <a:solidFill>
                  <a:srgbClr val="060A26"/>
                </a:solidFill>
                <a:effectLst/>
                <a:latin typeface="PingFang SC"/>
              </a:rPr>
              <a:t> 和增强图 </a:t>
            </a:r>
            <a:r>
              <a:rPr lang="en-US" altLang="zh-CN" b="0" i="0" dirty="0" err="1">
                <a:solidFill>
                  <a:srgbClr val="060A26"/>
                </a:solidFill>
                <a:effectLst/>
                <a:latin typeface="KaTeX_Main"/>
              </a:rPr>
              <a:t>GRaug</a:t>
            </a:r>
            <a:r>
              <a:rPr lang="en-US" altLang="zh-CN" b="0" i="1" dirty="0" err="1">
                <a:solidFill>
                  <a:srgbClr val="060A26"/>
                </a:solidFill>
                <a:effectLst/>
                <a:latin typeface="KaTeX_Math"/>
              </a:rPr>
              <a:t>GRaug</a:t>
            </a:r>
            <a:r>
              <a:rPr lang="zh-CN" altLang="en-US" b="0" i="0" dirty="0">
                <a:solidFill>
                  <a:srgbClr val="060A26"/>
                </a:solidFill>
                <a:effectLst/>
                <a:latin typeface="KaTeX_Main"/>
              </a:rPr>
              <a:t>​</a:t>
            </a:r>
            <a:r>
              <a:rPr lang="zh-CN" altLang="en-US" b="0" i="0" dirty="0">
                <a:solidFill>
                  <a:srgbClr val="060A26"/>
                </a:solidFill>
                <a:effectLst/>
                <a:latin typeface="PingFang SC"/>
              </a:rPr>
              <a:t> 作为一对正样本；</a:t>
            </a:r>
          </a:p>
          <a:p>
            <a:pPr algn="l">
              <a:buFont typeface="Arial" panose="020B0604020202020204" pitchFamily="34" charset="0"/>
              <a:buChar char="•"/>
            </a:pPr>
            <a:r>
              <a:rPr lang="zh-CN" altLang="en-US" b="0" i="0" dirty="0">
                <a:solidFill>
                  <a:srgbClr val="060A26"/>
                </a:solidFill>
                <a:effectLst/>
                <a:latin typeface="PingFang SC"/>
              </a:rPr>
              <a:t>让模型学会拉近同一用户或物品在两个图中的嵌入表示；</a:t>
            </a:r>
          </a:p>
          <a:p>
            <a:pPr algn="l">
              <a:buFont typeface="Arial" panose="020B0604020202020204" pitchFamily="34" charset="0"/>
              <a:buChar char="•"/>
            </a:pPr>
            <a:r>
              <a:rPr lang="zh-CN" altLang="en-US" b="0" i="0" dirty="0">
                <a:solidFill>
                  <a:srgbClr val="060A26"/>
                </a:solidFill>
                <a:effectLst/>
                <a:latin typeface="PingFang SC"/>
              </a:rPr>
              <a:t>同时，推开不同用户或物品之间的嵌入。</a:t>
            </a:r>
          </a:p>
          <a:p>
            <a:pPr algn="l"/>
            <a:r>
              <a:rPr lang="zh-CN" altLang="en-US" b="0" i="0" dirty="0">
                <a:solidFill>
                  <a:srgbClr val="060A26"/>
                </a:solidFill>
                <a:effectLst/>
                <a:latin typeface="PingFang SC"/>
              </a:rPr>
              <a:t>这样，模型就能在无标签的情况下，从数据本身挖掘出更一致、更鲁棒的兴趣表示。</a:t>
            </a:r>
          </a:p>
          <a:p>
            <a:endParaRPr lang="zh-CN" altLang="en-US" dirty="0"/>
          </a:p>
        </p:txBody>
      </p:sp>
      <p:sp>
        <p:nvSpPr>
          <p:cNvPr id="4" name="灯片编号占位符 3"/>
          <p:cNvSpPr>
            <a:spLocks noGrp="1"/>
          </p:cNvSpPr>
          <p:nvPr>
            <p:ph type="sldNum" sz="quarter" idx="5"/>
          </p:nvPr>
        </p:nvSpPr>
        <p:spPr/>
        <p:txBody>
          <a:bodyPr/>
          <a:lstStyle/>
          <a:p>
            <a:fld id="{FEFA68EA-72A2-4252-BA25-A6764274F607}" type="slidenum">
              <a:rPr lang="zh-CN" altLang="en-US" smtClean="0"/>
              <a:t>13</a:t>
            </a:fld>
            <a:endParaRPr lang="zh-CN" altLang="en-US"/>
          </a:p>
        </p:txBody>
      </p:sp>
    </p:spTree>
    <p:extLst>
      <p:ext uri="{BB962C8B-B14F-4D97-AF65-F5344CB8AC3E}">
        <p14:creationId xmlns:p14="http://schemas.microsoft.com/office/powerpoint/2010/main" val="42447430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060A26"/>
                </a:solidFill>
                <a:effectLst/>
                <a:latin typeface="PingFang SC"/>
              </a:rPr>
              <a:t>我们发现：如果两个用户有相似的交互行为，比如都点击了同一批商品，那么他们很可能具有相似的兴趣偏好。</a:t>
            </a:r>
          </a:p>
          <a:p>
            <a:pPr algn="l"/>
            <a:r>
              <a:rPr lang="zh-CN" altLang="en-US" b="0" i="0" dirty="0">
                <a:solidFill>
                  <a:srgbClr val="060A26"/>
                </a:solidFill>
                <a:effectLst/>
                <a:latin typeface="PingFang SC"/>
              </a:rPr>
              <a:t>因此，我们的思路是：</a:t>
            </a:r>
          </a:p>
          <a:p>
            <a:pPr algn="l">
              <a:buFont typeface="Arial" panose="020B0604020202020204" pitchFamily="34" charset="0"/>
              <a:buChar char="•"/>
            </a:pPr>
            <a:r>
              <a:rPr lang="zh-CN" altLang="en-US" b="0" i="0" dirty="0">
                <a:solidFill>
                  <a:srgbClr val="060A26"/>
                </a:solidFill>
                <a:effectLst/>
                <a:latin typeface="PingFang SC"/>
              </a:rPr>
              <a:t>对于每个用户，我们找到与他交互模式相似的其他用户；</a:t>
            </a:r>
          </a:p>
          <a:p>
            <a:pPr algn="l">
              <a:buFont typeface="Arial" panose="020B0604020202020204" pitchFamily="34" charset="0"/>
              <a:buChar char="•"/>
            </a:pPr>
            <a:r>
              <a:rPr lang="zh-CN" altLang="en-US" b="0" i="0" dirty="0">
                <a:solidFill>
                  <a:srgbClr val="060A26"/>
                </a:solidFill>
                <a:effectLst/>
                <a:latin typeface="PingFang SC"/>
              </a:rPr>
              <a:t>然后，我们将这些相似用户的嵌入作为正样本，进行对比学习；</a:t>
            </a:r>
          </a:p>
          <a:p>
            <a:pPr algn="l">
              <a:buFont typeface="Arial" panose="020B0604020202020204" pitchFamily="34" charset="0"/>
              <a:buChar char="•"/>
            </a:pPr>
            <a:r>
              <a:rPr lang="zh-CN" altLang="en-US" b="0" i="0" dirty="0">
                <a:solidFill>
                  <a:srgbClr val="060A26"/>
                </a:solidFill>
                <a:effectLst/>
                <a:latin typeface="PingFang SC"/>
              </a:rPr>
              <a:t>让模型学会拉近相似用户之间的嵌入表示，同时推开不相似用户的嵌入。</a:t>
            </a:r>
          </a:p>
          <a:p>
            <a:r>
              <a:rPr lang="zh-CN" altLang="en-US" b="0" i="0" dirty="0">
                <a:solidFill>
                  <a:srgbClr val="060A26"/>
                </a:solidFill>
                <a:effectLst/>
                <a:latin typeface="PingFang SC"/>
              </a:rPr>
              <a:t>这个设计的关键在于：</a:t>
            </a:r>
            <a:r>
              <a:rPr lang="zh-CN" altLang="en-US" b="1" i="0" dirty="0">
                <a:solidFill>
                  <a:srgbClr val="060A26"/>
                </a:solidFill>
                <a:effectLst/>
                <a:latin typeface="PingFang SC"/>
              </a:rPr>
              <a:t>用群体行为一致性来增强个体表示</a:t>
            </a:r>
            <a:r>
              <a:rPr lang="zh-CN" altLang="en-US" b="0" i="0" dirty="0">
                <a:solidFill>
                  <a:srgbClr val="060A26"/>
                </a:solidFill>
                <a:effectLst/>
                <a:latin typeface="PingFang SC"/>
              </a:rPr>
              <a:t>，实现了从“个体经验”到“群体共识”的迁移。</a:t>
            </a:r>
            <a:endParaRPr lang="zh-CN" altLang="en-US" dirty="0"/>
          </a:p>
        </p:txBody>
      </p:sp>
      <p:sp>
        <p:nvSpPr>
          <p:cNvPr id="4" name="灯片编号占位符 3"/>
          <p:cNvSpPr>
            <a:spLocks noGrp="1"/>
          </p:cNvSpPr>
          <p:nvPr>
            <p:ph type="sldNum" sz="quarter" idx="5"/>
          </p:nvPr>
        </p:nvSpPr>
        <p:spPr/>
        <p:txBody>
          <a:bodyPr/>
          <a:lstStyle/>
          <a:p>
            <a:fld id="{FEFA68EA-72A2-4252-BA25-A6764274F607}" type="slidenum">
              <a:rPr lang="zh-CN" altLang="en-US" smtClean="0"/>
              <a:t>14</a:t>
            </a:fld>
            <a:endParaRPr lang="zh-CN" altLang="en-US"/>
          </a:p>
        </p:txBody>
      </p:sp>
    </p:spTree>
    <p:extLst>
      <p:ext uri="{BB962C8B-B14F-4D97-AF65-F5344CB8AC3E}">
        <p14:creationId xmlns:p14="http://schemas.microsoft.com/office/powerpoint/2010/main" val="31642249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FA68EA-72A2-4252-BA25-A6764274F607}" type="slidenum">
              <a:rPr lang="zh-CN" altLang="en-US" smtClean="0"/>
              <a:t>15</a:t>
            </a:fld>
            <a:endParaRPr lang="zh-CN" altLang="en-US"/>
          </a:p>
        </p:txBody>
      </p:sp>
    </p:spTree>
    <p:extLst>
      <p:ext uri="{BB962C8B-B14F-4D97-AF65-F5344CB8AC3E}">
        <p14:creationId xmlns:p14="http://schemas.microsoft.com/office/powerpoint/2010/main" val="38831968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162CF86-A8DC-4C51-AEB7-2EC7F2D5E7D1}" type="slidenum">
              <a:rPr lang="zh-CN" altLang="en-US" smtClean="0"/>
              <a:t>17</a:t>
            </a:fld>
            <a:endParaRPr lang="zh-CN" altLang="en-US"/>
          </a:p>
        </p:txBody>
      </p:sp>
    </p:spTree>
    <p:extLst>
      <p:ext uri="{BB962C8B-B14F-4D97-AF65-F5344CB8AC3E}">
        <p14:creationId xmlns:p14="http://schemas.microsoft.com/office/powerpoint/2010/main" val="6941679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060A26"/>
                </a:solidFill>
                <a:effectLst/>
                <a:latin typeface="PingFang SC"/>
              </a:rPr>
              <a:t>接下来我介绍本研究的</a:t>
            </a:r>
            <a:r>
              <a:rPr lang="zh-CN" altLang="en-US" b="1" i="0" dirty="0">
                <a:solidFill>
                  <a:srgbClr val="060A26"/>
                </a:solidFill>
                <a:effectLst/>
                <a:latin typeface="PingFang SC"/>
              </a:rPr>
              <a:t>第二阶段工作</a:t>
            </a:r>
            <a:r>
              <a:rPr lang="en-US" altLang="zh-CN" b="0" i="0" dirty="0">
                <a:solidFill>
                  <a:srgbClr val="060A26"/>
                </a:solidFill>
                <a:effectLst/>
                <a:latin typeface="PingFang SC"/>
              </a:rPr>
              <a:t>——</a:t>
            </a:r>
            <a:r>
              <a:rPr lang="zh-CN" altLang="en-US" b="1" i="0" dirty="0">
                <a:solidFill>
                  <a:srgbClr val="060A26"/>
                </a:solidFill>
                <a:effectLst/>
                <a:latin typeface="PingFang SC"/>
              </a:rPr>
              <a:t>噪声感知与偏好提取的多模态多行为推荐方法</a:t>
            </a:r>
            <a:r>
              <a:rPr lang="zh-CN" altLang="en-US" b="0" i="0" dirty="0">
                <a:solidFill>
                  <a:srgbClr val="060A26"/>
                </a:solidFill>
                <a:effectLst/>
                <a:latin typeface="PingFang SC"/>
              </a:rPr>
              <a:t>。</a:t>
            </a:r>
          </a:p>
          <a:p>
            <a:pPr algn="l"/>
            <a:r>
              <a:rPr lang="zh-CN" altLang="en-US" b="0" i="0" dirty="0">
                <a:solidFill>
                  <a:srgbClr val="060A26"/>
                </a:solidFill>
                <a:effectLst/>
                <a:latin typeface="PingFang SC"/>
              </a:rPr>
              <a:t>我们发现：传统推荐主要依赖用户</a:t>
            </a:r>
            <a:r>
              <a:rPr lang="en-US" altLang="zh-CN" b="0" i="0" dirty="0">
                <a:solidFill>
                  <a:srgbClr val="060A26"/>
                </a:solidFill>
                <a:effectLst/>
                <a:latin typeface="PingFang SC"/>
              </a:rPr>
              <a:t>-</a:t>
            </a:r>
            <a:r>
              <a:rPr lang="zh-CN" altLang="en-US" b="0" i="0" dirty="0">
                <a:solidFill>
                  <a:srgbClr val="060A26"/>
                </a:solidFill>
                <a:effectLst/>
                <a:latin typeface="PingFang SC"/>
              </a:rPr>
              <a:t>物品交互数据，忽略了商品的图像、标题、描述等多模态信息。而这些信息能够揭示不同行为之间的潜在语义关联。</a:t>
            </a:r>
          </a:p>
          <a:p>
            <a:pPr algn="l"/>
            <a:r>
              <a:rPr lang="zh-CN" altLang="en-US" b="0" i="0" dirty="0">
                <a:solidFill>
                  <a:srgbClr val="060A26"/>
                </a:solidFill>
                <a:effectLst/>
                <a:latin typeface="PingFang SC"/>
              </a:rPr>
              <a:t>因此，我们提出将</a:t>
            </a:r>
            <a:r>
              <a:rPr lang="zh-CN" altLang="en-US" b="1" i="0" dirty="0">
                <a:solidFill>
                  <a:srgbClr val="060A26"/>
                </a:solidFill>
                <a:effectLst/>
                <a:latin typeface="PingFang SC"/>
              </a:rPr>
              <a:t>大语言模型</a:t>
            </a:r>
            <a:r>
              <a:rPr lang="zh-CN" altLang="en-US" b="0" i="0" dirty="0">
                <a:solidFill>
                  <a:srgbClr val="060A26"/>
                </a:solidFill>
                <a:effectLst/>
                <a:latin typeface="PingFang SC"/>
              </a:rPr>
              <a:t>引入推荐流程，实现跨模态的信息融合。</a:t>
            </a:r>
          </a:p>
          <a:p>
            <a:pPr algn="l"/>
            <a:r>
              <a:rPr lang="zh-CN" altLang="en-US" b="0" i="0" dirty="0">
                <a:solidFill>
                  <a:srgbClr val="060A26"/>
                </a:solidFill>
                <a:effectLst/>
                <a:latin typeface="PingFang SC"/>
              </a:rPr>
              <a:t>具体流程如下：</a:t>
            </a:r>
          </a:p>
          <a:p>
            <a:pPr algn="l"/>
            <a:r>
              <a:rPr lang="zh-CN" altLang="en-US" b="0" i="0" dirty="0">
                <a:solidFill>
                  <a:srgbClr val="060A26"/>
                </a:solidFill>
                <a:effectLst/>
                <a:latin typeface="PingFang SC"/>
              </a:rPr>
              <a:t>首先，我们利用大语言模型对商品图片进行</a:t>
            </a:r>
            <a:r>
              <a:rPr lang="zh-CN" altLang="en-US" b="1" i="0" dirty="0">
                <a:solidFill>
                  <a:srgbClr val="060A26"/>
                </a:solidFill>
                <a:effectLst/>
                <a:latin typeface="PingFang SC"/>
              </a:rPr>
              <a:t>图文描述生成</a:t>
            </a:r>
            <a:r>
              <a:rPr lang="zh-CN" altLang="en-US" b="0" i="0" dirty="0">
                <a:solidFill>
                  <a:srgbClr val="060A26"/>
                </a:solidFill>
                <a:effectLst/>
                <a:latin typeface="PingFang SC"/>
              </a:rPr>
              <a:t>，比如将一张运动服图转化为“男女情侣款针织套装，运动风格，春秋装，蓝黑色”。</a:t>
            </a:r>
            <a:br>
              <a:rPr lang="zh-CN" altLang="en-US" b="0" i="0" dirty="0">
                <a:solidFill>
                  <a:srgbClr val="060A26"/>
                </a:solidFill>
                <a:effectLst/>
                <a:latin typeface="PingFang SC"/>
              </a:rPr>
            </a:br>
            <a:r>
              <a:rPr lang="zh-CN" altLang="en-US" b="0" i="0" dirty="0">
                <a:solidFill>
                  <a:srgbClr val="060A26"/>
                </a:solidFill>
                <a:effectLst/>
                <a:latin typeface="PingFang SC"/>
              </a:rPr>
              <a:t>然后，通过</a:t>
            </a:r>
            <a:r>
              <a:rPr lang="en-US" altLang="zh-CN" b="0" i="0" dirty="0">
                <a:solidFill>
                  <a:srgbClr val="060A26"/>
                </a:solidFill>
                <a:effectLst/>
                <a:latin typeface="PingFang SC"/>
              </a:rPr>
              <a:t>MLP</a:t>
            </a:r>
            <a:r>
              <a:rPr lang="zh-CN" altLang="en-US" b="0" i="0" dirty="0">
                <a:solidFill>
                  <a:srgbClr val="060A26"/>
                </a:solidFill>
                <a:effectLst/>
                <a:latin typeface="PingFang SC"/>
              </a:rPr>
              <a:t>计算该描述与用户历史喜欢的商品之间的</a:t>
            </a:r>
            <a:r>
              <a:rPr lang="zh-CN" altLang="en-US" b="1" i="0" dirty="0">
                <a:solidFill>
                  <a:srgbClr val="060A26"/>
                </a:solidFill>
                <a:effectLst/>
                <a:latin typeface="PingFang SC"/>
              </a:rPr>
              <a:t>文本相似度</a:t>
            </a:r>
            <a:r>
              <a:rPr lang="zh-CN" altLang="en-US" b="0" i="0" dirty="0">
                <a:solidFill>
                  <a:srgbClr val="060A26"/>
                </a:solidFill>
                <a:effectLst/>
                <a:latin typeface="PingFang SC"/>
              </a:rPr>
              <a:t>，构建一个</a:t>
            </a:r>
            <a:r>
              <a:rPr lang="zh-CN" altLang="en-US" b="1" i="0" dirty="0">
                <a:solidFill>
                  <a:srgbClr val="060A26"/>
                </a:solidFill>
                <a:effectLst/>
                <a:latin typeface="PingFang SC"/>
              </a:rPr>
              <a:t>模态相似图</a:t>
            </a:r>
            <a:r>
              <a:rPr lang="zh-CN" altLang="en-US" b="0" i="0" dirty="0">
                <a:solidFill>
                  <a:srgbClr val="060A26"/>
                </a:solidFill>
                <a:effectLst/>
                <a:latin typeface="PingFang SC"/>
              </a:rPr>
              <a:t>。</a:t>
            </a:r>
          </a:p>
          <a:p>
            <a:pPr algn="l"/>
            <a:r>
              <a:rPr lang="zh-CN" altLang="en-US" b="0" i="0" dirty="0">
                <a:solidFill>
                  <a:srgbClr val="060A26"/>
                </a:solidFill>
                <a:effectLst/>
                <a:latin typeface="PingFang SC"/>
              </a:rPr>
              <a:t>同时，我们也保留原始交互图和去噪后的增强交互图（来自前一阶段的方法）。</a:t>
            </a:r>
          </a:p>
          <a:p>
            <a:pPr algn="l"/>
            <a:r>
              <a:rPr lang="zh-CN" altLang="en-US" b="0" i="0" dirty="0">
                <a:solidFill>
                  <a:srgbClr val="060A26"/>
                </a:solidFill>
                <a:effectLst/>
                <a:latin typeface="PingFang SC"/>
              </a:rPr>
              <a:t>接着，我们将这三个图分别输入到独立的</a:t>
            </a:r>
            <a:r>
              <a:rPr lang="en-US" altLang="zh-CN" b="0" i="0" dirty="0">
                <a:solidFill>
                  <a:srgbClr val="060A26"/>
                </a:solidFill>
                <a:effectLst/>
                <a:latin typeface="PingFang SC"/>
              </a:rPr>
              <a:t>GNN</a:t>
            </a:r>
            <a:r>
              <a:rPr lang="zh-CN" altLang="en-US" b="0" i="0" dirty="0">
                <a:solidFill>
                  <a:srgbClr val="060A26"/>
                </a:solidFill>
                <a:effectLst/>
                <a:latin typeface="PingFang SC"/>
              </a:rPr>
              <a:t>中，学习用户的嵌入表示：</a:t>
            </a:r>
          </a:p>
          <a:p>
            <a:pPr algn="l">
              <a:buFont typeface="Arial" panose="020B0604020202020204" pitchFamily="34" charset="0"/>
              <a:buChar char="•"/>
            </a:pPr>
            <a:r>
              <a:rPr lang="zh-CN" altLang="en-US" b="0" i="0" dirty="0">
                <a:solidFill>
                  <a:srgbClr val="060A26"/>
                </a:solidFill>
                <a:effectLst/>
                <a:latin typeface="PingFang SC"/>
              </a:rPr>
              <a:t>原始交互图 → 学习基础兴趣；</a:t>
            </a:r>
          </a:p>
          <a:p>
            <a:pPr algn="l">
              <a:buFont typeface="Arial" panose="020B0604020202020204" pitchFamily="34" charset="0"/>
              <a:buChar char="•"/>
            </a:pPr>
            <a:r>
              <a:rPr lang="zh-CN" altLang="en-US" b="0" i="0" dirty="0">
                <a:solidFill>
                  <a:srgbClr val="060A26"/>
                </a:solidFill>
                <a:effectLst/>
                <a:latin typeface="PingFang SC"/>
              </a:rPr>
              <a:t>增强交互图 → 学习高价值信号；</a:t>
            </a:r>
          </a:p>
          <a:p>
            <a:pPr algn="l">
              <a:buFont typeface="Arial" panose="020B0604020202020204" pitchFamily="34" charset="0"/>
              <a:buChar char="•"/>
            </a:pPr>
            <a:r>
              <a:rPr lang="zh-CN" altLang="en-US" b="0" i="0" dirty="0">
                <a:solidFill>
                  <a:srgbClr val="060A26"/>
                </a:solidFill>
                <a:effectLst/>
                <a:latin typeface="PingFang SC"/>
              </a:rPr>
              <a:t>模态相似图 → 学习语义偏好。</a:t>
            </a:r>
          </a:p>
          <a:p>
            <a:pPr algn="l"/>
            <a:r>
              <a:rPr lang="zh-CN" altLang="en-US" b="0" i="0" dirty="0">
                <a:solidFill>
                  <a:srgbClr val="060A26"/>
                </a:solidFill>
                <a:effectLst/>
                <a:latin typeface="PingFang SC"/>
              </a:rPr>
              <a:t>最后，我们通过</a:t>
            </a:r>
            <a:r>
              <a:rPr lang="zh-CN" altLang="en-US" b="1" i="0" dirty="0">
                <a:solidFill>
                  <a:srgbClr val="060A26"/>
                </a:solidFill>
                <a:effectLst/>
                <a:latin typeface="PingFang SC"/>
              </a:rPr>
              <a:t>跨图对比学习</a:t>
            </a:r>
            <a:r>
              <a:rPr lang="zh-CN" altLang="en-US" b="0" i="0" dirty="0">
                <a:solidFill>
                  <a:srgbClr val="060A26"/>
                </a:solidFill>
                <a:effectLst/>
                <a:latin typeface="PingFang SC"/>
              </a:rPr>
              <a:t>，让模型学会在不同图之间对齐用户表示：</a:t>
            </a:r>
          </a:p>
          <a:p>
            <a:pPr algn="l">
              <a:buFont typeface="Arial" panose="020B0604020202020204" pitchFamily="34" charset="0"/>
              <a:buChar char="•"/>
            </a:pPr>
            <a:r>
              <a:rPr lang="zh-CN" altLang="en-US" b="0" i="0" dirty="0">
                <a:solidFill>
                  <a:srgbClr val="060A26"/>
                </a:solidFill>
                <a:effectLst/>
                <a:latin typeface="PingFang SC"/>
              </a:rPr>
              <a:t>拉近同一用户在不同图中的嵌入；</a:t>
            </a:r>
          </a:p>
          <a:p>
            <a:pPr algn="l">
              <a:buFont typeface="Arial" panose="020B0604020202020204" pitchFamily="34" charset="0"/>
              <a:buChar char="•"/>
            </a:pPr>
            <a:r>
              <a:rPr lang="zh-CN" altLang="en-US" b="0" i="0" dirty="0">
                <a:solidFill>
                  <a:srgbClr val="060A26"/>
                </a:solidFill>
                <a:effectLst/>
                <a:latin typeface="PingFang SC"/>
              </a:rPr>
              <a:t>推开不同用户的嵌入。</a:t>
            </a:r>
          </a:p>
          <a:p>
            <a:pPr algn="l"/>
            <a:r>
              <a:rPr lang="zh-CN" altLang="en-US" b="0" i="0" dirty="0">
                <a:solidFill>
                  <a:srgbClr val="060A26"/>
                </a:solidFill>
                <a:effectLst/>
                <a:latin typeface="PingFang SC"/>
              </a:rPr>
              <a:t>这样，模型就能同时捕捉到：</a:t>
            </a:r>
          </a:p>
          <a:p>
            <a:pPr algn="l">
              <a:buFont typeface="Arial" panose="020B0604020202020204" pitchFamily="34" charset="0"/>
              <a:buChar char="•"/>
            </a:pPr>
            <a:r>
              <a:rPr lang="zh-CN" altLang="en-US" b="0" i="0" dirty="0">
                <a:solidFill>
                  <a:srgbClr val="060A26"/>
                </a:solidFill>
                <a:effectLst/>
                <a:latin typeface="PingFang SC"/>
              </a:rPr>
              <a:t>用户的行为偏好（来自交互图）；</a:t>
            </a:r>
          </a:p>
          <a:p>
            <a:pPr algn="l">
              <a:buFont typeface="Arial" panose="020B0604020202020204" pitchFamily="34" charset="0"/>
              <a:buChar char="•"/>
            </a:pPr>
            <a:r>
              <a:rPr lang="zh-CN" altLang="en-US" b="0" i="0" dirty="0">
                <a:solidFill>
                  <a:srgbClr val="060A26"/>
                </a:solidFill>
                <a:effectLst/>
                <a:latin typeface="PingFang SC"/>
              </a:rPr>
              <a:t>商品的语义特征（来自模态图）；</a:t>
            </a:r>
          </a:p>
          <a:p>
            <a:pPr algn="l">
              <a:buFont typeface="Arial" panose="020B0604020202020204" pitchFamily="34" charset="0"/>
              <a:buChar char="•"/>
            </a:pPr>
            <a:r>
              <a:rPr lang="zh-CN" altLang="en-US" b="0" i="0" dirty="0">
                <a:solidFill>
                  <a:srgbClr val="060A26"/>
                </a:solidFill>
                <a:effectLst/>
                <a:latin typeface="PingFang SC"/>
              </a:rPr>
              <a:t>多行为间的互补信息（来自增强图）。</a:t>
            </a:r>
          </a:p>
          <a:p>
            <a:pPr algn="l"/>
            <a:r>
              <a:rPr lang="zh-CN" altLang="en-US" b="0" i="0" dirty="0">
                <a:solidFill>
                  <a:srgbClr val="060A26"/>
                </a:solidFill>
                <a:effectLst/>
                <a:latin typeface="PingFang SC"/>
              </a:rPr>
              <a:t>实现了从“行为</a:t>
            </a:r>
            <a:r>
              <a:rPr lang="en-US" altLang="zh-CN" b="0" i="0" dirty="0">
                <a:solidFill>
                  <a:srgbClr val="060A26"/>
                </a:solidFill>
                <a:effectLst/>
                <a:latin typeface="PingFang SC"/>
              </a:rPr>
              <a:t>+</a:t>
            </a:r>
            <a:r>
              <a:rPr lang="zh-CN" altLang="en-US" b="0" i="0" dirty="0">
                <a:solidFill>
                  <a:srgbClr val="060A26"/>
                </a:solidFill>
                <a:effectLst/>
                <a:latin typeface="PingFang SC"/>
              </a:rPr>
              <a:t>内容”双维度出发的</a:t>
            </a:r>
            <a:r>
              <a:rPr lang="zh-CN" altLang="en-US" b="1" i="0" dirty="0">
                <a:solidFill>
                  <a:srgbClr val="060A26"/>
                </a:solidFill>
                <a:effectLst/>
                <a:latin typeface="PingFang SC"/>
              </a:rPr>
              <a:t>噪声感知与偏好提取</a:t>
            </a:r>
            <a:r>
              <a:rPr lang="zh-CN" altLang="en-US" b="0" i="0" dirty="0">
                <a:solidFill>
                  <a:srgbClr val="060A26"/>
                </a:solidFill>
                <a:effectLst/>
                <a:latin typeface="PingFang SC"/>
              </a:rPr>
              <a:t>。</a:t>
            </a:r>
          </a:p>
          <a:p>
            <a:pPr algn="l"/>
            <a:r>
              <a:rPr lang="zh-CN" altLang="en-US" b="0" i="0" dirty="0">
                <a:solidFill>
                  <a:srgbClr val="060A26"/>
                </a:solidFill>
                <a:effectLst/>
                <a:latin typeface="PingFang SC"/>
              </a:rPr>
              <a:t>这个设计的关键在于：</a:t>
            </a:r>
            <a:r>
              <a:rPr lang="zh-CN" altLang="en-US" b="1" i="0" dirty="0">
                <a:solidFill>
                  <a:srgbClr val="060A26"/>
                </a:solidFill>
                <a:effectLst/>
                <a:latin typeface="PingFang SC"/>
              </a:rPr>
              <a:t>用大语言模型打通图文语义鸿沟，实现跨模态的兴趣建模</a:t>
            </a:r>
            <a:r>
              <a:rPr lang="zh-CN" altLang="en-US" b="0" i="0" dirty="0">
                <a:solidFill>
                  <a:srgbClr val="060A26"/>
                </a:solidFill>
                <a:effectLst/>
                <a:latin typeface="PingFang SC"/>
              </a:rPr>
              <a:t>。</a:t>
            </a:r>
          </a:p>
          <a:p>
            <a:endParaRPr lang="zh-CN" altLang="en-US" dirty="0"/>
          </a:p>
        </p:txBody>
      </p:sp>
      <p:sp>
        <p:nvSpPr>
          <p:cNvPr id="4" name="灯片编号占位符 3"/>
          <p:cNvSpPr>
            <a:spLocks noGrp="1"/>
          </p:cNvSpPr>
          <p:nvPr>
            <p:ph type="sldNum" sz="quarter" idx="5"/>
          </p:nvPr>
        </p:nvSpPr>
        <p:spPr/>
        <p:txBody>
          <a:bodyPr/>
          <a:lstStyle/>
          <a:p>
            <a:fld id="{FEFA68EA-72A2-4252-BA25-A6764274F607}" type="slidenum">
              <a:rPr lang="zh-CN" altLang="en-US" smtClean="0"/>
              <a:t>19</a:t>
            </a:fld>
            <a:endParaRPr lang="zh-CN" altLang="en-US"/>
          </a:p>
        </p:txBody>
      </p:sp>
    </p:spTree>
    <p:extLst>
      <p:ext uri="{BB962C8B-B14F-4D97-AF65-F5344CB8AC3E}">
        <p14:creationId xmlns:p14="http://schemas.microsoft.com/office/powerpoint/2010/main" val="9263914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060A26"/>
                </a:solidFill>
                <a:effectLst/>
                <a:latin typeface="PingFang SC"/>
              </a:rPr>
              <a:t>我们发现：商品的视觉信息（如图片）可能包含背景、模特等非商品元素，直接提取容易受到干扰；</a:t>
            </a:r>
            <a:br>
              <a:rPr lang="zh-CN" altLang="en-US" b="0" i="0" dirty="0">
                <a:solidFill>
                  <a:srgbClr val="060A26"/>
                </a:solidFill>
                <a:effectLst/>
                <a:latin typeface="PingFang SC"/>
              </a:rPr>
            </a:br>
            <a:r>
              <a:rPr lang="zh-CN" altLang="en-US" b="0" i="0" dirty="0">
                <a:solidFill>
                  <a:srgbClr val="060A26"/>
                </a:solidFill>
                <a:effectLst/>
                <a:latin typeface="PingFang SC"/>
              </a:rPr>
              <a:t>而文本信息（如标题、描述）可能存在冗余或模糊表达，无法精准反映物品的核心特征。</a:t>
            </a:r>
          </a:p>
          <a:p>
            <a:pPr algn="l"/>
            <a:r>
              <a:rPr lang="zh-CN" altLang="en-US" b="0" i="0" dirty="0">
                <a:solidFill>
                  <a:srgbClr val="060A26"/>
                </a:solidFill>
                <a:effectLst/>
                <a:latin typeface="PingFang SC"/>
              </a:rPr>
              <a:t>因此，我们引入</a:t>
            </a:r>
            <a:r>
              <a:rPr lang="zh-CN" altLang="en-US" b="1" i="0" dirty="0">
                <a:solidFill>
                  <a:srgbClr val="060A26"/>
                </a:solidFill>
                <a:effectLst/>
                <a:latin typeface="PingFang SC"/>
              </a:rPr>
              <a:t>多模态大模型</a:t>
            </a:r>
            <a:r>
              <a:rPr lang="zh-CN" altLang="en-US" b="0" i="0" dirty="0">
                <a:solidFill>
                  <a:srgbClr val="060A26"/>
                </a:solidFill>
                <a:effectLst/>
                <a:latin typeface="PingFang SC"/>
              </a:rPr>
              <a:t>（如 </a:t>
            </a:r>
            <a:r>
              <a:rPr lang="en-US" altLang="zh-CN" b="0" i="0" dirty="0" err="1">
                <a:solidFill>
                  <a:srgbClr val="060A26"/>
                </a:solidFill>
                <a:effectLst/>
                <a:latin typeface="PingFang SC"/>
              </a:rPr>
              <a:t>Qwen</a:t>
            </a:r>
            <a:r>
              <a:rPr lang="en-US" altLang="zh-CN" b="0" i="0" dirty="0">
                <a:solidFill>
                  <a:srgbClr val="060A26"/>
                </a:solidFill>
                <a:effectLst/>
                <a:latin typeface="PingFang SC"/>
              </a:rPr>
              <a:t>-VL </a:t>
            </a:r>
            <a:r>
              <a:rPr lang="zh-CN" altLang="en-US" b="0" i="0" dirty="0">
                <a:solidFill>
                  <a:srgbClr val="060A26"/>
                </a:solidFill>
                <a:effectLst/>
                <a:latin typeface="PingFang SC"/>
              </a:rPr>
              <a:t>或 </a:t>
            </a:r>
            <a:r>
              <a:rPr lang="en-US" altLang="zh-CN" b="0" i="0" dirty="0" err="1">
                <a:solidFill>
                  <a:srgbClr val="060A26"/>
                </a:solidFill>
                <a:effectLst/>
                <a:latin typeface="PingFang SC"/>
              </a:rPr>
              <a:t>LLaVA</a:t>
            </a:r>
            <a:r>
              <a:rPr lang="zh-CN" altLang="en-US" b="0" i="0" dirty="0">
                <a:solidFill>
                  <a:srgbClr val="060A26"/>
                </a:solidFill>
                <a:effectLst/>
                <a:latin typeface="PingFang SC"/>
              </a:rPr>
              <a:t>），它能够同时理解图像和文本，具备较强的推理能力。</a:t>
            </a:r>
          </a:p>
          <a:p>
            <a:pPr algn="l"/>
            <a:r>
              <a:rPr lang="zh-CN" altLang="en-US" b="0" i="0" dirty="0">
                <a:solidFill>
                  <a:srgbClr val="060A26"/>
                </a:solidFill>
                <a:effectLst/>
                <a:latin typeface="PingFang SC"/>
              </a:rPr>
              <a:t>具体来说：</a:t>
            </a:r>
          </a:p>
          <a:p>
            <a:pPr algn="l">
              <a:buFont typeface="Arial" panose="020B0604020202020204" pitchFamily="34" charset="0"/>
              <a:buChar char="•"/>
            </a:pPr>
            <a:r>
              <a:rPr lang="zh-CN" altLang="en-US" b="0" i="0" dirty="0">
                <a:solidFill>
                  <a:srgbClr val="060A26"/>
                </a:solidFill>
                <a:effectLst/>
                <a:latin typeface="PingFang SC"/>
              </a:rPr>
              <a:t>我们将商品图片和原始文本一起输入模型；</a:t>
            </a:r>
          </a:p>
          <a:p>
            <a:pPr algn="l">
              <a:buFont typeface="Arial" panose="020B0604020202020204" pitchFamily="34" charset="0"/>
              <a:buChar char="•"/>
            </a:pPr>
            <a:r>
              <a:rPr lang="zh-CN" altLang="en-US" b="0" i="0" dirty="0">
                <a:solidFill>
                  <a:srgbClr val="060A26"/>
                </a:solidFill>
                <a:effectLst/>
                <a:latin typeface="PingFang SC"/>
              </a:rPr>
              <a:t>模型会综合视觉与文本信息，生成一段聚焦于商品本身特征的语义摘要，比如：“男女情侣款针织套装，运动风格，春秋装，蓝黑色”。</a:t>
            </a:r>
          </a:p>
          <a:p>
            <a:pPr algn="l"/>
            <a:r>
              <a:rPr lang="zh-CN" altLang="en-US" b="0" i="0" dirty="0">
                <a:solidFill>
                  <a:srgbClr val="060A26"/>
                </a:solidFill>
                <a:effectLst/>
                <a:latin typeface="PingFang SC"/>
              </a:rPr>
              <a:t>这样，我们就得到了一个更干净、更准确的商品表示。</a:t>
            </a:r>
          </a:p>
          <a:p>
            <a:pPr algn="l"/>
            <a:r>
              <a:rPr lang="zh-CN" altLang="en-US" b="0" i="0" dirty="0">
                <a:solidFill>
                  <a:srgbClr val="060A26"/>
                </a:solidFill>
                <a:effectLst/>
                <a:latin typeface="PingFang SC"/>
              </a:rPr>
              <a:t>然后，我们进一步结合协同信息来构建用户的偏好：</a:t>
            </a:r>
          </a:p>
          <a:p>
            <a:pPr algn="l">
              <a:buFont typeface="Arial" panose="020B0604020202020204" pitchFamily="34" charset="0"/>
              <a:buChar char="•"/>
            </a:pPr>
            <a:r>
              <a:rPr lang="zh-CN" altLang="en-US" b="0" i="0" dirty="0">
                <a:solidFill>
                  <a:srgbClr val="060A26"/>
                </a:solidFill>
                <a:effectLst/>
                <a:latin typeface="PingFang SC"/>
              </a:rPr>
              <a:t>利用之前提出的 </a:t>
            </a:r>
            <a:r>
              <a:rPr lang="en-US" altLang="zh-CN" b="0" i="0" dirty="0">
                <a:solidFill>
                  <a:srgbClr val="060A26"/>
                </a:solidFill>
                <a:effectLst/>
                <a:latin typeface="PingFang SC"/>
              </a:rPr>
              <a:t>NIPER </a:t>
            </a:r>
            <a:r>
              <a:rPr lang="zh-CN" altLang="en-US" b="0" i="0" dirty="0">
                <a:solidFill>
                  <a:srgbClr val="060A26"/>
                </a:solidFill>
                <a:effectLst/>
                <a:latin typeface="PingFang SC"/>
              </a:rPr>
              <a:t>方法中的行为间与行为内加权机制，为每条用户</a:t>
            </a:r>
            <a:r>
              <a:rPr lang="en-US" altLang="zh-CN" b="0" i="0" dirty="0">
                <a:solidFill>
                  <a:srgbClr val="060A26"/>
                </a:solidFill>
                <a:effectLst/>
                <a:latin typeface="PingFang SC"/>
              </a:rPr>
              <a:t>-</a:t>
            </a:r>
            <a:r>
              <a:rPr lang="zh-CN" altLang="en-US" b="0" i="0" dirty="0">
                <a:solidFill>
                  <a:srgbClr val="060A26"/>
                </a:solidFill>
                <a:effectLst/>
                <a:latin typeface="PingFang SC"/>
              </a:rPr>
              <a:t>物品交互打分；</a:t>
            </a:r>
          </a:p>
          <a:p>
            <a:pPr algn="l">
              <a:buFont typeface="Arial" panose="020B0604020202020204" pitchFamily="34" charset="0"/>
              <a:buChar char="•"/>
            </a:pPr>
            <a:r>
              <a:rPr lang="zh-CN" altLang="en-US" b="0" i="0" dirty="0">
                <a:solidFill>
                  <a:srgbClr val="060A26"/>
                </a:solidFill>
                <a:effectLst/>
                <a:latin typeface="PingFang SC"/>
              </a:rPr>
              <a:t>再将这些评分与商品的文本摘要结合起来，通过大模型生成该用户的个性化偏好文本，例如：“喜欢运动风格的男女情侣装”。</a:t>
            </a:r>
          </a:p>
          <a:p>
            <a:endParaRPr lang="zh-CN" altLang="en-US" dirty="0"/>
          </a:p>
        </p:txBody>
      </p:sp>
      <p:sp>
        <p:nvSpPr>
          <p:cNvPr id="4" name="灯片编号占位符 3"/>
          <p:cNvSpPr>
            <a:spLocks noGrp="1"/>
          </p:cNvSpPr>
          <p:nvPr>
            <p:ph type="sldNum" sz="quarter" idx="5"/>
          </p:nvPr>
        </p:nvSpPr>
        <p:spPr/>
        <p:txBody>
          <a:bodyPr/>
          <a:lstStyle/>
          <a:p>
            <a:fld id="{FEFA68EA-72A2-4252-BA25-A6764274F607}" type="slidenum">
              <a:rPr lang="zh-CN" altLang="en-US" smtClean="0"/>
              <a:t>20</a:t>
            </a:fld>
            <a:endParaRPr lang="zh-CN" altLang="en-US"/>
          </a:p>
        </p:txBody>
      </p:sp>
    </p:spTree>
    <p:extLst>
      <p:ext uri="{BB962C8B-B14F-4D97-AF65-F5344CB8AC3E}">
        <p14:creationId xmlns:p14="http://schemas.microsoft.com/office/powerpoint/2010/main" val="41044450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060A26"/>
                </a:solidFill>
                <a:effectLst/>
                <a:latin typeface="PingFang SC"/>
              </a:rPr>
              <a:t>在上一步中，我们利用</a:t>
            </a:r>
            <a:r>
              <a:rPr lang="zh-CN" altLang="en-US" b="1" i="0" dirty="0">
                <a:solidFill>
                  <a:srgbClr val="060A26"/>
                </a:solidFill>
                <a:effectLst/>
                <a:latin typeface="PingFang SC"/>
              </a:rPr>
              <a:t>多模态大模型</a:t>
            </a:r>
            <a:r>
              <a:rPr lang="zh-CN" altLang="en-US" b="0" i="0" dirty="0">
                <a:solidFill>
                  <a:srgbClr val="060A26"/>
                </a:solidFill>
                <a:effectLst/>
                <a:latin typeface="PingFang SC"/>
              </a:rPr>
              <a:t>生成了商品的语义摘要。</a:t>
            </a:r>
            <a:br>
              <a:rPr lang="zh-CN" altLang="en-US" b="0" i="0" dirty="0">
                <a:solidFill>
                  <a:srgbClr val="060A26"/>
                </a:solidFill>
                <a:effectLst/>
                <a:latin typeface="PingFang SC"/>
              </a:rPr>
            </a:br>
            <a:r>
              <a:rPr lang="zh-CN" altLang="en-US" b="0" i="0" dirty="0">
                <a:solidFill>
                  <a:srgbClr val="060A26"/>
                </a:solidFill>
                <a:effectLst/>
                <a:latin typeface="PingFang SC"/>
              </a:rPr>
              <a:t>现在，我们将这些文本描述输入到预训练的语言模型（如 </a:t>
            </a:r>
            <a:r>
              <a:rPr lang="en-US" altLang="zh-CN" b="0" i="0" dirty="0">
                <a:solidFill>
                  <a:srgbClr val="060A26"/>
                </a:solidFill>
                <a:effectLst/>
                <a:latin typeface="PingFang SC"/>
              </a:rPr>
              <a:t>Sentence-BERT</a:t>
            </a:r>
            <a:r>
              <a:rPr lang="zh-CN" altLang="en-US" b="0" i="0" dirty="0">
                <a:solidFill>
                  <a:srgbClr val="060A26"/>
                </a:solidFill>
                <a:effectLst/>
                <a:latin typeface="PingFang SC"/>
              </a:rPr>
              <a:t>）中，生成用户和物品的</a:t>
            </a:r>
            <a:r>
              <a:rPr lang="zh-CN" altLang="en-US" b="1" i="0" dirty="0">
                <a:solidFill>
                  <a:srgbClr val="060A26"/>
                </a:solidFill>
                <a:effectLst/>
                <a:latin typeface="PingFang SC"/>
              </a:rPr>
              <a:t>模态嵌入向量</a:t>
            </a:r>
            <a:r>
              <a:rPr lang="zh-CN" altLang="en-US" b="0" i="0" dirty="0">
                <a:solidFill>
                  <a:srgbClr val="060A26"/>
                </a:solidFill>
                <a:effectLst/>
                <a:latin typeface="PingFang SC"/>
              </a:rPr>
              <a:t> </a:t>
            </a:r>
            <a:r>
              <a:rPr lang="en-US" altLang="zh-CN" b="0" i="0" dirty="0" err="1">
                <a:solidFill>
                  <a:srgbClr val="060A26"/>
                </a:solidFill>
                <a:effectLst/>
                <a:latin typeface="KaTeX_Main"/>
              </a:rPr>
              <a:t>hu</a:t>
            </a:r>
            <a:r>
              <a:rPr lang="en-US" altLang="zh-CN" b="1" i="0" dirty="0" err="1">
                <a:solidFill>
                  <a:srgbClr val="060A26"/>
                </a:solidFill>
                <a:effectLst/>
                <a:latin typeface="KaTeX_Main"/>
              </a:rPr>
              <a:t>h</a:t>
            </a:r>
            <a:r>
              <a:rPr lang="en-US" altLang="zh-CN" b="0" i="1" dirty="0" err="1">
                <a:solidFill>
                  <a:srgbClr val="060A26"/>
                </a:solidFill>
                <a:effectLst/>
                <a:latin typeface="KaTeX_Math"/>
              </a:rPr>
              <a:t>u</a:t>
            </a:r>
            <a:r>
              <a:rPr lang="zh-CN" altLang="en-US" b="0" i="0" dirty="0">
                <a:solidFill>
                  <a:srgbClr val="060A26"/>
                </a:solidFill>
                <a:effectLst/>
                <a:latin typeface="KaTeX_Main"/>
              </a:rPr>
              <a:t>​</a:t>
            </a:r>
            <a:r>
              <a:rPr lang="zh-CN" altLang="en-US" b="0" i="0" dirty="0">
                <a:solidFill>
                  <a:srgbClr val="060A26"/>
                </a:solidFill>
                <a:effectLst/>
                <a:latin typeface="PingFang SC"/>
              </a:rPr>
              <a:t> 和 </a:t>
            </a:r>
            <a:r>
              <a:rPr lang="en-US" altLang="zh-CN" b="0" i="0" dirty="0" err="1">
                <a:solidFill>
                  <a:srgbClr val="060A26"/>
                </a:solidFill>
                <a:effectLst/>
                <a:latin typeface="KaTeX_Main"/>
              </a:rPr>
              <a:t>hi</a:t>
            </a:r>
            <a:r>
              <a:rPr lang="en-US" altLang="zh-CN" b="1" i="0" dirty="0" err="1">
                <a:solidFill>
                  <a:srgbClr val="060A26"/>
                </a:solidFill>
                <a:effectLst/>
                <a:latin typeface="KaTeX_Main"/>
              </a:rPr>
              <a:t>h</a:t>
            </a:r>
            <a:r>
              <a:rPr lang="en-US" altLang="zh-CN" b="0" i="1" dirty="0" err="1">
                <a:solidFill>
                  <a:srgbClr val="060A26"/>
                </a:solidFill>
                <a:effectLst/>
                <a:latin typeface="KaTeX_Math"/>
              </a:rPr>
              <a:t>i</a:t>
            </a:r>
            <a:r>
              <a:rPr lang="zh-CN" altLang="en-US" b="0" i="0" dirty="0">
                <a:solidFill>
                  <a:srgbClr val="060A26"/>
                </a:solidFill>
                <a:effectLst/>
                <a:latin typeface="KaTeX_Main"/>
              </a:rPr>
              <a:t>​</a:t>
            </a:r>
            <a:r>
              <a:rPr lang="zh-CN" altLang="en-US" b="0" i="0" dirty="0">
                <a:solidFill>
                  <a:srgbClr val="060A26"/>
                </a:solidFill>
                <a:effectLst/>
                <a:latin typeface="PingFang SC"/>
              </a:rPr>
              <a:t> 。</a:t>
            </a:r>
          </a:p>
          <a:p>
            <a:pPr algn="l"/>
            <a:r>
              <a:rPr lang="zh-CN" altLang="en-US" b="0" i="0" dirty="0">
                <a:solidFill>
                  <a:srgbClr val="060A26"/>
                </a:solidFill>
                <a:effectLst/>
                <a:latin typeface="PingFang SC"/>
              </a:rPr>
              <a:t>然后，我们计算用户与物品之间的</a:t>
            </a:r>
            <a:r>
              <a:rPr lang="zh-CN" altLang="en-US" b="1" i="0" dirty="0">
                <a:solidFill>
                  <a:srgbClr val="060A26"/>
                </a:solidFill>
                <a:effectLst/>
                <a:latin typeface="PingFang SC"/>
              </a:rPr>
              <a:t>模态相似度</a:t>
            </a:r>
            <a:r>
              <a:rPr lang="zh-CN" altLang="en-US" b="0" i="0" dirty="0">
                <a:solidFill>
                  <a:srgbClr val="060A26"/>
                </a:solidFill>
                <a:effectLst/>
                <a:latin typeface="PingFang SC"/>
              </a:rPr>
              <a:t>：</a:t>
            </a:r>
          </a:p>
          <a:p>
            <a:r>
              <a:rPr lang="en-US" altLang="zh-CN" dirty="0">
                <a:effectLst/>
                <a:latin typeface="KaTeX_Main"/>
              </a:rPr>
              <a:t>sui=</a:t>
            </a:r>
            <a:r>
              <a:rPr lang="en-US" altLang="zh-CN" dirty="0" err="1">
                <a:effectLst/>
                <a:latin typeface="KaTeX_Main"/>
              </a:rPr>
              <a:t>hu⊤hi∥hu</a:t>
            </a:r>
            <a:r>
              <a:rPr lang="en-US" altLang="zh-CN" dirty="0">
                <a:effectLst/>
                <a:latin typeface="KaTeX_Main"/>
              </a:rPr>
              <a:t>∥⋅∥</a:t>
            </a:r>
            <a:r>
              <a:rPr lang="en-US" altLang="zh-CN" dirty="0" err="1">
                <a:effectLst/>
                <a:latin typeface="KaTeX_Main"/>
              </a:rPr>
              <a:t>hi∥</a:t>
            </a:r>
            <a:r>
              <a:rPr lang="en-US" altLang="zh-CN" i="1" dirty="0" err="1">
                <a:effectLst/>
                <a:latin typeface="KaTeX_Math"/>
              </a:rPr>
              <a:t>sui</a:t>
            </a:r>
            <a:r>
              <a:rPr lang="zh-CN" altLang="en-US" dirty="0">
                <a:effectLst/>
                <a:latin typeface="KaTeX_Main"/>
              </a:rPr>
              <a:t>​</a:t>
            </a:r>
            <a:r>
              <a:rPr lang="en-US" altLang="zh-CN" dirty="0">
                <a:effectLst/>
                <a:latin typeface="KaTeX_Main"/>
              </a:rPr>
              <a:t>=∥</a:t>
            </a:r>
            <a:r>
              <a:rPr lang="en-US" altLang="zh-CN" b="1" dirty="0">
                <a:effectLst/>
                <a:latin typeface="KaTeX_Main"/>
              </a:rPr>
              <a:t>h</a:t>
            </a:r>
            <a:r>
              <a:rPr lang="en-US" altLang="zh-CN" i="1" dirty="0">
                <a:effectLst/>
                <a:latin typeface="KaTeX_Math"/>
              </a:rPr>
              <a:t>u</a:t>
            </a:r>
            <a:r>
              <a:rPr lang="zh-CN" altLang="en-US" dirty="0">
                <a:effectLst/>
                <a:latin typeface="KaTeX_Main"/>
              </a:rPr>
              <a:t>​∥⋅∥</a:t>
            </a:r>
            <a:r>
              <a:rPr lang="en-US" altLang="zh-CN" b="1" dirty="0">
                <a:effectLst/>
                <a:latin typeface="KaTeX_Main"/>
              </a:rPr>
              <a:t>h</a:t>
            </a:r>
            <a:r>
              <a:rPr lang="en-US" altLang="zh-CN" i="1" dirty="0">
                <a:effectLst/>
                <a:latin typeface="KaTeX_Math"/>
              </a:rPr>
              <a:t>i</a:t>
            </a:r>
            <a:r>
              <a:rPr lang="zh-CN" altLang="en-US" dirty="0">
                <a:effectLst/>
                <a:latin typeface="KaTeX_Main"/>
              </a:rPr>
              <a:t>​∥</a:t>
            </a:r>
            <a:r>
              <a:rPr lang="en-US" altLang="zh-CN" b="1" dirty="0">
                <a:effectLst/>
                <a:latin typeface="KaTeX_Main"/>
              </a:rPr>
              <a:t>h</a:t>
            </a:r>
            <a:r>
              <a:rPr lang="en-US" altLang="zh-CN" i="1" dirty="0">
                <a:effectLst/>
                <a:latin typeface="KaTeX_Math"/>
              </a:rPr>
              <a:t>u</a:t>
            </a:r>
            <a:r>
              <a:rPr lang="zh-CN" altLang="en-US" dirty="0">
                <a:effectLst/>
                <a:latin typeface="KaTeX_Main"/>
              </a:rPr>
              <a:t>⊤​</a:t>
            </a:r>
            <a:r>
              <a:rPr lang="en-US" altLang="zh-CN" b="1" dirty="0">
                <a:effectLst/>
                <a:latin typeface="KaTeX_Main"/>
              </a:rPr>
              <a:t>h</a:t>
            </a:r>
            <a:r>
              <a:rPr lang="en-US" altLang="zh-CN" i="1" dirty="0">
                <a:effectLst/>
                <a:latin typeface="KaTeX_Math"/>
              </a:rPr>
              <a:t>i</a:t>
            </a:r>
            <a:r>
              <a:rPr lang="zh-CN" altLang="en-US" dirty="0">
                <a:effectLst/>
                <a:latin typeface="KaTeX_Main"/>
              </a:rPr>
              <a:t>​​</a:t>
            </a:r>
            <a:endParaRPr lang="zh-CN" altLang="en-US" dirty="0">
              <a:effectLst/>
            </a:endParaRPr>
          </a:p>
          <a:p>
            <a:pPr algn="l"/>
            <a:r>
              <a:rPr lang="zh-CN" altLang="en-US" b="0" i="0" dirty="0">
                <a:solidFill>
                  <a:srgbClr val="060A26"/>
                </a:solidFill>
                <a:effectLst/>
                <a:latin typeface="PingFang SC"/>
              </a:rPr>
              <a:t>这个值反映了两者在语义上的匹配程度。</a:t>
            </a:r>
          </a:p>
          <a:p>
            <a:pPr algn="l"/>
            <a:r>
              <a:rPr lang="zh-CN" altLang="en-US" b="0" i="0" dirty="0">
                <a:solidFill>
                  <a:srgbClr val="060A26"/>
                </a:solidFill>
                <a:effectLst/>
                <a:latin typeface="PingFang SC"/>
              </a:rPr>
              <a:t>为了去除低质量交互，我们引入</a:t>
            </a:r>
            <a:r>
              <a:rPr lang="zh-CN" altLang="en-US" b="1" i="0" dirty="0">
                <a:solidFill>
                  <a:srgbClr val="060A26"/>
                </a:solidFill>
                <a:effectLst/>
                <a:latin typeface="PingFang SC"/>
              </a:rPr>
              <a:t>硬去噪机制</a:t>
            </a:r>
            <a:r>
              <a:rPr lang="zh-CN" altLang="en-US" b="0" i="0" dirty="0">
                <a:solidFill>
                  <a:srgbClr val="060A26"/>
                </a:solidFill>
                <a:effectLst/>
                <a:latin typeface="PingFang SC"/>
              </a:rPr>
              <a:t>：</a:t>
            </a:r>
          </a:p>
          <a:p>
            <a:pPr algn="l">
              <a:buFont typeface="Arial" panose="020B0604020202020204" pitchFamily="34" charset="0"/>
              <a:buChar char="•"/>
            </a:pPr>
            <a:r>
              <a:rPr lang="zh-CN" altLang="en-US" b="0" i="0" dirty="0">
                <a:solidFill>
                  <a:srgbClr val="060A26"/>
                </a:solidFill>
                <a:effectLst/>
                <a:latin typeface="PingFang SC"/>
              </a:rPr>
              <a:t>将相似度经过 </a:t>
            </a:r>
            <a:r>
              <a:rPr lang="en-US" altLang="zh-CN" b="0" i="0" dirty="0" err="1">
                <a:solidFill>
                  <a:srgbClr val="060A26"/>
                </a:solidFill>
                <a:effectLst/>
                <a:latin typeface="PingFang SC"/>
              </a:rPr>
              <a:t>softmax</a:t>
            </a:r>
            <a:r>
              <a:rPr lang="en-US" altLang="zh-CN" b="0" i="0" dirty="0">
                <a:solidFill>
                  <a:srgbClr val="060A26"/>
                </a:solidFill>
                <a:effectLst/>
                <a:latin typeface="PingFang SC"/>
              </a:rPr>
              <a:t> </a:t>
            </a:r>
            <a:r>
              <a:rPr lang="zh-CN" altLang="en-US" b="0" i="0" dirty="0">
                <a:solidFill>
                  <a:srgbClr val="060A26"/>
                </a:solidFill>
                <a:effectLst/>
                <a:latin typeface="PingFang SC"/>
              </a:rPr>
              <a:t>归一化后得到 </a:t>
            </a:r>
            <a:r>
              <a:rPr lang="en-US" altLang="zh-CN" b="0" i="0" dirty="0" err="1">
                <a:solidFill>
                  <a:srgbClr val="060A26"/>
                </a:solidFill>
                <a:effectLst/>
                <a:latin typeface="KaTeX_Main"/>
              </a:rPr>
              <a:t>s^ui</a:t>
            </a:r>
            <a:r>
              <a:rPr lang="en-US" altLang="zh-CN" b="0" i="1" dirty="0" err="1">
                <a:solidFill>
                  <a:srgbClr val="060A26"/>
                </a:solidFill>
                <a:effectLst/>
                <a:latin typeface="KaTeX_Math"/>
              </a:rPr>
              <a:t>s</a:t>
            </a:r>
            <a:r>
              <a:rPr lang="en-US" altLang="zh-CN" b="0" i="0" dirty="0" err="1">
                <a:solidFill>
                  <a:srgbClr val="060A26"/>
                </a:solidFill>
                <a:effectLst/>
                <a:latin typeface="KaTeX_Main"/>
              </a:rPr>
              <a:t>^</a:t>
            </a:r>
            <a:r>
              <a:rPr lang="en-US" altLang="zh-CN" b="0" i="1" dirty="0" err="1">
                <a:solidFill>
                  <a:srgbClr val="060A26"/>
                </a:solidFill>
                <a:effectLst/>
                <a:latin typeface="KaTeX_Math"/>
              </a:rPr>
              <a:t>ui</a:t>
            </a:r>
            <a:r>
              <a:rPr lang="zh-CN" altLang="en-US" b="0" i="0" dirty="0">
                <a:solidFill>
                  <a:srgbClr val="060A26"/>
                </a:solidFill>
                <a:effectLst/>
                <a:latin typeface="KaTeX_Main"/>
              </a:rPr>
              <a:t>​</a:t>
            </a:r>
            <a:r>
              <a:rPr lang="zh-CN" altLang="en-US" b="0" i="0" dirty="0">
                <a:solidFill>
                  <a:srgbClr val="060A26"/>
                </a:solidFill>
                <a:effectLst/>
                <a:latin typeface="PingFang SC"/>
              </a:rPr>
              <a:t> ；</a:t>
            </a:r>
          </a:p>
          <a:p>
            <a:pPr algn="l">
              <a:buFont typeface="Arial" panose="020B0604020202020204" pitchFamily="34" charset="0"/>
              <a:buChar char="•"/>
            </a:pPr>
            <a:r>
              <a:rPr lang="zh-CN" altLang="en-US" b="0" i="0" dirty="0">
                <a:solidFill>
                  <a:srgbClr val="060A26"/>
                </a:solidFill>
                <a:effectLst/>
                <a:latin typeface="PingFang SC"/>
              </a:rPr>
              <a:t>若 </a:t>
            </a:r>
            <a:r>
              <a:rPr lang="en-US" altLang="zh-CN" b="0" i="0" dirty="0" err="1">
                <a:solidFill>
                  <a:srgbClr val="060A26"/>
                </a:solidFill>
                <a:effectLst/>
                <a:latin typeface="KaTeX_Main"/>
              </a:rPr>
              <a:t>s^ui﹤δ</a:t>
            </a:r>
            <a:r>
              <a:rPr lang="en-US" altLang="zh-CN" b="0" i="1" dirty="0" err="1">
                <a:solidFill>
                  <a:srgbClr val="060A26"/>
                </a:solidFill>
                <a:effectLst/>
                <a:latin typeface="KaTeX_Math"/>
              </a:rPr>
              <a:t>s</a:t>
            </a:r>
            <a:r>
              <a:rPr lang="en-US" altLang="zh-CN" b="0" i="0" dirty="0" err="1">
                <a:solidFill>
                  <a:srgbClr val="060A26"/>
                </a:solidFill>
                <a:effectLst/>
                <a:latin typeface="KaTeX_Main"/>
              </a:rPr>
              <a:t>^</a:t>
            </a:r>
            <a:r>
              <a:rPr lang="en-US" altLang="zh-CN" b="0" i="1" dirty="0" err="1">
                <a:solidFill>
                  <a:srgbClr val="060A26"/>
                </a:solidFill>
                <a:effectLst/>
                <a:latin typeface="KaTeX_Math"/>
              </a:rPr>
              <a:t>ui</a:t>
            </a:r>
            <a:r>
              <a:rPr lang="zh-CN" altLang="en-US" b="0" i="0" dirty="0">
                <a:solidFill>
                  <a:srgbClr val="060A26"/>
                </a:solidFill>
                <a:effectLst/>
                <a:latin typeface="KaTeX_Main"/>
              </a:rPr>
              <a:t>​﹤</a:t>
            </a:r>
            <a:r>
              <a:rPr lang="en-US" altLang="zh-CN" b="0" i="1" dirty="0">
                <a:solidFill>
                  <a:srgbClr val="060A26"/>
                </a:solidFill>
                <a:effectLst/>
                <a:latin typeface="KaTeX_Math"/>
              </a:rPr>
              <a:t>δ</a:t>
            </a:r>
            <a:r>
              <a:rPr lang="zh-CN" altLang="en-US" b="0" i="0" dirty="0">
                <a:solidFill>
                  <a:srgbClr val="060A26"/>
                </a:solidFill>
                <a:effectLst/>
                <a:latin typeface="PingFang SC"/>
              </a:rPr>
              <a:t> ，则认为该交互是噪声，予以移除；</a:t>
            </a:r>
          </a:p>
          <a:p>
            <a:pPr algn="l">
              <a:buFont typeface="Arial" panose="020B0604020202020204" pitchFamily="34" charset="0"/>
              <a:buChar char="•"/>
            </a:pPr>
            <a:r>
              <a:rPr lang="zh-CN" altLang="en-US" b="0" i="0" dirty="0">
                <a:solidFill>
                  <a:srgbClr val="060A26"/>
                </a:solidFill>
                <a:effectLst/>
                <a:latin typeface="PingFang SC"/>
              </a:rPr>
              <a:t>只对辅助行为（如点击、加购）进行去噪，而购买行为始终保留，因为它是最可靠的信号。</a:t>
            </a:r>
          </a:p>
          <a:p>
            <a:endParaRPr lang="zh-CN" altLang="en-US" dirty="0"/>
          </a:p>
        </p:txBody>
      </p:sp>
      <p:sp>
        <p:nvSpPr>
          <p:cNvPr id="4" name="灯片编号占位符 3"/>
          <p:cNvSpPr>
            <a:spLocks noGrp="1"/>
          </p:cNvSpPr>
          <p:nvPr>
            <p:ph type="sldNum" sz="quarter" idx="5"/>
          </p:nvPr>
        </p:nvSpPr>
        <p:spPr/>
        <p:txBody>
          <a:bodyPr/>
          <a:lstStyle/>
          <a:p>
            <a:fld id="{FEFA68EA-72A2-4252-BA25-A6764274F607}" type="slidenum">
              <a:rPr lang="zh-CN" altLang="en-US" smtClean="0"/>
              <a:t>21</a:t>
            </a:fld>
            <a:endParaRPr lang="zh-CN" altLang="en-US"/>
          </a:p>
        </p:txBody>
      </p:sp>
    </p:spTree>
    <p:extLst>
      <p:ext uri="{BB962C8B-B14F-4D97-AF65-F5344CB8AC3E}">
        <p14:creationId xmlns:p14="http://schemas.microsoft.com/office/powerpoint/2010/main" val="14904039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060A26"/>
                </a:solidFill>
                <a:effectLst/>
                <a:latin typeface="PingFang SC"/>
              </a:rPr>
              <a:t>本研究在图神经网络中的一个重要改进</a:t>
            </a:r>
            <a:r>
              <a:rPr lang="en-US" altLang="zh-CN" b="0" i="0" dirty="0">
                <a:solidFill>
                  <a:srgbClr val="060A26"/>
                </a:solidFill>
                <a:effectLst/>
                <a:latin typeface="PingFang SC"/>
              </a:rPr>
              <a:t>——</a:t>
            </a:r>
            <a:r>
              <a:rPr lang="zh-CN" altLang="en-US" b="1" i="0" dirty="0">
                <a:solidFill>
                  <a:srgbClr val="060A26"/>
                </a:solidFill>
                <a:effectLst/>
                <a:latin typeface="PingFang SC"/>
              </a:rPr>
              <a:t>语义感知的消息传递机制</a:t>
            </a:r>
            <a:r>
              <a:rPr lang="zh-CN" altLang="en-US" b="0" i="0" dirty="0">
                <a:solidFill>
                  <a:srgbClr val="060A26"/>
                </a:solidFill>
                <a:effectLst/>
                <a:latin typeface="PingFang SC"/>
              </a:rPr>
              <a:t>。</a:t>
            </a:r>
          </a:p>
          <a:p>
            <a:pPr algn="l"/>
            <a:r>
              <a:rPr lang="zh-CN" altLang="en-US" b="0" i="0" dirty="0">
                <a:solidFill>
                  <a:srgbClr val="060A26"/>
                </a:solidFill>
                <a:effectLst/>
                <a:latin typeface="PingFang SC"/>
              </a:rPr>
              <a:t>我们发现：传统 </a:t>
            </a:r>
            <a:r>
              <a:rPr lang="en-US" altLang="zh-CN" b="0" i="0" dirty="0">
                <a:solidFill>
                  <a:srgbClr val="060A26"/>
                </a:solidFill>
                <a:effectLst/>
                <a:latin typeface="PingFang SC"/>
              </a:rPr>
              <a:t>GNN </a:t>
            </a:r>
            <a:r>
              <a:rPr lang="zh-CN" altLang="en-US" b="0" i="0" dirty="0">
                <a:solidFill>
                  <a:srgbClr val="060A26"/>
                </a:solidFill>
                <a:effectLst/>
                <a:latin typeface="PingFang SC"/>
              </a:rPr>
              <a:t>主要依赖用户</a:t>
            </a:r>
            <a:r>
              <a:rPr lang="en-US" altLang="zh-CN" b="0" i="0" dirty="0">
                <a:solidFill>
                  <a:srgbClr val="060A26"/>
                </a:solidFill>
                <a:effectLst/>
                <a:latin typeface="PingFang SC"/>
              </a:rPr>
              <a:t>-</a:t>
            </a:r>
            <a:r>
              <a:rPr lang="zh-CN" altLang="en-US" b="0" i="0" dirty="0">
                <a:solidFill>
                  <a:srgbClr val="060A26"/>
                </a:solidFill>
                <a:effectLst/>
                <a:latin typeface="PingFang SC"/>
              </a:rPr>
              <a:t>物品的交互结构进行信息传播，但忽略了</a:t>
            </a:r>
            <a:r>
              <a:rPr lang="zh-CN" altLang="en-US" b="1" i="0" dirty="0">
                <a:solidFill>
                  <a:srgbClr val="060A26"/>
                </a:solidFill>
                <a:effectLst/>
                <a:latin typeface="PingFang SC"/>
              </a:rPr>
              <a:t>语义层面的一致性</a:t>
            </a:r>
            <a:r>
              <a:rPr lang="zh-CN" altLang="en-US" b="0" i="0" dirty="0">
                <a:solidFill>
                  <a:srgbClr val="060A26"/>
                </a:solidFill>
                <a:effectLst/>
                <a:latin typeface="PingFang SC"/>
              </a:rPr>
              <a:t>。</a:t>
            </a:r>
            <a:br>
              <a:rPr lang="zh-CN" altLang="en-US" b="0" i="0" dirty="0">
                <a:solidFill>
                  <a:srgbClr val="060A26"/>
                </a:solidFill>
                <a:effectLst/>
                <a:latin typeface="PingFang SC"/>
              </a:rPr>
            </a:br>
            <a:r>
              <a:rPr lang="zh-CN" altLang="en-US" b="0" i="0" dirty="0">
                <a:solidFill>
                  <a:srgbClr val="060A26"/>
                </a:solidFill>
                <a:effectLst/>
                <a:latin typeface="PingFang SC"/>
              </a:rPr>
              <a:t>因此，我们提出一种新的消息传递方式，能够同时利用</a:t>
            </a:r>
            <a:r>
              <a:rPr lang="zh-CN" altLang="en-US" b="1" i="0" dirty="0">
                <a:solidFill>
                  <a:srgbClr val="060A26"/>
                </a:solidFill>
                <a:effectLst/>
                <a:latin typeface="PingFang SC"/>
              </a:rPr>
              <a:t>协同信息</a:t>
            </a:r>
            <a:r>
              <a:rPr lang="zh-CN" altLang="en-US" b="0" i="0" dirty="0">
                <a:solidFill>
                  <a:srgbClr val="060A26"/>
                </a:solidFill>
                <a:effectLst/>
                <a:latin typeface="PingFang SC"/>
              </a:rPr>
              <a:t>（如点击、购买）和</a:t>
            </a:r>
            <a:r>
              <a:rPr lang="zh-CN" altLang="en-US" b="1" i="0" dirty="0">
                <a:solidFill>
                  <a:srgbClr val="060A26"/>
                </a:solidFill>
                <a:effectLst/>
                <a:latin typeface="PingFang SC"/>
              </a:rPr>
              <a:t>模态信息</a:t>
            </a:r>
            <a:r>
              <a:rPr lang="zh-CN" altLang="en-US" b="0" i="0" dirty="0">
                <a:solidFill>
                  <a:srgbClr val="060A26"/>
                </a:solidFill>
                <a:effectLst/>
                <a:latin typeface="PingFang SC"/>
              </a:rPr>
              <a:t>（如商品描述、用户偏好文本）。</a:t>
            </a:r>
          </a:p>
          <a:p>
            <a:pPr algn="l"/>
            <a:r>
              <a:rPr lang="zh-CN" altLang="en-US" b="0" i="0" dirty="0">
                <a:solidFill>
                  <a:srgbClr val="060A26"/>
                </a:solidFill>
                <a:effectLst/>
                <a:latin typeface="PingFang SC"/>
              </a:rPr>
              <a:t>具体来说：</a:t>
            </a:r>
          </a:p>
          <a:p>
            <a:pPr algn="l">
              <a:buFont typeface="Arial" panose="020B0604020202020204" pitchFamily="34" charset="0"/>
              <a:buChar char="•"/>
            </a:pPr>
            <a:r>
              <a:rPr lang="zh-CN" altLang="en-US" b="0" i="0" dirty="0">
                <a:solidFill>
                  <a:srgbClr val="060A26"/>
                </a:solidFill>
                <a:effectLst/>
                <a:latin typeface="PingFang SC"/>
              </a:rPr>
              <a:t>在第 </a:t>
            </a:r>
            <a:r>
              <a:rPr lang="en-US" altLang="zh-CN" b="0" i="0" dirty="0" err="1">
                <a:solidFill>
                  <a:srgbClr val="060A26"/>
                </a:solidFill>
                <a:effectLst/>
                <a:latin typeface="KaTeX_Main"/>
              </a:rPr>
              <a:t>l</a:t>
            </a:r>
            <a:r>
              <a:rPr lang="en-US" altLang="zh-CN" b="0" i="1" dirty="0" err="1">
                <a:solidFill>
                  <a:srgbClr val="060A26"/>
                </a:solidFill>
                <a:effectLst/>
                <a:latin typeface="KaTeX_Math"/>
              </a:rPr>
              <a:t>l</a:t>
            </a:r>
            <a:r>
              <a:rPr lang="zh-CN" altLang="en-US" b="0" i="0" dirty="0">
                <a:solidFill>
                  <a:srgbClr val="060A26"/>
                </a:solidFill>
                <a:effectLst/>
                <a:latin typeface="PingFang SC"/>
              </a:rPr>
              <a:t> 层，我们将用户和物品的语义嵌入 </a:t>
            </a:r>
            <a:r>
              <a:rPr lang="en-US" altLang="zh-CN" b="0" i="0" dirty="0" err="1">
                <a:solidFill>
                  <a:srgbClr val="060A26"/>
                </a:solidFill>
                <a:effectLst/>
                <a:latin typeface="KaTeX_Main"/>
              </a:rPr>
              <a:t>e~u</a:t>
            </a:r>
            <a:r>
              <a:rPr lang="en-US" altLang="zh-CN" b="1" i="0" dirty="0" err="1">
                <a:solidFill>
                  <a:srgbClr val="060A26"/>
                </a:solidFill>
                <a:effectLst/>
                <a:latin typeface="KaTeX_Main"/>
              </a:rPr>
              <a:t>e</a:t>
            </a:r>
            <a:r>
              <a:rPr lang="en-US" altLang="zh-CN" b="0" i="1" dirty="0" err="1">
                <a:solidFill>
                  <a:srgbClr val="060A26"/>
                </a:solidFill>
                <a:effectLst/>
                <a:latin typeface="KaTeX_Math"/>
              </a:rPr>
              <a:t>u</a:t>
            </a:r>
            <a:r>
              <a:rPr lang="zh-CN" altLang="en-US" b="0" i="0" dirty="0">
                <a:solidFill>
                  <a:srgbClr val="060A26"/>
                </a:solidFill>
                <a:effectLst/>
                <a:latin typeface="KaTeX_Main"/>
              </a:rPr>
              <a:t>​</a:t>
            </a:r>
            <a:r>
              <a:rPr lang="zh-CN" altLang="en-US" b="0" i="0" dirty="0">
                <a:solidFill>
                  <a:srgbClr val="060A26"/>
                </a:solidFill>
                <a:effectLst/>
                <a:latin typeface="PingFang SC"/>
              </a:rPr>
              <a:t> 和 </a:t>
            </a:r>
            <a:r>
              <a:rPr lang="en-US" altLang="zh-CN" b="0" i="0" dirty="0" err="1">
                <a:solidFill>
                  <a:srgbClr val="060A26"/>
                </a:solidFill>
                <a:effectLst/>
                <a:latin typeface="KaTeX_Main"/>
              </a:rPr>
              <a:t>e~v</a:t>
            </a:r>
            <a:r>
              <a:rPr lang="en-US" altLang="zh-CN" b="1" i="0" dirty="0" err="1">
                <a:solidFill>
                  <a:srgbClr val="060A26"/>
                </a:solidFill>
                <a:effectLst/>
                <a:latin typeface="KaTeX_Main"/>
              </a:rPr>
              <a:t>e</a:t>
            </a:r>
            <a:r>
              <a:rPr lang="en-US" altLang="zh-CN" b="0" i="1" dirty="0" err="1">
                <a:solidFill>
                  <a:srgbClr val="060A26"/>
                </a:solidFill>
                <a:effectLst/>
                <a:latin typeface="KaTeX_Math"/>
              </a:rPr>
              <a:t>v</a:t>
            </a:r>
            <a:r>
              <a:rPr lang="zh-CN" altLang="en-US" b="0" i="0" dirty="0">
                <a:solidFill>
                  <a:srgbClr val="060A26"/>
                </a:solidFill>
                <a:effectLst/>
                <a:latin typeface="KaTeX_Main"/>
              </a:rPr>
              <a:t>​</a:t>
            </a:r>
            <a:r>
              <a:rPr lang="zh-CN" altLang="en-US" b="0" i="0" dirty="0">
                <a:solidFill>
                  <a:srgbClr val="060A26"/>
                </a:solidFill>
                <a:effectLst/>
                <a:latin typeface="PingFang SC"/>
              </a:rPr>
              <a:t> 分别映射为 </a:t>
            </a:r>
            <a:r>
              <a:rPr lang="en-US" altLang="zh-CN" b="0" i="0" dirty="0">
                <a:solidFill>
                  <a:srgbClr val="060A26"/>
                </a:solidFill>
                <a:effectLst/>
                <a:latin typeface="PingFang SC"/>
              </a:rPr>
              <a:t>Query </a:t>
            </a:r>
            <a:r>
              <a:rPr lang="zh-CN" altLang="en-US" b="0" i="0" dirty="0">
                <a:solidFill>
                  <a:srgbClr val="060A26"/>
                </a:solidFill>
                <a:effectLst/>
                <a:latin typeface="PingFang SC"/>
              </a:rPr>
              <a:t>和 </a:t>
            </a:r>
            <a:r>
              <a:rPr lang="en-US" altLang="zh-CN" b="0" i="0" dirty="0">
                <a:solidFill>
                  <a:srgbClr val="060A26"/>
                </a:solidFill>
                <a:effectLst/>
                <a:latin typeface="PingFang SC"/>
              </a:rPr>
              <a:t>Key </a:t>
            </a:r>
            <a:r>
              <a:rPr lang="zh-CN" altLang="en-US" b="0" i="0" dirty="0">
                <a:solidFill>
                  <a:srgbClr val="060A26"/>
                </a:solidFill>
                <a:effectLst/>
                <a:latin typeface="PingFang SC"/>
              </a:rPr>
              <a:t>向量；</a:t>
            </a:r>
          </a:p>
          <a:p>
            <a:pPr algn="l">
              <a:buFont typeface="Arial" panose="020B0604020202020204" pitchFamily="34" charset="0"/>
              <a:buChar char="•"/>
            </a:pPr>
            <a:r>
              <a:rPr lang="zh-CN" altLang="en-US" b="0" i="0" dirty="0">
                <a:solidFill>
                  <a:srgbClr val="060A26"/>
                </a:solidFill>
                <a:effectLst/>
                <a:latin typeface="PingFang SC"/>
              </a:rPr>
              <a:t>而 </a:t>
            </a:r>
            <a:r>
              <a:rPr lang="en-US" altLang="zh-CN" b="0" i="0" dirty="0">
                <a:solidFill>
                  <a:srgbClr val="060A26"/>
                </a:solidFill>
                <a:effectLst/>
                <a:latin typeface="PingFang SC"/>
              </a:rPr>
              <a:t>Value </a:t>
            </a:r>
            <a:r>
              <a:rPr lang="zh-CN" altLang="en-US" b="0" i="0" dirty="0">
                <a:solidFill>
                  <a:srgbClr val="060A26"/>
                </a:solidFill>
                <a:effectLst/>
                <a:latin typeface="PingFang SC"/>
              </a:rPr>
              <a:t>向量则来自邻居的交互嵌入 </a:t>
            </a:r>
            <a:r>
              <a:rPr lang="en-US" altLang="zh-CN" b="0" i="0" dirty="0" err="1">
                <a:solidFill>
                  <a:srgbClr val="060A26"/>
                </a:solidFill>
                <a:effectLst/>
                <a:latin typeface="KaTeX_Main"/>
              </a:rPr>
              <a:t>ev</a:t>
            </a:r>
            <a:r>
              <a:rPr lang="en-US" altLang="zh-CN" b="0" i="0" dirty="0">
                <a:solidFill>
                  <a:srgbClr val="060A26"/>
                </a:solidFill>
                <a:effectLst/>
                <a:latin typeface="KaTeX_Main"/>
              </a:rPr>
              <a:t>(l)</a:t>
            </a:r>
            <a:r>
              <a:rPr lang="en-US" altLang="zh-CN" b="1" i="0" dirty="0" err="1">
                <a:solidFill>
                  <a:srgbClr val="060A26"/>
                </a:solidFill>
                <a:effectLst/>
                <a:latin typeface="KaTeX_Main"/>
              </a:rPr>
              <a:t>e</a:t>
            </a:r>
            <a:r>
              <a:rPr lang="en-US" altLang="zh-CN" b="0" i="1" dirty="0" err="1">
                <a:solidFill>
                  <a:srgbClr val="060A26"/>
                </a:solidFill>
                <a:effectLst/>
                <a:latin typeface="KaTeX_Math"/>
              </a:rPr>
              <a:t>v</a:t>
            </a:r>
            <a:r>
              <a:rPr lang="en-US" altLang="zh-CN" b="0" i="0" dirty="0">
                <a:solidFill>
                  <a:srgbClr val="060A26"/>
                </a:solidFill>
                <a:effectLst/>
                <a:latin typeface="KaTeX_Main"/>
              </a:rPr>
              <a:t>(</a:t>
            </a:r>
            <a:r>
              <a:rPr lang="en-US" altLang="zh-CN" b="0" i="1" dirty="0">
                <a:solidFill>
                  <a:srgbClr val="060A26"/>
                </a:solidFill>
                <a:effectLst/>
                <a:latin typeface="KaTeX_Math"/>
              </a:rPr>
              <a:t>l</a:t>
            </a:r>
            <a:r>
              <a:rPr lang="en-US" altLang="zh-CN" b="0" i="0" dirty="0">
                <a:solidFill>
                  <a:srgbClr val="060A26"/>
                </a:solidFill>
                <a:effectLst/>
                <a:latin typeface="KaTeX_Main"/>
              </a:rPr>
              <a:t>)​</a:t>
            </a:r>
            <a:r>
              <a:rPr lang="zh-CN" altLang="en-US" b="0" i="0" dirty="0">
                <a:solidFill>
                  <a:srgbClr val="060A26"/>
                </a:solidFill>
                <a:effectLst/>
                <a:latin typeface="PingFang SC"/>
              </a:rPr>
              <a:t> ；</a:t>
            </a:r>
          </a:p>
          <a:p>
            <a:pPr algn="l">
              <a:buFont typeface="Arial" panose="020B0604020202020204" pitchFamily="34" charset="0"/>
              <a:buChar char="•"/>
            </a:pPr>
            <a:r>
              <a:rPr lang="zh-CN" altLang="en-US" b="0" i="0" dirty="0">
                <a:solidFill>
                  <a:srgbClr val="060A26"/>
                </a:solidFill>
                <a:effectLst/>
                <a:latin typeface="PingFang SC"/>
              </a:rPr>
              <a:t>这样就构建了一个基于语义的注意力机制。</a:t>
            </a:r>
          </a:p>
          <a:p>
            <a:pPr algn="l"/>
            <a:r>
              <a:rPr lang="zh-CN" altLang="en-US" b="0" i="0" dirty="0">
                <a:solidFill>
                  <a:srgbClr val="060A26"/>
                </a:solidFill>
                <a:effectLst/>
                <a:latin typeface="PingFang SC"/>
              </a:rPr>
              <a:t>用户 </a:t>
            </a:r>
            <a:r>
              <a:rPr lang="en-US" altLang="zh-CN" b="0" i="0" dirty="0" err="1">
                <a:solidFill>
                  <a:srgbClr val="060A26"/>
                </a:solidFill>
                <a:effectLst/>
                <a:latin typeface="KaTeX_Main"/>
              </a:rPr>
              <a:t>u</a:t>
            </a:r>
            <a:r>
              <a:rPr lang="en-US" altLang="zh-CN" b="0" i="1" dirty="0" err="1">
                <a:solidFill>
                  <a:srgbClr val="060A26"/>
                </a:solidFill>
                <a:effectLst/>
                <a:latin typeface="KaTeX_Math"/>
              </a:rPr>
              <a:t>u</a:t>
            </a:r>
            <a:r>
              <a:rPr lang="zh-CN" altLang="en-US" b="0" i="0" dirty="0">
                <a:solidFill>
                  <a:srgbClr val="060A26"/>
                </a:solidFill>
                <a:effectLst/>
                <a:latin typeface="PingFang SC"/>
              </a:rPr>
              <a:t> 与其邻居 </a:t>
            </a:r>
            <a:r>
              <a:rPr lang="en-US" altLang="zh-CN" b="0" i="0" dirty="0" err="1">
                <a:solidFill>
                  <a:srgbClr val="060A26"/>
                </a:solidFill>
                <a:effectLst/>
                <a:latin typeface="KaTeX_Main"/>
              </a:rPr>
              <a:t>v</a:t>
            </a:r>
            <a:r>
              <a:rPr lang="en-US" altLang="zh-CN" b="0" i="1" dirty="0" err="1">
                <a:solidFill>
                  <a:srgbClr val="060A26"/>
                </a:solidFill>
                <a:effectLst/>
                <a:latin typeface="KaTeX_Math"/>
              </a:rPr>
              <a:t>v</a:t>
            </a:r>
            <a:r>
              <a:rPr lang="zh-CN" altLang="en-US" b="0" i="0" dirty="0">
                <a:solidFill>
                  <a:srgbClr val="060A26"/>
                </a:solidFill>
                <a:effectLst/>
                <a:latin typeface="PingFang SC"/>
              </a:rPr>
              <a:t> 之间的注意力权重由它们的语义相似度决定：</a:t>
            </a:r>
          </a:p>
          <a:p>
            <a:r>
              <a:rPr lang="en-US" altLang="zh-CN" dirty="0">
                <a:effectLst/>
                <a:latin typeface="KaTeX_Main"/>
              </a:rPr>
              <a:t>α</a:t>
            </a:r>
            <a:r>
              <a:rPr lang="en-US" altLang="zh-CN" dirty="0" err="1">
                <a:effectLst/>
                <a:latin typeface="KaTeX_Main"/>
              </a:rPr>
              <a:t>u,k</a:t>
            </a:r>
            <a:r>
              <a:rPr lang="en-US" altLang="zh-CN" dirty="0">
                <a:effectLst/>
                <a:latin typeface="KaTeX_Main"/>
              </a:rPr>
              <a:t>(l)=</a:t>
            </a:r>
            <a:r>
              <a:rPr lang="en-US" altLang="zh-CN" dirty="0" err="1">
                <a:effectLst/>
                <a:latin typeface="KaTeX_Main"/>
              </a:rPr>
              <a:t>softmax</a:t>
            </a:r>
            <a:r>
              <a:rPr lang="en-US" altLang="zh-CN" dirty="0">
                <a:effectLst/>
                <a:latin typeface="KaTeX_Main"/>
              </a:rPr>
              <a:t>(</a:t>
            </a:r>
            <a:r>
              <a:rPr lang="en-US" altLang="zh-CN" dirty="0" err="1">
                <a:effectLst/>
                <a:latin typeface="KaTeX_Main"/>
              </a:rPr>
              <a:t>qu⊤kvd</a:t>
            </a:r>
            <a:r>
              <a:rPr lang="en-US" altLang="zh-CN" dirty="0">
                <a:effectLst/>
                <a:latin typeface="KaTeX_Main"/>
              </a:rPr>
              <a:t>)</a:t>
            </a:r>
            <a:r>
              <a:rPr lang="en-US" altLang="zh-CN" i="1" dirty="0">
                <a:effectLst/>
                <a:latin typeface="KaTeX_Math"/>
              </a:rPr>
              <a:t>α</a:t>
            </a:r>
            <a:r>
              <a:rPr lang="en-US" altLang="zh-CN" i="1" dirty="0" err="1">
                <a:effectLst/>
                <a:latin typeface="KaTeX_Math"/>
              </a:rPr>
              <a:t>u</a:t>
            </a:r>
            <a:r>
              <a:rPr lang="en-US" altLang="zh-CN" dirty="0" err="1">
                <a:effectLst/>
                <a:latin typeface="KaTeX_Main"/>
              </a:rPr>
              <a:t>,</a:t>
            </a:r>
            <a:r>
              <a:rPr lang="en-US" altLang="zh-CN" i="1" dirty="0" err="1">
                <a:effectLst/>
                <a:latin typeface="KaTeX_Math"/>
              </a:rPr>
              <a:t>k</a:t>
            </a:r>
            <a:r>
              <a:rPr lang="en-US" altLang="zh-CN" dirty="0">
                <a:effectLst/>
                <a:latin typeface="KaTeX_Main"/>
              </a:rPr>
              <a:t>(</a:t>
            </a:r>
            <a:r>
              <a:rPr lang="en-US" altLang="zh-CN" i="1" dirty="0">
                <a:effectLst/>
                <a:latin typeface="KaTeX_Math"/>
              </a:rPr>
              <a:t>l</a:t>
            </a:r>
            <a:r>
              <a:rPr lang="en-US" altLang="zh-CN" dirty="0">
                <a:effectLst/>
                <a:latin typeface="KaTeX_Main"/>
              </a:rPr>
              <a:t>)​=</a:t>
            </a:r>
            <a:r>
              <a:rPr lang="en-US" altLang="zh-CN" dirty="0" err="1">
                <a:effectLst/>
                <a:latin typeface="KaTeX_Main"/>
              </a:rPr>
              <a:t>softmax</a:t>
            </a:r>
            <a:r>
              <a:rPr lang="en-US" altLang="zh-CN" dirty="0">
                <a:effectLst/>
                <a:latin typeface="KaTeX_Size2"/>
              </a:rPr>
              <a:t>(</a:t>
            </a:r>
            <a:r>
              <a:rPr lang="en-US" altLang="zh-CN" i="1" dirty="0">
                <a:effectLst/>
                <a:latin typeface="KaTeX_Math"/>
              </a:rPr>
              <a:t>d</a:t>
            </a:r>
            <a:r>
              <a:rPr lang="zh-CN" altLang="en-US" dirty="0">
                <a:effectLst/>
                <a:latin typeface="KaTeX_Main"/>
              </a:rPr>
              <a:t>​</a:t>
            </a:r>
            <a:r>
              <a:rPr lang="en-US" altLang="zh-CN" b="1" dirty="0" err="1">
                <a:effectLst/>
                <a:latin typeface="KaTeX_Main"/>
              </a:rPr>
              <a:t>q</a:t>
            </a:r>
            <a:r>
              <a:rPr lang="en-US" altLang="zh-CN" i="1" dirty="0" err="1">
                <a:effectLst/>
                <a:latin typeface="KaTeX_Math"/>
              </a:rPr>
              <a:t>u</a:t>
            </a:r>
            <a:r>
              <a:rPr lang="zh-CN" altLang="en-US" dirty="0">
                <a:effectLst/>
                <a:latin typeface="KaTeX_Main"/>
              </a:rPr>
              <a:t>⊤​</a:t>
            </a:r>
            <a:r>
              <a:rPr lang="en-US" altLang="zh-CN" b="1" dirty="0" err="1">
                <a:effectLst/>
                <a:latin typeface="KaTeX_Main"/>
              </a:rPr>
              <a:t>k</a:t>
            </a:r>
            <a:r>
              <a:rPr lang="en-US" altLang="zh-CN" i="1" dirty="0" err="1">
                <a:effectLst/>
                <a:latin typeface="KaTeX_Math"/>
              </a:rPr>
              <a:t>v</a:t>
            </a:r>
            <a:r>
              <a:rPr lang="zh-CN" altLang="en-US" dirty="0">
                <a:effectLst/>
                <a:latin typeface="KaTeX_Main"/>
              </a:rPr>
              <a:t>​​</a:t>
            </a:r>
            <a:r>
              <a:rPr lang="en-US" altLang="zh-CN" dirty="0">
                <a:effectLst/>
                <a:latin typeface="KaTeX_Size2"/>
              </a:rPr>
              <a:t>)</a:t>
            </a:r>
            <a:endParaRPr lang="zh-CN" altLang="en-US" dirty="0">
              <a:effectLst/>
            </a:endParaRPr>
          </a:p>
          <a:p>
            <a:pPr algn="l"/>
            <a:r>
              <a:rPr lang="zh-CN" altLang="en-US" b="0" i="0" dirty="0">
                <a:solidFill>
                  <a:srgbClr val="060A26"/>
                </a:solidFill>
                <a:effectLst/>
                <a:latin typeface="PingFang SC"/>
              </a:rPr>
              <a:t>这个权重反映了：</a:t>
            </a:r>
            <a:r>
              <a:rPr lang="zh-CN" altLang="en-US" b="1" i="0" dirty="0">
                <a:solidFill>
                  <a:srgbClr val="060A26"/>
                </a:solidFill>
                <a:effectLst/>
                <a:latin typeface="PingFang SC"/>
              </a:rPr>
              <a:t>两个节点在语义上越相关，其信息传递就越重要</a:t>
            </a:r>
            <a:r>
              <a:rPr lang="zh-CN" altLang="en-US" b="0" i="0" dirty="0">
                <a:solidFill>
                  <a:srgbClr val="060A26"/>
                </a:solidFill>
                <a:effectLst/>
                <a:latin typeface="PingFang SC"/>
              </a:rPr>
              <a:t>。</a:t>
            </a:r>
          </a:p>
          <a:p>
            <a:pPr algn="l"/>
            <a:r>
              <a:rPr lang="zh-CN" altLang="en-US" b="0" i="0" dirty="0">
                <a:solidFill>
                  <a:srgbClr val="060A26"/>
                </a:solidFill>
                <a:effectLst/>
                <a:latin typeface="PingFang SC"/>
              </a:rPr>
              <a:t>然后，我们根据这些注意力权重，对邻居的交互嵌入进行加权聚合，得到用户 </a:t>
            </a:r>
            <a:r>
              <a:rPr lang="en-US" altLang="zh-CN" b="0" i="0" dirty="0" err="1">
                <a:solidFill>
                  <a:srgbClr val="060A26"/>
                </a:solidFill>
                <a:effectLst/>
                <a:latin typeface="KaTeX_Main"/>
              </a:rPr>
              <a:t>u</a:t>
            </a:r>
            <a:r>
              <a:rPr lang="en-US" altLang="zh-CN" b="0" i="1" dirty="0" err="1">
                <a:solidFill>
                  <a:srgbClr val="060A26"/>
                </a:solidFill>
                <a:effectLst/>
                <a:latin typeface="KaTeX_Math"/>
              </a:rPr>
              <a:t>u</a:t>
            </a:r>
            <a:r>
              <a:rPr lang="zh-CN" altLang="en-US" b="0" i="0" dirty="0">
                <a:solidFill>
                  <a:srgbClr val="060A26"/>
                </a:solidFill>
                <a:effectLst/>
                <a:latin typeface="PingFang SC"/>
              </a:rPr>
              <a:t> 在行为 </a:t>
            </a:r>
            <a:r>
              <a:rPr lang="en-US" altLang="zh-CN" b="0" i="0" dirty="0">
                <a:solidFill>
                  <a:srgbClr val="060A26"/>
                </a:solidFill>
                <a:effectLst/>
                <a:latin typeface="KaTeX_Main"/>
              </a:rPr>
              <a:t>k</a:t>
            </a:r>
            <a:r>
              <a:rPr lang="en-US" altLang="zh-CN" b="0" i="1" dirty="0">
                <a:solidFill>
                  <a:srgbClr val="060A26"/>
                </a:solidFill>
                <a:effectLst/>
                <a:latin typeface="KaTeX_Math"/>
              </a:rPr>
              <a:t>k</a:t>
            </a:r>
            <a:r>
              <a:rPr lang="zh-CN" altLang="en-US" b="0" i="0" dirty="0">
                <a:solidFill>
                  <a:srgbClr val="060A26"/>
                </a:solidFill>
                <a:effectLst/>
                <a:latin typeface="PingFang SC"/>
              </a:rPr>
              <a:t> 下的更新表示：</a:t>
            </a:r>
          </a:p>
          <a:p>
            <a:r>
              <a:rPr lang="en-US" altLang="zh-CN" dirty="0" err="1">
                <a:effectLst/>
                <a:latin typeface="KaTeX_Main"/>
              </a:rPr>
              <a:t>eu,k</a:t>
            </a:r>
            <a:r>
              <a:rPr lang="en-US" altLang="zh-CN" dirty="0">
                <a:effectLst/>
                <a:latin typeface="KaTeX_Main"/>
              </a:rPr>
              <a:t>(l+1)=</a:t>
            </a:r>
            <a:r>
              <a:rPr lang="en-US" altLang="zh-CN" dirty="0" err="1">
                <a:effectLst/>
                <a:latin typeface="KaTeX_Main"/>
              </a:rPr>
              <a:t>LeakyReLU</a:t>
            </a:r>
            <a:r>
              <a:rPr lang="en-US" altLang="zh-CN" dirty="0">
                <a:effectLst/>
                <a:latin typeface="KaTeX_Main"/>
              </a:rPr>
              <a:t>(W(l)⋅∑</a:t>
            </a:r>
            <a:r>
              <a:rPr lang="en-US" altLang="zh-CN" dirty="0" err="1">
                <a:effectLst/>
                <a:latin typeface="KaTeX_Main"/>
              </a:rPr>
              <a:t>i∈Nu,k</a:t>
            </a:r>
            <a:r>
              <a:rPr lang="en-US" altLang="zh-CN" dirty="0">
                <a:effectLst/>
                <a:latin typeface="KaTeX_Main"/>
              </a:rPr>
              <a:t>αuv,k(l)⋅(vv(l)⊙ek(l+1)))</a:t>
            </a:r>
            <a:r>
              <a:rPr lang="en-US" altLang="zh-CN" b="1" dirty="0">
                <a:effectLst/>
                <a:latin typeface="KaTeX_Main"/>
              </a:rPr>
              <a:t>e</a:t>
            </a:r>
            <a:r>
              <a:rPr lang="en-US" altLang="zh-CN" i="1" dirty="0">
                <a:effectLst/>
                <a:latin typeface="KaTeX_Math"/>
              </a:rPr>
              <a:t>u</a:t>
            </a:r>
            <a:r>
              <a:rPr lang="en-US" altLang="zh-CN" dirty="0">
                <a:effectLst/>
                <a:latin typeface="KaTeX_Main"/>
              </a:rPr>
              <a:t>,</a:t>
            </a:r>
            <a:r>
              <a:rPr lang="en-US" altLang="zh-CN" i="1" dirty="0">
                <a:effectLst/>
                <a:latin typeface="KaTeX_Math"/>
              </a:rPr>
              <a:t>k</a:t>
            </a:r>
            <a:r>
              <a:rPr lang="en-US" altLang="zh-CN" dirty="0">
                <a:effectLst/>
                <a:latin typeface="KaTeX_Main"/>
              </a:rPr>
              <a:t>(</a:t>
            </a:r>
            <a:r>
              <a:rPr lang="en-US" altLang="zh-CN" i="1" dirty="0">
                <a:effectLst/>
                <a:latin typeface="KaTeX_Math"/>
              </a:rPr>
              <a:t>l</a:t>
            </a:r>
            <a:r>
              <a:rPr lang="en-US" altLang="zh-CN" dirty="0">
                <a:effectLst/>
                <a:latin typeface="KaTeX_Main"/>
              </a:rPr>
              <a:t>+1)​=LeakyReLU</a:t>
            </a:r>
            <a:r>
              <a:rPr lang="en-US" altLang="zh-CN" dirty="0">
                <a:effectLst/>
                <a:latin typeface="KaTeX_Size2"/>
              </a:rPr>
              <a:t>(</a:t>
            </a:r>
            <a:r>
              <a:rPr lang="en-US" altLang="zh-CN" b="1" dirty="0">
                <a:effectLst/>
                <a:latin typeface="KaTeX_Main"/>
              </a:rPr>
              <a:t>W</a:t>
            </a:r>
            <a:r>
              <a:rPr lang="en-US" altLang="zh-CN" dirty="0">
                <a:effectLst/>
                <a:latin typeface="KaTeX_Main"/>
              </a:rPr>
              <a:t>(</a:t>
            </a:r>
            <a:r>
              <a:rPr lang="en-US" altLang="zh-CN" i="1" dirty="0">
                <a:effectLst/>
                <a:latin typeface="KaTeX_Math"/>
              </a:rPr>
              <a:t>l</a:t>
            </a:r>
            <a:r>
              <a:rPr lang="en-US" altLang="zh-CN" dirty="0">
                <a:effectLst/>
                <a:latin typeface="KaTeX_Main"/>
              </a:rPr>
              <a:t>)⋅</a:t>
            </a:r>
            <a:r>
              <a:rPr lang="zh-CN" altLang="en-US" dirty="0">
                <a:effectLst/>
                <a:latin typeface="KaTeX_Size1"/>
              </a:rPr>
              <a:t>∑</a:t>
            </a:r>
            <a:r>
              <a:rPr lang="en-US" altLang="zh-CN" i="1" dirty="0" err="1">
                <a:effectLst/>
                <a:latin typeface="KaTeX_Math"/>
              </a:rPr>
              <a:t>i</a:t>
            </a:r>
            <a:r>
              <a:rPr lang="zh-CN" altLang="en-US" dirty="0">
                <a:effectLst/>
                <a:latin typeface="KaTeX_Main"/>
              </a:rPr>
              <a:t>∈</a:t>
            </a:r>
            <a:r>
              <a:rPr lang="en-US" altLang="zh-CN" i="1" dirty="0" err="1">
                <a:effectLst/>
                <a:latin typeface="KaTeX_Math"/>
              </a:rPr>
              <a:t>Nu</a:t>
            </a:r>
            <a:r>
              <a:rPr lang="en-US" altLang="zh-CN" dirty="0" err="1">
                <a:effectLst/>
                <a:latin typeface="KaTeX_Main"/>
              </a:rPr>
              <a:t>,</a:t>
            </a:r>
            <a:r>
              <a:rPr lang="en-US" altLang="zh-CN" i="1" dirty="0" err="1">
                <a:effectLst/>
                <a:latin typeface="KaTeX_Math"/>
              </a:rPr>
              <a:t>k</a:t>
            </a:r>
            <a:r>
              <a:rPr lang="zh-CN" altLang="en-US" dirty="0">
                <a:effectLst/>
                <a:latin typeface="KaTeX_Main"/>
              </a:rPr>
              <a:t>​​</a:t>
            </a:r>
            <a:r>
              <a:rPr lang="en-US" altLang="zh-CN" i="1" dirty="0">
                <a:effectLst/>
                <a:latin typeface="KaTeX_Math"/>
              </a:rPr>
              <a:t>α</a:t>
            </a:r>
            <a:r>
              <a:rPr lang="en-US" altLang="zh-CN" i="1" dirty="0" err="1">
                <a:effectLst/>
                <a:latin typeface="KaTeX_Math"/>
              </a:rPr>
              <a:t>uv</a:t>
            </a:r>
            <a:r>
              <a:rPr lang="en-US" altLang="zh-CN" dirty="0" err="1">
                <a:effectLst/>
                <a:latin typeface="KaTeX_Main"/>
              </a:rPr>
              <a:t>,</a:t>
            </a:r>
            <a:r>
              <a:rPr lang="en-US" altLang="zh-CN" i="1" dirty="0" err="1">
                <a:effectLst/>
                <a:latin typeface="KaTeX_Math"/>
              </a:rPr>
              <a:t>k</a:t>
            </a:r>
            <a:r>
              <a:rPr lang="en-US" altLang="zh-CN" dirty="0">
                <a:effectLst/>
                <a:latin typeface="KaTeX_Main"/>
              </a:rPr>
              <a:t>(</a:t>
            </a:r>
            <a:r>
              <a:rPr lang="en-US" altLang="zh-CN" i="1" dirty="0">
                <a:effectLst/>
                <a:latin typeface="KaTeX_Math"/>
              </a:rPr>
              <a:t>l</a:t>
            </a:r>
            <a:r>
              <a:rPr lang="en-US" altLang="zh-CN" dirty="0">
                <a:effectLst/>
                <a:latin typeface="KaTeX_Main"/>
              </a:rPr>
              <a:t>)​⋅</a:t>
            </a:r>
            <a:r>
              <a:rPr lang="en-US" altLang="zh-CN" dirty="0">
                <a:effectLst/>
                <a:latin typeface="KaTeX_Size2"/>
              </a:rPr>
              <a:t>(</a:t>
            </a:r>
            <a:r>
              <a:rPr lang="en-US" altLang="zh-CN" b="1" dirty="0" err="1">
                <a:effectLst/>
                <a:latin typeface="KaTeX_Main"/>
              </a:rPr>
              <a:t>v</a:t>
            </a:r>
            <a:r>
              <a:rPr lang="en-US" altLang="zh-CN" i="1" dirty="0" err="1">
                <a:effectLst/>
                <a:latin typeface="KaTeX_Math"/>
              </a:rPr>
              <a:t>v</a:t>
            </a:r>
            <a:r>
              <a:rPr lang="en-US" altLang="zh-CN" dirty="0">
                <a:effectLst/>
                <a:latin typeface="KaTeX_Main"/>
              </a:rPr>
              <a:t>(</a:t>
            </a:r>
            <a:r>
              <a:rPr lang="en-US" altLang="zh-CN" i="1" dirty="0">
                <a:effectLst/>
                <a:latin typeface="KaTeX_Math"/>
              </a:rPr>
              <a:t>l</a:t>
            </a:r>
            <a:r>
              <a:rPr lang="en-US" altLang="zh-CN" dirty="0">
                <a:effectLst/>
                <a:latin typeface="KaTeX_Main"/>
              </a:rPr>
              <a:t>)​⊙</a:t>
            </a:r>
            <a:r>
              <a:rPr lang="en-US" altLang="zh-CN" b="1" dirty="0" err="1">
                <a:effectLst/>
                <a:latin typeface="KaTeX_Main"/>
              </a:rPr>
              <a:t>e</a:t>
            </a:r>
            <a:r>
              <a:rPr lang="en-US" altLang="zh-CN" i="1" dirty="0" err="1">
                <a:effectLst/>
                <a:latin typeface="KaTeX_Math"/>
              </a:rPr>
              <a:t>k</a:t>
            </a:r>
            <a:r>
              <a:rPr lang="en-US" altLang="zh-CN" dirty="0">
                <a:effectLst/>
                <a:latin typeface="KaTeX_Main"/>
              </a:rPr>
              <a:t>(</a:t>
            </a:r>
            <a:r>
              <a:rPr lang="en-US" altLang="zh-CN" i="1" dirty="0">
                <a:effectLst/>
                <a:latin typeface="KaTeX_Math"/>
              </a:rPr>
              <a:t>l</a:t>
            </a:r>
            <a:r>
              <a:rPr lang="en-US" altLang="zh-CN" dirty="0">
                <a:effectLst/>
                <a:latin typeface="KaTeX_Main"/>
              </a:rPr>
              <a:t>+1)​</a:t>
            </a:r>
            <a:r>
              <a:rPr lang="en-US" altLang="zh-CN" dirty="0">
                <a:effectLst/>
                <a:latin typeface="KaTeX_Size2"/>
              </a:rPr>
              <a:t>))</a:t>
            </a:r>
            <a:endParaRPr lang="zh-CN" altLang="en-US" dirty="0">
              <a:effectLst/>
            </a:endParaRPr>
          </a:p>
          <a:p>
            <a:pPr algn="l"/>
            <a:r>
              <a:rPr lang="zh-CN" altLang="en-US" b="0" i="0" dirty="0">
                <a:solidFill>
                  <a:srgbClr val="060A26"/>
                </a:solidFill>
                <a:effectLst/>
                <a:latin typeface="PingFang SC"/>
              </a:rPr>
              <a:t>其中， </a:t>
            </a:r>
            <a:r>
              <a:rPr lang="zh-CN" altLang="en-US" b="0" i="0" dirty="0">
                <a:solidFill>
                  <a:srgbClr val="060A26"/>
                </a:solidFill>
                <a:effectLst/>
                <a:latin typeface="KaTeX_Main"/>
              </a:rPr>
              <a:t>⊙⊙</a:t>
            </a:r>
            <a:r>
              <a:rPr lang="zh-CN" altLang="en-US" b="0" i="0" dirty="0">
                <a:solidFill>
                  <a:srgbClr val="060A26"/>
                </a:solidFill>
                <a:effectLst/>
                <a:latin typeface="PingFang SC"/>
              </a:rPr>
              <a:t> 是 </a:t>
            </a:r>
            <a:r>
              <a:rPr lang="en-US" altLang="zh-CN" b="0" i="0" dirty="0">
                <a:solidFill>
                  <a:srgbClr val="060A26"/>
                </a:solidFill>
                <a:effectLst/>
                <a:latin typeface="PingFang SC"/>
              </a:rPr>
              <a:t>Hadamard </a:t>
            </a:r>
            <a:r>
              <a:rPr lang="zh-CN" altLang="en-US" b="0" i="0" dirty="0">
                <a:solidFill>
                  <a:srgbClr val="060A26"/>
                </a:solidFill>
                <a:effectLst/>
                <a:latin typeface="PingFang SC"/>
              </a:rPr>
              <a:t>积，用于融合行为类型信息。</a:t>
            </a:r>
          </a:p>
          <a:p>
            <a:pPr algn="l"/>
            <a:r>
              <a:rPr lang="zh-CN" altLang="en-US" b="0" i="0" dirty="0">
                <a:solidFill>
                  <a:srgbClr val="060A26"/>
                </a:solidFill>
                <a:effectLst/>
                <a:latin typeface="PingFang SC"/>
              </a:rPr>
              <a:t>这样，模型就能在传播过程中自动关注那些</a:t>
            </a:r>
            <a:r>
              <a:rPr lang="zh-CN" altLang="en-US" b="1" i="0" dirty="0">
                <a:solidFill>
                  <a:srgbClr val="060A26"/>
                </a:solidFill>
                <a:effectLst/>
                <a:latin typeface="PingFang SC"/>
              </a:rPr>
              <a:t>语义上更相关</a:t>
            </a:r>
            <a:r>
              <a:rPr lang="zh-CN" altLang="en-US" b="0" i="0" dirty="0">
                <a:solidFill>
                  <a:srgbClr val="060A26"/>
                </a:solidFill>
                <a:effectLst/>
                <a:latin typeface="PingFang SC"/>
              </a:rPr>
              <a:t>的邻居，从而提升推荐的准确性和可解释性。</a:t>
            </a:r>
          </a:p>
          <a:p>
            <a:pPr algn="l"/>
            <a:r>
              <a:rPr lang="zh-CN" altLang="en-US" b="0" i="0" dirty="0">
                <a:solidFill>
                  <a:srgbClr val="060A26"/>
                </a:solidFill>
                <a:effectLst/>
                <a:latin typeface="PingFang SC"/>
              </a:rPr>
              <a:t>这个设计的关键在于：</a:t>
            </a:r>
            <a:r>
              <a:rPr lang="zh-CN" altLang="en-US" b="1" i="0" dirty="0">
                <a:solidFill>
                  <a:srgbClr val="060A26"/>
                </a:solidFill>
                <a:effectLst/>
                <a:latin typeface="PingFang SC"/>
              </a:rPr>
              <a:t>让图神经网络“看懂”语义，而不仅仅是“记住”交互</a:t>
            </a:r>
            <a:r>
              <a:rPr lang="zh-CN" altLang="en-US" b="0" i="0" dirty="0">
                <a:solidFill>
                  <a:srgbClr val="060A26"/>
                </a:solidFill>
                <a:effectLst/>
                <a:latin typeface="PingFang SC"/>
              </a:rPr>
              <a:t>。</a:t>
            </a:r>
          </a:p>
          <a:p>
            <a:endParaRPr lang="zh-CN" altLang="en-US" dirty="0"/>
          </a:p>
        </p:txBody>
      </p:sp>
      <p:sp>
        <p:nvSpPr>
          <p:cNvPr id="4" name="灯片编号占位符 3"/>
          <p:cNvSpPr>
            <a:spLocks noGrp="1"/>
          </p:cNvSpPr>
          <p:nvPr>
            <p:ph type="sldNum" sz="quarter" idx="5"/>
          </p:nvPr>
        </p:nvSpPr>
        <p:spPr/>
        <p:txBody>
          <a:bodyPr/>
          <a:lstStyle/>
          <a:p>
            <a:fld id="{FEFA68EA-72A2-4252-BA25-A6764274F607}" type="slidenum">
              <a:rPr lang="zh-CN" altLang="en-US" smtClean="0"/>
              <a:t>22</a:t>
            </a:fld>
            <a:endParaRPr lang="zh-CN" altLang="en-US"/>
          </a:p>
        </p:txBody>
      </p:sp>
    </p:spTree>
    <p:extLst>
      <p:ext uri="{BB962C8B-B14F-4D97-AF65-F5344CB8AC3E}">
        <p14:creationId xmlns:p14="http://schemas.microsoft.com/office/powerpoint/2010/main" val="799057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060A26"/>
                </a:solidFill>
                <a:effectLst/>
                <a:latin typeface="PingFang SC"/>
              </a:rPr>
              <a:t>接下来我介绍本方法中的</a:t>
            </a:r>
            <a:r>
              <a:rPr lang="zh-CN" altLang="en-US" b="1" i="0" dirty="0">
                <a:solidFill>
                  <a:srgbClr val="060A26"/>
                </a:solidFill>
                <a:effectLst/>
                <a:latin typeface="PingFang SC"/>
              </a:rPr>
              <a:t>跨视角对比学习机制</a:t>
            </a:r>
            <a:r>
              <a:rPr lang="zh-CN" altLang="en-US" b="0" i="0" dirty="0">
                <a:solidFill>
                  <a:srgbClr val="060A26"/>
                </a:solidFill>
                <a:effectLst/>
                <a:latin typeface="PingFang SC"/>
              </a:rPr>
              <a:t>。</a:t>
            </a:r>
          </a:p>
          <a:p>
            <a:pPr algn="l"/>
            <a:r>
              <a:rPr lang="zh-CN" altLang="en-US" b="0" i="0" dirty="0">
                <a:solidFill>
                  <a:srgbClr val="060A26"/>
                </a:solidFill>
                <a:effectLst/>
                <a:latin typeface="PingFang SC"/>
              </a:rPr>
              <a:t>我们构建了两个关键的交互图：</a:t>
            </a:r>
          </a:p>
          <a:p>
            <a:pPr algn="l">
              <a:buFont typeface="Arial" panose="020B0604020202020204" pitchFamily="34" charset="0"/>
              <a:buChar char="•"/>
            </a:pPr>
            <a:r>
              <a:rPr lang="zh-CN" altLang="en-US" b="0" i="0" dirty="0">
                <a:solidFill>
                  <a:srgbClr val="060A26"/>
                </a:solidFill>
                <a:effectLst/>
                <a:latin typeface="PingFang SC"/>
              </a:rPr>
              <a:t>一个是增强交互图：通过将模态相似图与原始交互图融合得到，它引入了语义上相关的潜在交互；</a:t>
            </a:r>
          </a:p>
          <a:p>
            <a:pPr algn="l">
              <a:buFont typeface="Arial" panose="020B0604020202020204" pitchFamily="34" charset="0"/>
              <a:buChar char="•"/>
            </a:pPr>
            <a:r>
              <a:rPr lang="zh-CN" altLang="en-US" b="0" i="0" dirty="0">
                <a:solidFill>
                  <a:srgbClr val="060A26"/>
                </a:solidFill>
                <a:effectLst/>
                <a:latin typeface="PingFang SC"/>
              </a:rPr>
              <a:t>另一个是硬去噪交互图：基于语义相似度，对辅助行为中的低质量交互进行了过滤，只保留高置信度的边。</a:t>
            </a:r>
          </a:p>
          <a:p>
            <a:pPr algn="l"/>
            <a:r>
              <a:rPr lang="zh-CN" altLang="en-US" b="0" i="0" dirty="0">
                <a:solidFill>
                  <a:srgbClr val="060A26"/>
                </a:solidFill>
                <a:effectLst/>
                <a:latin typeface="PingFang SC"/>
              </a:rPr>
              <a:t>这两个图代表了两种不同的视角：</a:t>
            </a:r>
          </a:p>
          <a:p>
            <a:pPr algn="l">
              <a:buFont typeface="Arial" panose="020B0604020202020204" pitchFamily="34" charset="0"/>
              <a:buChar char="•"/>
            </a:pPr>
            <a:r>
              <a:rPr lang="zh-CN" altLang="en-US" b="0" i="0" dirty="0">
                <a:solidFill>
                  <a:srgbClr val="060A26"/>
                </a:solidFill>
                <a:effectLst/>
                <a:latin typeface="PingFang SC"/>
              </a:rPr>
              <a:t>增强图偏向“语义扩展”</a:t>
            </a:r>
            <a:r>
              <a:rPr lang="en-US" altLang="zh-CN" b="0" i="0" dirty="0">
                <a:solidFill>
                  <a:srgbClr val="060A26"/>
                </a:solidFill>
                <a:effectLst/>
                <a:latin typeface="PingFang SC"/>
              </a:rPr>
              <a:t>——</a:t>
            </a:r>
            <a:r>
              <a:rPr lang="zh-CN" altLang="en-US" b="0" i="0" dirty="0">
                <a:solidFill>
                  <a:srgbClr val="060A26"/>
                </a:solidFill>
                <a:effectLst/>
                <a:latin typeface="PingFang SC"/>
              </a:rPr>
              <a:t>发现用户可能感兴趣但尚未交互的商品；</a:t>
            </a:r>
          </a:p>
          <a:p>
            <a:pPr algn="l">
              <a:buFont typeface="Arial" panose="020B0604020202020204" pitchFamily="34" charset="0"/>
              <a:buChar char="•"/>
            </a:pPr>
            <a:r>
              <a:rPr lang="zh-CN" altLang="en-US" b="0" i="0" dirty="0">
                <a:solidFill>
                  <a:srgbClr val="060A26"/>
                </a:solidFill>
                <a:effectLst/>
                <a:latin typeface="PingFang SC"/>
              </a:rPr>
              <a:t>去噪图偏向“行为净化”</a:t>
            </a:r>
            <a:r>
              <a:rPr lang="en-US" altLang="zh-CN" b="0" i="0" dirty="0">
                <a:solidFill>
                  <a:srgbClr val="060A26"/>
                </a:solidFill>
                <a:effectLst/>
                <a:latin typeface="PingFang SC"/>
              </a:rPr>
              <a:t>——</a:t>
            </a:r>
            <a:r>
              <a:rPr lang="zh-CN" altLang="en-US" b="0" i="0" dirty="0">
                <a:solidFill>
                  <a:srgbClr val="060A26"/>
                </a:solidFill>
                <a:effectLst/>
                <a:latin typeface="PingFang SC"/>
              </a:rPr>
              <a:t>剔除误触或随机点击等噪声。</a:t>
            </a:r>
          </a:p>
          <a:p>
            <a:pPr algn="l"/>
            <a:r>
              <a:rPr lang="zh-CN" altLang="en-US" b="0" i="0" dirty="0">
                <a:solidFill>
                  <a:srgbClr val="060A26"/>
                </a:solidFill>
                <a:effectLst/>
                <a:latin typeface="PingFang SC"/>
              </a:rPr>
              <a:t>为了统一这两种视角，我们设计了一个</a:t>
            </a:r>
            <a:r>
              <a:rPr lang="zh-CN" altLang="en-US" b="1" i="0" dirty="0">
                <a:solidFill>
                  <a:srgbClr val="060A26"/>
                </a:solidFill>
                <a:effectLst/>
                <a:latin typeface="PingFang SC"/>
              </a:rPr>
              <a:t>对比学习目标</a:t>
            </a:r>
            <a:r>
              <a:rPr lang="zh-CN" altLang="en-US" b="0" i="0" dirty="0">
                <a:solidFill>
                  <a:srgbClr val="060A26"/>
                </a:solidFill>
                <a:effectLst/>
                <a:latin typeface="PingFang SC"/>
              </a:rPr>
              <a:t>：</a:t>
            </a:r>
          </a:p>
          <a:p>
            <a:pPr algn="l">
              <a:buFont typeface="Arial" panose="020B0604020202020204" pitchFamily="34" charset="0"/>
              <a:buChar char="•"/>
            </a:pPr>
            <a:r>
              <a:rPr lang="zh-CN" altLang="en-US" b="0" i="0" dirty="0">
                <a:solidFill>
                  <a:srgbClr val="060A26"/>
                </a:solidFill>
                <a:effectLst/>
                <a:latin typeface="PingFang SC"/>
              </a:rPr>
              <a:t>将同一个用户在这两个图中的嵌入视为正样本对；</a:t>
            </a:r>
          </a:p>
          <a:p>
            <a:pPr algn="l">
              <a:buFont typeface="Arial" panose="020B0604020202020204" pitchFamily="34" charset="0"/>
              <a:buChar char="•"/>
            </a:pPr>
            <a:r>
              <a:rPr lang="zh-CN" altLang="en-US" b="0" i="0" dirty="0">
                <a:solidFill>
                  <a:srgbClr val="060A26"/>
                </a:solidFill>
                <a:effectLst/>
                <a:latin typeface="PingFang SC"/>
              </a:rPr>
              <a:t>鼓励模型拉近它们的表示，同时推开与其他用户的嵌入。</a:t>
            </a:r>
          </a:p>
          <a:p>
            <a:pPr algn="l"/>
            <a:r>
              <a:rPr lang="zh-CN" altLang="en-US" b="0" i="0" dirty="0">
                <a:solidFill>
                  <a:srgbClr val="060A26"/>
                </a:solidFill>
                <a:effectLst/>
                <a:latin typeface="PingFang SC"/>
              </a:rPr>
              <a:t>如公式所示：</a:t>
            </a:r>
          </a:p>
          <a:p>
            <a:r>
              <a:rPr lang="en-US" altLang="zh-CN" dirty="0" err="1">
                <a:effectLst/>
                <a:latin typeface="KaTeX_Main"/>
              </a:rPr>
              <a:t>Lcontrast</a:t>
            </a:r>
            <a:r>
              <a:rPr lang="en-US" altLang="zh-CN" dirty="0">
                <a:effectLst/>
                <a:latin typeface="KaTeX_Main"/>
              </a:rPr>
              <a:t>=−</a:t>
            </a:r>
            <a:r>
              <a:rPr lang="en-US" altLang="zh-CN" dirty="0" err="1">
                <a:effectLst/>
                <a:latin typeface="KaTeX_Main"/>
              </a:rPr>
              <a:t>log⁡exp</a:t>
            </a:r>
            <a:r>
              <a:rPr lang="en-US" altLang="zh-CN" dirty="0">
                <a:effectLst/>
                <a:latin typeface="KaTeX_Main"/>
              </a:rPr>
              <a:t>⁡(sim(</a:t>
            </a:r>
            <a:r>
              <a:rPr lang="en-US" altLang="zh-CN" dirty="0" err="1">
                <a:effectLst/>
                <a:latin typeface="KaTeX_Main"/>
              </a:rPr>
              <a:t>euaug,eudenoise</a:t>
            </a:r>
            <a:r>
              <a:rPr lang="en-US" altLang="zh-CN" dirty="0">
                <a:effectLst/>
                <a:latin typeface="KaTeX_Main"/>
              </a:rPr>
              <a:t>)/τ)∑</a:t>
            </a:r>
            <a:r>
              <a:rPr lang="en-US" altLang="zh-CN" dirty="0" err="1">
                <a:effectLst/>
                <a:latin typeface="KaTeX_Main"/>
              </a:rPr>
              <a:t>v∈Uexp</a:t>
            </a:r>
            <a:r>
              <a:rPr lang="en-US" altLang="zh-CN" dirty="0">
                <a:effectLst/>
                <a:latin typeface="KaTeX_Main"/>
              </a:rPr>
              <a:t>⁡(sim(</a:t>
            </a:r>
            <a:r>
              <a:rPr lang="en-US" altLang="zh-CN" dirty="0" err="1">
                <a:effectLst/>
                <a:latin typeface="KaTeX_Main"/>
              </a:rPr>
              <a:t>euaug,evdenoise</a:t>
            </a:r>
            <a:r>
              <a:rPr lang="en-US" altLang="zh-CN" dirty="0">
                <a:effectLst/>
                <a:latin typeface="KaTeX_Main"/>
              </a:rPr>
              <a:t>)/τ)</a:t>
            </a:r>
            <a:r>
              <a:rPr lang="en-US" altLang="zh-CN" dirty="0" err="1">
                <a:effectLst/>
                <a:latin typeface="KaTeX_Caligraphic"/>
              </a:rPr>
              <a:t>L</a:t>
            </a:r>
            <a:r>
              <a:rPr lang="en-US" altLang="zh-CN" dirty="0" err="1">
                <a:effectLst/>
                <a:latin typeface="KaTeX_Main"/>
              </a:rPr>
              <a:t>contrast</a:t>
            </a:r>
            <a:r>
              <a:rPr lang="en-US" altLang="zh-CN" dirty="0">
                <a:effectLst/>
                <a:latin typeface="KaTeX_Main"/>
              </a:rPr>
              <a:t>​=−log</a:t>
            </a:r>
            <a:r>
              <a:rPr lang="zh-CN" altLang="en-US" dirty="0">
                <a:effectLst/>
                <a:latin typeface="KaTeX_Size1"/>
              </a:rPr>
              <a:t>∑</a:t>
            </a:r>
            <a:r>
              <a:rPr lang="en-US" altLang="zh-CN" i="1" dirty="0">
                <a:effectLst/>
                <a:latin typeface="KaTeX_Math"/>
              </a:rPr>
              <a:t>v</a:t>
            </a:r>
            <a:r>
              <a:rPr lang="zh-CN" altLang="en-US" dirty="0">
                <a:effectLst/>
                <a:latin typeface="KaTeX_Main"/>
              </a:rPr>
              <a:t>∈</a:t>
            </a:r>
            <a:r>
              <a:rPr lang="en-US" altLang="zh-CN" dirty="0">
                <a:effectLst/>
                <a:latin typeface="KaTeX_Caligraphic"/>
              </a:rPr>
              <a:t>U</a:t>
            </a:r>
            <a:r>
              <a:rPr lang="zh-CN" altLang="en-US" dirty="0">
                <a:effectLst/>
                <a:latin typeface="KaTeX_Main"/>
              </a:rPr>
              <a:t>​</a:t>
            </a:r>
            <a:r>
              <a:rPr lang="en-US" altLang="zh-CN" dirty="0">
                <a:effectLst/>
                <a:latin typeface="KaTeX_Main"/>
              </a:rPr>
              <a:t>exp(sim(</a:t>
            </a:r>
            <a:r>
              <a:rPr lang="en-US" altLang="zh-CN" b="1" dirty="0" err="1">
                <a:effectLst/>
                <a:latin typeface="KaTeX_Main"/>
              </a:rPr>
              <a:t>e</a:t>
            </a:r>
            <a:r>
              <a:rPr lang="en-US" altLang="zh-CN" i="1" dirty="0" err="1">
                <a:effectLst/>
                <a:latin typeface="KaTeX_Math"/>
              </a:rPr>
              <a:t>u</a:t>
            </a:r>
            <a:r>
              <a:rPr lang="en-US" altLang="zh-CN" dirty="0" err="1">
                <a:effectLst/>
                <a:latin typeface="KaTeX_Main"/>
              </a:rPr>
              <a:t>aug</a:t>
            </a:r>
            <a:r>
              <a:rPr lang="en-US" altLang="zh-CN" dirty="0">
                <a:effectLst/>
                <a:latin typeface="KaTeX_Main"/>
              </a:rPr>
              <a:t>​,</a:t>
            </a:r>
            <a:r>
              <a:rPr lang="en-US" altLang="zh-CN" b="1" dirty="0" err="1">
                <a:effectLst/>
                <a:latin typeface="KaTeX_Main"/>
              </a:rPr>
              <a:t>e</a:t>
            </a:r>
            <a:r>
              <a:rPr lang="en-US" altLang="zh-CN" i="1" dirty="0" err="1">
                <a:effectLst/>
                <a:latin typeface="KaTeX_Math"/>
              </a:rPr>
              <a:t>v</a:t>
            </a:r>
            <a:r>
              <a:rPr lang="en-US" altLang="zh-CN" dirty="0" err="1">
                <a:effectLst/>
                <a:latin typeface="KaTeX_Main"/>
              </a:rPr>
              <a:t>denoise</a:t>
            </a:r>
            <a:r>
              <a:rPr lang="en-US" altLang="zh-CN" dirty="0">
                <a:effectLst/>
                <a:latin typeface="KaTeX_Main"/>
              </a:rPr>
              <a:t>​)/</a:t>
            </a:r>
            <a:r>
              <a:rPr lang="en-US" altLang="zh-CN" i="1" dirty="0">
                <a:effectLst/>
                <a:latin typeface="KaTeX_Math"/>
              </a:rPr>
              <a:t>τ</a:t>
            </a:r>
            <a:r>
              <a:rPr lang="en-US" altLang="zh-CN" dirty="0">
                <a:effectLst/>
                <a:latin typeface="KaTeX_Main"/>
              </a:rPr>
              <a:t>)exp(sim(</a:t>
            </a:r>
            <a:r>
              <a:rPr lang="en-US" altLang="zh-CN" b="1" dirty="0" err="1">
                <a:effectLst/>
                <a:latin typeface="KaTeX_Main"/>
              </a:rPr>
              <a:t>e</a:t>
            </a:r>
            <a:r>
              <a:rPr lang="en-US" altLang="zh-CN" i="1" dirty="0" err="1">
                <a:effectLst/>
                <a:latin typeface="KaTeX_Math"/>
              </a:rPr>
              <a:t>u</a:t>
            </a:r>
            <a:r>
              <a:rPr lang="en-US" altLang="zh-CN" dirty="0" err="1">
                <a:effectLst/>
                <a:latin typeface="KaTeX_Main"/>
              </a:rPr>
              <a:t>aug</a:t>
            </a:r>
            <a:r>
              <a:rPr lang="en-US" altLang="zh-CN" dirty="0">
                <a:effectLst/>
                <a:latin typeface="KaTeX_Main"/>
              </a:rPr>
              <a:t>​,</a:t>
            </a:r>
            <a:r>
              <a:rPr lang="en-US" altLang="zh-CN" b="1" dirty="0" err="1">
                <a:effectLst/>
                <a:latin typeface="KaTeX_Main"/>
              </a:rPr>
              <a:t>e</a:t>
            </a:r>
            <a:r>
              <a:rPr lang="en-US" altLang="zh-CN" i="1" dirty="0" err="1">
                <a:effectLst/>
                <a:latin typeface="KaTeX_Math"/>
              </a:rPr>
              <a:t>u</a:t>
            </a:r>
            <a:r>
              <a:rPr lang="en-US" altLang="zh-CN" dirty="0" err="1">
                <a:effectLst/>
                <a:latin typeface="KaTeX_Main"/>
              </a:rPr>
              <a:t>denoise</a:t>
            </a:r>
            <a:r>
              <a:rPr lang="en-US" altLang="zh-CN" dirty="0">
                <a:effectLst/>
                <a:latin typeface="KaTeX_Main"/>
              </a:rPr>
              <a:t>​)/</a:t>
            </a:r>
            <a:r>
              <a:rPr lang="en-US" altLang="zh-CN" i="1" dirty="0">
                <a:effectLst/>
                <a:latin typeface="KaTeX_Math"/>
              </a:rPr>
              <a:t>τ</a:t>
            </a:r>
            <a:r>
              <a:rPr lang="en-US" altLang="zh-CN" dirty="0">
                <a:effectLst/>
                <a:latin typeface="KaTeX_Main"/>
              </a:rPr>
              <a:t>)​</a:t>
            </a:r>
            <a:endParaRPr lang="zh-CN" altLang="en-US" dirty="0">
              <a:effectLst/>
            </a:endParaRPr>
          </a:p>
          <a:p>
            <a:pPr algn="l"/>
            <a:r>
              <a:rPr lang="zh-CN" altLang="en-US" b="0" i="0" dirty="0">
                <a:solidFill>
                  <a:srgbClr val="060A26"/>
                </a:solidFill>
                <a:effectLst/>
                <a:latin typeface="PingFang SC"/>
              </a:rPr>
              <a:t>这样，模型就能在</a:t>
            </a:r>
            <a:r>
              <a:rPr lang="zh-CN" altLang="en-US" b="1" i="0" dirty="0">
                <a:solidFill>
                  <a:srgbClr val="060A26"/>
                </a:solidFill>
                <a:effectLst/>
                <a:latin typeface="PingFang SC"/>
              </a:rPr>
              <a:t>探索</a:t>
            </a:r>
            <a:r>
              <a:rPr lang="zh-CN" altLang="en-US" b="0" i="0" dirty="0">
                <a:solidFill>
                  <a:srgbClr val="060A26"/>
                </a:solidFill>
                <a:effectLst/>
                <a:latin typeface="PingFang SC"/>
              </a:rPr>
              <a:t>（</a:t>
            </a:r>
            <a:r>
              <a:rPr lang="en-US" altLang="zh-CN" b="0" i="0" dirty="0">
                <a:solidFill>
                  <a:srgbClr val="060A26"/>
                </a:solidFill>
                <a:effectLst/>
                <a:latin typeface="PingFang SC"/>
              </a:rPr>
              <a:t>enhancement</a:t>
            </a:r>
            <a:r>
              <a:rPr lang="zh-CN" altLang="en-US" b="0" i="0" dirty="0">
                <a:solidFill>
                  <a:srgbClr val="060A26"/>
                </a:solidFill>
                <a:effectLst/>
                <a:latin typeface="PingFang SC"/>
              </a:rPr>
              <a:t>）之间取得平衡，学到更鲁棒、更全面的用户兴趣表示。</a:t>
            </a:r>
          </a:p>
          <a:p>
            <a:pPr algn="l"/>
            <a:r>
              <a:rPr lang="zh-CN" altLang="en-US" b="0" i="0" dirty="0">
                <a:solidFill>
                  <a:srgbClr val="060A26"/>
                </a:solidFill>
                <a:effectLst/>
                <a:latin typeface="PingFang SC"/>
              </a:rPr>
              <a:t>这个设计的关键在于：</a:t>
            </a:r>
            <a:r>
              <a:rPr lang="zh-CN" altLang="en-US" b="1" i="0" dirty="0">
                <a:solidFill>
                  <a:srgbClr val="060A26"/>
                </a:solidFill>
                <a:effectLst/>
                <a:latin typeface="PingFang SC"/>
              </a:rPr>
              <a:t>用语义指导探索，用行为保证可靠，再通过对比学习实现两者对齐</a:t>
            </a:r>
            <a:r>
              <a:rPr lang="zh-CN" altLang="en-US" b="0" i="0" dirty="0">
                <a:solidFill>
                  <a:srgbClr val="060A26"/>
                </a:solidFill>
                <a:effectLst/>
                <a:latin typeface="PingFang SC"/>
              </a:rPr>
              <a:t>。</a:t>
            </a:r>
          </a:p>
          <a:p>
            <a:endParaRPr lang="zh-CN" altLang="en-US" dirty="0"/>
          </a:p>
        </p:txBody>
      </p:sp>
      <p:sp>
        <p:nvSpPr>
          <p:cNvPr id="4" name="灯片编号占位符 3"/>
          <p:cNvSpPr>
            <a:spLocks noGrp="1"/>
          </p:cNvSpPr>
          <p:nvPr>
            <p:ph type="sldNum" sz="quarter" idx="5"/>
          </p:nvPr>
        </p:nvSpPr>
        <p:spPr/>
        <p:txBody>
          <a:bodyPr/>
          <a:lstStyle/>
          <a:p>
            <a:fld id="{FEFA68EA-72A2-4252-BA25-A6764274F607}" type="slidenum">
              <a:rPr lang="zh-CN" altLang="en-US" smtClean="0"/>
              <a:t>23</a:t>
            </a:fld>
            <a:endParaRPr lang="zh-CN" altLang="en-US"/>
          </a:p>
        </p:txBody>
      </p:sp>
    </p:spTree>
    <p:extLst>
      <p:ext uri="{BB962C8B-B14F-4D97-AF65-F5344CB8AC3E}">
        <p14:creationId xmlns:p14="http://schemas.microsoft.com/office/powerpoint/2010/main" val="16079964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162CF86-A8DC-4C51-AEB7-2EC7F2D5E7D1}" type="slidenum">
              <a:rPr lang="zh-CN" altLang="en-US" smtClean="0"/>
              <a:t>25</a:t>
            </a:fld>
            <a:endParaRPr lang="zh-CN" altLang="en-US"/>
          </a:p>
        </p:txBody>
      </p:sp>
    </p:spTree>
    <p:extLst>
      <p:ext uri="{BB962C8B-B14F-4D97-AF65-F5344CB8AC3E}">
        <p14:creationId xmlns:p14="http://schemas.microsoft.com/office/powerpoint/2010/main" val="17462847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ectangle 6"/>
          <p:cNvSpPr/>
          <p:nvPr/>
        </p:nvSpPr>
        <p:spPr>
          <a:xfrm>
            <a:off x="0" y="1512712"/>
            <a:ext cx="12192000" cy="256100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99226" y="1731653"/>
            <a:ext cx="10993549" cy="2123126"/>
          </a:xfrm>
          <a:prstGeom prst="rect">
            <a:avLst/>
          </a:prstGeom>
          <a:effectLst/>
        </p:spPr>
        <p:txBody>
          <a:bodyPr anchor="ctr">
            <a:normAutofit/>
          </a:bodyPr>
          <a:lstStyle>
            <a:lvl1pPr algn="ctr">
              <a:defRPr lang="en-US" altLang="en-US" sz="3600" b="0" kern="1200" cap="none" baseline="0" dirty="0">
                <a:solidFill>
                  <a:schemeClr val="bg1"/>
                </a:solidFill>
                <a:latin typeface="+mj-lt"/>
                <a:ea typeface="+mj-ea"/>
                <a:cs typeface="+mj-cs"/>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581193" y="4194262"/>
            <a:ext cx="10993547" cy="1340999"/>
          </a:xfrm>
        </p:spPr>
        <p:txBody>
          <a:bodyPr anchor="t">
            <a:normAutofit/>
          </a:bodyPr>
          <a:lstStyle>
            <a:lvl1pPr marL="0" indent="0" algn="ctr">
              <a:buNone/>
              <a:defRPr sz="2000" cap="none" baseline="0">
                <a:solidFill>
                  <a:schemeClr val="accent2"/>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zh-CN" altLang="en-US" dirty="0"/>
              <a:t>单击此处编辑母版副标题样式</a:t>
            </a:r>
            <a:endParaRPr lang="en-US" dirty="0"/>
          </a:p>
        </p:txBody>
      </p:sp>
      <p:pic>
        <p:nvPicPr>
          <p:cNvPr id="10" name="图片 9">
            <a:extLst>
              <a:ext uri="{FF2B5EF4-FFF2-40B4-BE49-F238E27FC236}">
                <a16:creationId xmlns:a16="http://schemas.microsoft.com/office/drawing/2014/main" id="{198C1FBC-DB92-8D4C-8889-541C754A53DF}"/>
              </a:ext>
            </a:extLst>
          </p:cNvPr>
          <p:cNvPicPr>
            <a:picLocks noChangeAspect="1"/>
          </p:cNvPicPr>
          <p:nvPr userDrawn="1"/>
        </p:nvPicPr>
        <p:blipFill>
          <a:blip r:embed="rId2"/>
          <a:srcRect/>
          <a:stretch/>
        </p:blipFill>
        <p:spPr>
          <a:xfrm>
            <a:off x="459201" y="272183"/>
            <a:ext cx="4406545" cy="900000"/>
          </a:xfrm>
          <a:prstGeom prst="rect">
            <a:avLst/>
          </a:prstGeom>
        </p:spPr>
      </p:pic>
      <p:sp>
        <p:nvSpPr>
          <p:cNvPr id="9" name="Date Placeholder 3">
            <a:extLst>
              <a:ext uri="{FF2B5EF4-FFF2-40B4-BE49-F238E27FC236}">
                <a16:creationId xmlns:a16="http://schemas.microsoft.com/office/drawing/2014/main" id="{0B807CA4-C594-3747-811D-AECABC927C45}"/>
              </a:ext>
            </a:extLst>
          </p:cNvPr>
          <p:cNvSpPr>
            <a:spLocks noGrp="1"/>
          </p:cNvSpPr>
          <p:nvPr>
            <p:ph type="dt" sz="half" idx="2"/>
          </p:nvPr>
        </p:nvSpPr>
        <p:spPr>
          <a:xfrm>
            <a:off x="7605953" y="5956139"/>
            <a:ext cx="2844799" cy="365125"/>
          </a:xfrm>
          <a:prstGeom prst="rect">
            <a:avLst/>
          </a:prstGeom>
        </p:spPr>
        <p:txBody>
          <a:bodyPr vert="horz" lIns="91440" tIns="45720" rIns="91440" bIns="45720" rtlCol="0" anchor="ctr"/>
          <a:lstStyle>
            <a:lvl1pPr algn="r">
              <a:defRPr sz="900">
                <a:solidFill>
                  <a:schemeClr val="accent2"/>
                </a:solidFill>
              </a:defRPr>
            </a:lvl1pPr>
          </a:lstStyle>
          <a:p>
            <a:fld id="{E4551058-E5DB-324A-A8E9-6D3BEF243C3B}" type="datetimeFigureOut">
              <a:rPr kumimoji="1" lang="zh-CN" altLang="en-US" smtClean="0"/>
              <a:t>2026/1/6</a:t>
            </a:fld>
            <a:endParaRPr kumimoji="1" lang="zh-CN" altLang="en-US"/>
          </a:p>
        </p:txBody>
      </p:sp>
      <p:sp>
        <p:nvSpPr>
          <p:cNvPr id="11" name="Footer Placeholder 4">
            <a:extLst>
              <a:ext uri="{FF2B5EF4-FFF2-40B4-BE49-F238E27FC236}">
                <a16:creationId xmlns:a16="http://schemas.microsoft.com/office/drawing/2014/main" id="{20223C87-E140-FC47-8247-2D68FF33A865}"/>
              </a:ext>
            </a:extLst>
          </p:cNvPr>
          <p:cNvSpPr>
            <a:spLocks noGrp="1"/>
          </p:cNvSpPr>
          <p:nvPr>
            <p:ph type="ftr" sz="quarter" idx="3"/>
          </p:nvPr>
        </p:nvSpPr>
        <p:spPr>
          <a:xfrm>
            <a:off x="581192" y="5951813"/>
            <a:ext cx="6917211" cy="365125"/>
          </a:xfrm>
          <a:prstGeom prst="rect">
            <a:avLst/>
          </a:prstGeom>
        </p:spPr>
        <p:txBody>
          <a:bodyPr vert="horz" lIns="91440" tIns="45720" rIns="91440" bIns="45720" rtlCol="0" anchor="ctr"/>
          <a:lstStyle>
            <a:lvl1pPr algn="l">
              <a:defRPr sz="900" cap="all">
                <a:solidFill>
                  <a:schemeClr val="accent2"/>
                </a:solidFill>
              </a:defRPr>
            </a:lvl1pPr>
          </a:lstStyle>
          <a:p>
            <a:endParaRPr kumimoji="1" lang="zh-CN" altLang="en-US"/>
          </a:p>
        </p:txBody>
      </p:sp>
      <p:sp>
        <p:nvSpPr>
          <p:cNvPr id="12" name="Slide Number Placeholder 5">
            <a:extLst>
              <a:ext uri="{FF2B5EF4-FFF2-40B4-BE49-F238E27FC236}">
                <a16:creationId xmlns:a16="http://schemas.microsoft.com/office/drawing/2014/main" id="{4E42ACB8-E538-4440-8190-A3204936344D}"/>
              </a:ext>
            </a:extLst>
          </p:cNvPr>
          <p:cNvSpPr>
            <a:spLocks noGrp="1"/>
          </p:cNvSpPr>
          <p:nvPr>
            <p:ph type="sldNum" sz="quarter" idx="4"/>
          </p:nvPr>
        </p:nvSpPr>
        <p:spPr>
          <a:xfrm>
            <a:off x="10558301" y="5956139"/>
            <a:ext cx="1052511" cy="365125"/>
          </a:xfrm>
          <a:prstGeom prst="rect">
            <a:avLst/>
          </a:prstGeom>
        </p:spPr>
        <p:txBody>
          <a:bodyPr vert="horz" lIns="91440" tIns="45720" rIns="91440" bIns="45720" rtlCol="0" anchor="ctr"/>
          <a:lstStyle>
            <a:lvl1pPr algn="r">
              <a:defRPr sz="900">
                <a:solidFill>
                  <a:schemeClr val="accent2"/>
                </a:solidFill>
              </a:defRPr>
            </a:lvl1pPr>
          </a:lstStyle>
          <a:p>
            <a:fld id="{977BA8E6-E826-B147-AA17-E3D76A29629C}" type="slidenum">
              <a:rPr kumimoji="1" lang="zh-CN" altLang="en-US" smtClean="0"/>
              <a:t>‹#›</a:t>
            </a:fld>
            <a:endParaRPr kumimoji="1" lang="zh-CN" altLang="en-US"/>
          </a:p>
        </p:txBody>
      </p:sp>
    </p:spTree>
    <p:extLst>
      <p:ext uri="{BB962C8B-B14F-4D97-AF65-F5344CB8AC3E}">
        <p14:creationId xmlns:p14="http://schemas.microsoft.com/office/powerpoint/2010/main" val="93499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4" y="2180498"/>
            <a:ext cx="11029615" cy="367830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E4551058-E5DB-324A-A8E9-6D3BEF243C3B}" type="datetimeFigureOut">
              <a:rPr kumimoji="1" lang="zh-CN" altLang="en-US" smtClean="0"/>
              <a:t>2026/1/6</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a:xfrm>
            <a:off x="10558301" y="5956139"/>
            <a:ext cx="1052508" cy="365125"/>
          </a:xfrm>
        </p:spPr>
        <p:txBody>
          <a:bodyPr/>
          <a:lstStyle/>
          <a:p>
            <a:fld id="{977BA8E6-E826-B147-AA17-E3D76A29629C}" type="slidenum">
              <a:rPr kumimoji="1" lang="zh-CN" altLang="en-US" smtClean="0"/>
              <a:t>‹#›</a:t>
            </a:fld>
            <a:endParaRPr kumimoji="1" lang="zh-CN" altLang="en-US"/>
          </a:p>
        </p:txBody>
      </p:sp>
      <p:sp>
        <p:nvSpPr>
          <p:cNvPr id="2" name="标题 1">
            <a:extLst>
              <a:ext uri="{FF2B5EF4-FFF2-40B4-BE49-F238E27FC236}">
                <a16:creationId xmlns:a16="http://schemas.microsoft.com/office/drawing/2014/main" id="{C5D466B2-7417-6A44-93CE-B6AD2C9CEBFC}"/>
              </a:ext>
            </a:extLst>
          </p:cNvPr>
          <p:cNvSpPr>
            <a:spLocks noGrp="1"/>
          </p:cNvSpPr>
          <p:nvPr>
            <p:ph type="title"/>
          </p:nvPr>
        </p:nvSpPr>
        <p:spPr/>
        <p:txBody>
          <a:bodyPr/>
          <a:lstStyle>
            <a:lvl1pPr>
              <a:defRPr cap="none" baseline="0"/>
            </a:lvl1pPr>
          </a:lstStyle>
          <a:p>
            <a:r>
              <a:rPr kumimoji="1" lang="zh-CN" altLang="en-US" dirty="0"/>
              <a:t>单击此处编辑母版标题样式</a:t>
            </a:r>
          </a:p>
        </p:txBody>
      </p:sp>
      <p:sp>
        <p:nvSpPr>
          <p:cNvPr id="12" name="文本占位符 11">
            <a:extLst>
              <a:ext uri="{FF2B5EF4-FFF2-40B4-BE49-F238E27FC236}">
                <a16:creationId xmlns:a16="http://schemas.microsoft.com/office/drawing/2014/main" id="{3DED5B16-7C93-669F-0780-4D8A05A7A7D7}"/>
              </a:ext>
            </a:extLst>
          </p:cNvPr>
          <p:cNvSpPr>
            <a:spLocks noGrp="1"/>
          </p:cNvSpPr>
          <p:nvPr>
            <p:ph type="body" sz="quarter" idx="13"/>
          </p:nvPr>
        </p:nvSpPr>
        <p:spPr>
          <a:xfrm>
            <a:off x="270376" y="1195961"/>
            <a:ext cx="10795605" cy="540000"/>
          </a:xfrm>
        </p:spPr>
        <p:txBody>
          <a:bodyPr anchor="ctr" anchorCtr="0"/>
          <a:lstStyle>
            <a:lvl1pPr marL="0" indent="0">
              <a:buNone/>
              <a:defRPr sz="2000" baseline="0">
                <a:solidFill>
                  <a:srgbClr val="215CC1"/>
                </a:solidFill>
                <a:latin typeface="+mj-lt"/>
                <a:ea typeface="+mj-ea"/>
              </a:defRPr>
            </a:lvl1pPr>
          </a:lstStyle>
          <a:p>
            <a:pPr lvl="0"/>
            <a:endParaRPr lang="zh-CN" altLang="en-US" dirty="0"/>
          </a:p>
        </p:txBody>
      </p:sp>
    </p:spTree>
    <p:extLst>
      <p:ext uri="{BB962C8B-B14F-4D97-AF65-F5344CB8AC3E}">
        <p14:creationId xmlns:p14="http://schemas.microsoft.com/office/powerpoint/2010/main" val="34099048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sp>
        <p:nvSpPr>
          <p:cNvPr id="14" name="Rectangle 6">
            <a:extLst>
              <a:ext uri="{FF2B5EF4-FFF2-40B4-BE49-F238E27FC236}">
                <a16:creationId xmlns:a16="http://schemas.microsoft.com/office/drawing/2014/main" id="{712CA51D-FD70-C947-AA2A-7D31051F37F6}"/>
              </a:ext>
            </a:extLst>
          </p:cNvPr>
          <p:cNvSpPr>
            <a:spLocks noChangeAspect="1"/>
          </p:cNvSpPr>
          <p:nvPr userDrawn="1"/>
        </p:nvSpPr>
        <p:spPr>
          <a:xfrm>
            <a:off x="2" y="0"/>
            <a:ext cx="3488007"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4" name="Date Placeholder 3"/>
          <p:cNvSpPr>
            <a:spLocks noGrp="1"/>
          </p:cNvSpPr>
          <p:nvPr>
            <p:ph type="dt" sz="half" idx="10"/>
          </p:nvPr>
        </p:nvSpPr>
        <p:spPr/>
        <p:txBody>
          <a:bodyPr/>
          <a:lstStyle/>
          <a:p>
            <a:fld id="{E4551058-E5DB-324A-A8E9-6D3BEF243C3B}" type="datetimeFigureOut">
              <a:rPr kumimoji="1" lang="zh-CN" altLang="en-US" smtClean="0"/>
              <a:t>2026/1/6</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a:xfrm>
            <a:off x="10558301" y="5956139"/>
            <a:ext cx="1052508" cy="365125"/>
          </a:xfrm>
        </p:spPr>
        <p:txBody>
          <a:bodyPr/>
          <a:lstStyle/>
          <a:p>
            <a:fld id="{977BA8E6-E826-B147-AA17-E3D76A29629C}" type="slidenum">
              <a:rPr kumimoji="1" lang="zh-CN" altLang="en-US" smtClean="0"/>
              <a:t>‹#›</a:t>
            </a:fld>
            <a:endParaRPr kumimoji="1" lang="zh-CN" altLang="en-US"/>
          </a:p>
        </p:txBody>
      </p:sp>
      <p:sp>
        <p:nvSpPr>
          <p:cNvPr id="12" name="Title 1">
            <a:extLst>
              <a:ext uri="{FF2B5EF4-FFF2-40B4-BE49-F238E27FC236}">
                <a16:creationId xmlns:a16="http://schemas.microsoft.com/office/drawing/2014/main" id="{E05C3A77-996F-D547-A946-FD706C8EF29B}"/>
              </a:ext>
            </a:extLst>
          </p:cNvPr>
          <p:cNvSpPr>
            <a:spLocks noGrp="1"/>
          </p:cNvSpPr>
          <p:nvPr>
            <p:ph type="title"/>
          </p:nvPr>
        </p:nvSpPr>
        <p:spPr>
          <a:xfrm>
            <a:off x="248291" y="1964075"/>
            <a:ext cx="2991424" cy="2929850"/>
          </a:xfrm>
          <a:prstGeom prst="rect">
            <a:avLst/>
          </a:prstGeom>
        </p:spPr>
        <p:txBody>
          <a:bodyPr anchor="ctr">
            <a:normAutofit/>
          </a:bodyPr>
          <a:lstStyle>
            <a:lvl1pPr algn="ctr">
              <a:defRPr sz="3600" cap="none" baseline="0"/>
            </a:lvl1pPr>
          </a:lstStyle>
          <a:p>
            <a:r>
              <a:rPr lang="zh-CN" altLang="en-US" dirty="0"/>
              <a:t>单击此处编辑母版标题样式</a:t>
            </a:r>
            <a:endParaRPr lang="en-US" dirty="0"/>
          </a:p>
        </p:txBody>
      </p:sp>
      <p:sp>
        <p:nvSpPr>
          <p:cNvPr id="9" name="Content Placeholder 2">
            <a:extLst>
              <a:ext uri="{FF2B5EF4-FFF2-40B4-BE49-F238E27FC236}">
                <a16:creationId xmlns:a16="http://schemas.microsoft.com/office/drawing/2014/main" id="{96EA75F0-3C7C-6E4E-BC95-17186F7990B4}"/>
              </a:ext>
            </a:extLst>
          </p:cNvPr>
          <p:cNvSpPr>
            <a:spLocks noGrp="1"/>
          </p:cNvSpPr>
          <p:nvPr>
            <p:ph idx="1"/>
          </p:nvPr>
        </p:nvSpPr>
        <p:spPr>
          <a:xfrm>
            <a:off x="5544290" y="1137357"/>
            <a:ext cx="6066519" cy="4583289"/>
          </a:xfrm>
        </p:spPr>
        <p:txBody>
          <a:bodyPr anchor="ctr">
            <a:normAutofit/>
          </a:bodyPr>
          <a:lstStyle>
            <a:lvl1pPr algn="l">
              <a:defRPr sz="3200"/>
            </a:lvl1pPr>
            <a:lvl2pPr algn="l">
              <a:defRPr sz="2800"/>
            </a:lvl2pPr>
            <a:lvl3pPr algn="l">
              <a:defRPr sz="2400"/>
            </a:lvl3pPr>
            <a:lvl4pPr algn="l">
              <a:defRPr sz="2000"/>
            </a:lvl4pPr>
            <a:lvl5pPr algn="l">
              <a:defRPr sz="2000"/>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pic>
        <p:nvPicPr>
          <p:cNvPr id="10" name="图片 9">
            <a:extLst>
              <a:ext uri="{FF2B5EF4-FFF2-40B4-BE49-F238E27FC236}">
                <a16:creationId xmlns:a16="http://schemas.microsoft.com/office/drawing/2014/main" id="{5E98806B-B47C-4F4E-99EE-E81C923B8C56}"/>
              </a:ext>
            </a:extLst>
          </p:cNvPr>
          <p:cNvPicPr>
            <a:picLocks noChangeAspect="1"/>
          </p:cNvPicPr>
          <p:nvPr userDrawn="1"/>
        </p:nvPicPr>
        <p:blipFill>
          <a:blip r:embed="rId2"/>
          <a:srcRect/>
          <a:stretch/>
        </p:blipFill>
        <p:spPr>
          <a:xfrm>
            <a:off x="1236124" y="146434"/>
            <a:ext cx="1015763" cy="911885"/>
          </a:xfrm>
          <a:prstGeom prst="rect">
            <a:avLst/>
          </a:prstGeom>
        </p:spPr>
      </p:pic>
    </p:spTree>
    <p:extLst>
      <p:ext uri="{BB962C8B-B14F-4D97-AF65-F5344CB8AC3E}">
        <p14:creationId xmlns:p14="http://schemas.microsoft.com/office/powerpoint/2010/main" val="29961592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8" name="Rectangle 7"/>
          <p:cNvSpPr>
            <a:spLocks noChangeAspect="1"/>
          </p:cNvSpPr>
          <p:nvPr/>
        </p:nvSpPr>
        <p:spPr>
          <a:xfrm>
            <a:off x="0" y="5141976"/>
            <a:ext cx="1219200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9" name="图片 8">
            <a:extLst>
              <a:ext uri="{FF2B5EF4-FFF2-40B4-BE49-F238E27FC236}">
                <a16:creationId xmlns:a16="http://schemas.microsoft.com/office/drawing/2014/main" id="{B4B44660-41EC-A14F-B294-9C3C6742590D}"/>
              </a:ext>
            </a:extLst>
          </p:cNvPr>
          <p:cNvPicPr>
            <a:picLocks noChangeAspect="1"/>
          </p:cNvPicPr>
          <p:nvPr userDrawn="1"/>
        </p:nvPicPr>
        <p:blipFill>
          <a:blip r:embed="rId2"/>
          <a:srcRect/>
          <a:stretch/>
        </p:blipFill>
        <p:spPr>
          <a:xfrm>
            <a:off x="11072241" y="5311711"/>
            <a:ext cx="1015763" cy="911885"/>
          </a:xfrm>
          <a:prstGeom prst="rect">
            <a:avLst/>
          </a:prstGeom>
        </p:spPr>
      </p:pic>
      <p:sp>
        <p:nvSpPr>
          <p:cNvPr id="2" name="Title 1"/>
          <p:cNvSpPr>
            <a:spLocks noGrp="1"/>
          </p:cNvSpPr>
          <p:nvPr>
            <p:ph type="title"/>
          </p:nvPr>
        </p:nvSpPr>
        <p:spPr>
          <a:xfrm>
            <a:off x="581194" y="3043912"/>
            <a:ext cx="11029615" cy="1497507"/>
          </a:xfrm>
          <a:prstGeom prst="rect">
            <a:avLst/>
          </a:prstGeom>
        </p:spPr>
        <p:txBody>
          <a:bodyPr anchor="b">
            <a:normAutofit/>
          </a:bodyPr>
          <a:lstStyle>
            <a:lvl1pPr algn="l">
              <a:defRPr sz="3600" b="0" cap="none" baseline="0">
                <a:solidFill>
                  <a:schemeClr val="accent1"/>
                </a:solidFill>
              </a:defRPr>
            </a:lvl1pPr>
          </a:lstStyle>
          <a:p>
            <a:r>
              <a:rPr lang="zh-CN" altLang="en-US" dirty="0"/>
              <a:t>单击此处编辑母版标题样式</a:t>
            </a:r>
            <a:endParaRPr lang="en-US" dirty="0"/>
          </a:p>
        </p:txBody>
      </p:sp>
      <p:sp>
        <p:nvSpPr>
          <p:cNvPr id="3" name="Text Placeholder 2"/>
          <p:cNvSpPr>
            <a:spLocks noGrp="1"/>
          </p:cNvSpPr>
          <p:nvPr>
            <p:ph type="body" idx="1"/>
          </p:nvPr>
        </p:nvSpPr>
        <p:spPr>
          <a:xfrm>
            <a:off x="581194" y="4541417"/>
            <a:ext cx="11029615" cy="600556"/>
          </a:xfrm>
        </p:spPr>
        <p:txBody>
          <a:bodyPr anchor="t">
            <a:normAutofit/>
          </a:bodyPr>
          <a:lstStyle>
            <a:lvl1pPr marL="0" indent="0" algn="l">
              <a:buNone/>
              <a:defRPr sz="1800" cap="none" baseline="0">
                <a:solidFill>
                  <a:schemeClr val="accent2"/>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zh-CN" altLang="en-US" dirty="0"/>
              <a:t>单击此处编辑母版文本样式</a:t>
            </a:r>
          </a:p>
        </p:txBody>
      </p:sp>
      <p:sp>
        <p:nvSpPr>
          <p:cNvPr id="10" name="Date Placeholder 4">
            <a:extLst>
              <a:ext uri="{FF2B5EF4-FFF2-40B4-BE49-F238E27FC236}">
                <a16:creationId xmlns:a16="http://schemas.microsoft.com/office/drawing/2014/main" id="{A0E62274-98AF-2241-9A77-674A409D7235}"/>
              </a:ext>
            </a:extLst>
          </p:cNvPr>
          <p:cNvSpPr>
            <a:spLocks noGrp="1"/>
          </p:cNvSpPr>
          <p:nvPr>
            <p:ph type="dt" sz="half" idx="10"/>
          </p:nvPr>
        </p:nvSpPr>
        <p:spPr>
          <a:xfrm>
            <a:off x="7605953" y="5956139"/>
            <a:ext cx="2844799" cy="365125"/>
          </a:xfrm>
        </p:spPr>
        <p:txBody>
          <a:bodyPr/>
          <a:lstStyle>
            <a:lvl1pPr>
              <a:defRPr>
                <a:solidFill>
                  <a:schemeClr val="accent1">
                    <a:lumMod val="75000"/>
                    <a:lumOff val="25000"/>
                  </a:schemeClr>
                </a:solidFill>
              </a:defRPr>
            </a:lvl1pPr>
          </a:lstStyle>
          <a:p>
            <a:fld id="{E4551058-E5DB-324A-A8E9-6D3BEF243C3B}" type="datetimeFigureOut">
              <a:rPr kumimoji="1" lang="zh-CN" altLang="en-US" smtClean="0"/>
              <a:t>2026/1/6</a:t>
            </a:fld>
            <a:endParaRPr kumimoji="1" lang="zh-CN" altLang="en-US" dirty="0"/>
          </a:p>
        </p:txBody>
      </p:sp>
      <p:sp>
        <p:nvSpPr>
          <p:cNvPr id="11" name="Footer Placeholder 5">
            <a:extLst>
              <a:ext uri="{FF2B5EF4-FFF2-40B4-BE49-F238E27FC236}">
                <a16:creationId xmlns:a16="http://schemas.microsoft.com/office/drawing/2014/main" id="{CEBDF014-FCAB-094A-9CD9-F9DA807CDF98}"/>
              </a:ext>
            </a:extLst>
          </p:cNvPr>
          <p:cNvSpPr>
            <a:spLocks noGrp="1"/>
          </p:cNvSpPr>
          <p:nvPr>
            <p:ph type="ftr" sz="quarter" idx="11"/>
          </p:nvPr>
        </p:nvSpPr>
        <p:spPr>
          <a:xfrm>
            <a:off x="581192" y="5951813"/>
            <a:ext cx="6917211" cy="365125"/>
          </a:xfrm>
        </p:spPr>
        <p:txBody>
          <a:bodyPr/>
          <a:lstStyle>
            <a:lvl1pPr>
              <a:defRPr>
                <a:solidFill>
                  <a:schemeClr val="accent1">
                    <a:lumMod val="75000"/>
                    <a:lumOff val="25000"/>
                  </a:schemeClr>
                </a:solidFill>
              </a:defRPr>
            </a:lvl1pPr>
          </a:lstStyle>
          <a:p>
            <a:endParaRPr kumimoji="1" lang="zh-CN" altLang="en-US"/>
          </a:p>
        </p:txBody>
      </p:sp>
      <p:sp>
        <p:nvSpPr>
          <p:cNvPr id="12" name="Slide Number Placeholder 6">
            <a:extLst>
              <a:ext uri="{FF2B5EF4-FFF2-40B4-BE49-F238E27FC236}">
                <a16:creationId xmlns:a16="http://schemas.microsoft.com/office/drawing/2014/main" id="{6A392C9B-44C0-6644-BD6C-E143FA2F8C1D}"/>
              </a:ext>
            </a:extLst>
          </p:cNvPr>
          <p:cNvSpPr>
            <a:spLocks noGrp="1"/>
          </p:cNvSpPr>
          <p:nvPr>
            <p:ph type="sldNum" sz="quarter" idx="12"/>
          </p:nvPr>
        </p:nvSpPr>
        <p:spPr>
          <a:xfrm>
            <a:off x="10558301" y="5956139"/>
            <a:ext cx="513940" cy="365125"/>
          </a:xfrm>
        </p:spPr>
        <p:txBody>
          <a:bodyPr/>
          <a:lstStyle>
            <a:lvl1pPr>
              <a:defRPr>
                <a:solidFill>
                  <a:schemeClr val="accent1">
                    <a:lumMod val="75000"/>
                    <a:lumOff val="25000"/>
                  </a:schemeClr>
                </a:solidFill>
              </a:defRPr>
            </a:lvl1pPr>
          </a:lstStyle>
          <a:p>
            <a:fld id="{977BA8E6-E826-B147-AA17-E3D76A29629C}" type="slidenum">
              <a:rPr kumimoji="1" lang="zh-CN" altLang="en-US" smtClean="0"/>
              <a:t>‹#›</a:t>
            </a:fld>
            <a:endParaRPr kumimoji="1" lang="zh-CN" altLang="en-US" dirty="0"/>
          </a:p>
        </p:txBody>
      </p:sp>
    </p:spTree>
    <p:extLst>
      <p:ext uri="{BB962C8B-B14F-4D97-AF65-F5344CB8AC3E}">
        <p14:creationId xmlns:p14="http://schemas.microsoft.com/office/powerpoint/2010/main" val="22826678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81194" y="2228004"/>
            <a:ext cx="5422391" cy="3633047"/>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88417" y="2228004"/>
            <a:ext cx="5422392" cy="3633047"/>
          </a:xfrm>
        </p:spPr>
        <p:txBody>
          <a:bodyPr>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E4551058-E5DB-324A-A8E9-6D3BEF243C3B}" type="datetimeFigureOut">
              <a:rPr kumimoji="1" lang="zh-CN" altLang="en-US" smtClean="0"/>
              <a:t>2026/1/6</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977BA8E6-E826-B147-AA17-E3D76A29629C}" type="slidenum">
              <a:rPr kumimoji="1" lang="zh-CN" altLang="en-US" smtClean="0"/>
              <a:t>‹#›</a:t>
            </a:fld>
            <a:endParaRPr kumimoji="1" lang="zh-CN" altLang="en-US"/>
          </a:p>
        </p:txBody>
      </p:sp>
      <p:sp>
        <p:nvSpPr>
          <p:cNvPr id="2" name="标题 1">
            <a:extLst>
              <a:ext uri="{FF2B5EF4-FFF2-40B4-BE49-F238E27FC236}">
                <a16:creationId xmlns:a16="http://schemas.microsoft.com/office/drawing/2014/main" id="{66943B4F-7DD9-1B4F-B557-A91CFB8F74EC}"/>
              </a:ext>
            </a:extLst>
          </p:cNvPr>
          <p:cNvSpPr>
            <a:spLocks noGrp="1"/>
          </p:cNvSpPr>
          <p:nvPr>
            <p:ph type="title"/>
          </p:nvPr>
        </p:nvSpPr>
        <p:spPr/>
        <p:txBody>
          <a:bodyPr/>
          <a:lstStyle>
            <a:lvl1pPr>
              <a:defRPr cap="none" baseline="0"/>
            </a:lvl1pPr>
          </a:lstStyle>
          <a:p>
            <a:r>
              <a:rPr kumimoji="1" lang="zh-CN" altLang="en-US" dirty="0"/>
              <a:t>单击此处编辑母版标题样式</a:t>
            </a:r>
          </a:p>
        </p:txBody>
      </p:sp>
      <p:sp>
        <p:nvSpPr>
          <p:cNvPr id="8" name="文本占位符 11">
            <a:extLst>
              <a:ext uri="{FF2B5EF4-FFF2-40B4-BE49-F238E27FC236}">
                <a16:creationId xmlns:a16="http://schemas.microsoft.com/office/drawing/2014/main" id="{64A3A72A-ADE3-7B0B-766A-FAC2FB9C354D}"/>
              </a:ext>
            </a:extLst>
          </p:cNvPr>
          <p:cNvSpPr>
            <a:spLocks noGrp="1"/>
          </p:cNvSpPr>
          <p:nvPr>
            <p:ph type="body" sz="quarter" idx="13"/>
          </p:nvPr>
        </p:nvSpPr>
        <p:spPr>
          <a:xfrm>
            <a:off x="270376" y="1195961"/>
            <a:ext cx="10795605" cy="540000"/>
          </a:xfrm>
        </p:spPr>
        <p:txBody>
          <a:bodyPr anchor="ctr" anchorCtr="0"/>
          <a:lstStyle>
            <a:lvl1pPr marL="0" indent="0">
              <a:buNone/>
              <a:defRPr sz="2000">
                <a:solidFill>
                  <a:srgbClr val="215CC1"/>
                </a:solidFill>
                <a:latin typeface="+mj-lt"/>
                <a:ea typeface="+mj-ea"/>
              </a:defRPr>
            </a:lvl1pPr>
          </a:lstStyle>
          <a:p>
            <a:pPr lvl="0"/>
            <a:endParaRPr lang="zh-CN" altLang="en-US" dirty="0"/>
          </a:p>
        </p:txBody>
      </p:sp>
    </p:spTree>
    <p:extLst>
      <p:ext uri="{BB962C8B-B14F-4D97-AF65-F5344CB8AC3E}">
        <p14:creationId xmlns:p14="http://schemas.microsoft.com/office/powerpoint/2010/main" val="40146183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87220" y="2250894"/>
            <a:ext cx="5087075" cy="536005"/>
          </a:xfrm>
        </p:spPr>
        <p:txBody>
          <a:bodyPr anchor="b">
            <a:noAutofit/>
          </a:bodyPr>
          <a:lstStyle>
            <a:lvl1pPr marL="0" indent="0">
              <a:buNone/>
              <a:defRPr sz="2200" b="0">
                <a:solidFill>
                  <a:schemeClr val="accent2"/>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581195" y="2926054"/>
            <a:ext cx="5393100" cy="2934999"/>
          </a:xfrm>
        </p:spPr>
        <p:txBody>
          <a:bodyPr anchor="t">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523737" y="2250894"/>
            <a:ext cx="5087073" cy="553373"/>
          </a:xfrm>
        </p:spPr>
        <p:txBody>
          <a:bodyPr anchor="b">
            <a:noAutofit/>
          </a:bodyPr>
          <a:lstStyle>
            <a:lvl1pPr marL="0" indent="0">
              <a:buNone/>
              <a:defRPr sz="2200" b="0">
                <a:solidFill>
                  <a:schemeClr val="accent2"/>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217710" y="2926054"/>
            <a:ext cx="5393100" cy="2934999"/>
          </a:xfrm>
        </p:spPr>
        <p:txBody>
          <a:bodyPr anchor="t">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E4551058-E5DB-324A-A8E9-6D3BEF243C3B}" type="datetimeFigureOut">
              <a:rPr kumimoji="1" lang="zh-CN" altLang="en-US" smtClean="0"/>
              <a:t>2026/1/6</a:t>
            </a:fld>
            <a:endParaRPr kumimoji="1" lang="zh-CN" altLang="en-US"/>
          </a:p>
        </p:txBody>
      </p:sp>
      <p:sp>
        <p:nvSpPr>
          <p:cNvPr id="8" name="Footer Placeholder 7"/>
          <p:cNvSpPr>
            <a:spLocks noGrp="1"/>
          </p:cNvSpPr>
          <p:nvPr>
            <p:ph type="ftr" sz="quarter" idx="11"/>
          </p:nvPr>
        </p:nvSpPr>
        <p:spPr/>
        <p:txBody>
          <a:bodyPr/>
          <a:lstStyle/>
          <a:p>
            <a:endParaRPr kumimoji="1" lang="zh-CN" altLang="en-US"/>
          </a:p>
        </p:txBody>
      </p:sp>
      <p:sp>
        <p:nvSpPr>
          <p:cNvPr id="9" name="Slide Number Placeholder 8"/>
          <p:cNvSpPr>
            <a:spLocks noGrp="1"/>
          </p:cNvSpPr>
          <p:nvPr>
            <p:ph type="sldNum" sz="quarter" idx="12"/>
          </p:nvPr>
        </p:nvSpPr>
        <p:spPr/>
        <p:txBody>
          <a:bodyPr/>
          <a:lstStyle/>
          <a:p>
            <a:fld id="{977BA8E6-E826-B147-AA17-E3D76A29629C}" type="slidenum">
              <a:rPr kumimoji="1" lang="zh-CN" altLang="en-US" smtClean="0"/>
              <a:t>‹#›</a:t>
            </a:fld>
            <a:endParaRPr kumimoji="1" lang="zh-CN" altLang="en-US"/>
          </a:p>
        </p:txBody>
      </p:sp>
      <p:sp>
        <p:nvSpPr>
          <p:cNvPr id="2" name="标题 1">
            <a:extLst>
              <a:ext uri="{FF2B5EF4-FFF2-40B4-BE49-F238E27FC236}">
                <a16:creationId xmlns:a16="http://schemas.microsoft.com/office/drawing/2014/main" id="{9CB22468-F02A-F448-8B18-5B7757B695E7}"/>
              </a:ext>
            </a:extLst>
          </p:cNvPr>
          <p:cNvSpPr>
            <a:spLocks noGrp="1"/>
          </p:cNvSpPr>
          <p:nvPr>
            <p:ph type="title"/>
          </p:nvPr>
        </p:nvSpPr>
        <p:spPr/>
        <p:txBody>
          <a:bodyPr/>
          <a:lstStyle>
            <a:lvl1pPr>
              <a:defRPr cap="none" baseline="0"/>
            </a:lvl1pPr>
          </a:lstStyle>
          <a:p>
            <a:r>
              <a:rPr kumimoji="1" lang="zh-CN" altLang="en-US" dirty="0"/>
              <a:t>单击此处编辑母版标题样式</a:t>
            </a:r>
          </a:p>
        </p:txBody>
      </p:sp>
      <p:sp>
        <p:nvSpPr>
          <p:cNvPr id="10" name="文本占位符 11">
            <a:extLst>
              <a:ext uri="{FF2B5EF4-FFF2-40B4-BE49-F238E27FC236}">
                <a16:creationId xmlns:a16="http://schemas.microsoft.com/office/drawing/2014/main" id="{FC9C0A85-9D2A-C350-3DEA-E4A7F2F8F77D}"/>
              </a:ext>
            </a:extLst>
          </p:cNvPr>
          <p:cNvSpPr>
            <a:spLocks noGrp="1"/>
          </p:cNvSpPr>
          <p:nvPr>
            <p:ph type="body" sz="quarter" idx="13"/>
          </p:nvPr>
        </p:nvSpPr>
        <p:spPr>
          <a:xfrm>
            <a:off x="270376" y="1195961"/>
            <a:ext cx="10795605" cy="540000"/>
          </a:xfrm>
        </p:spPr>
        <p:txBody>
          <a:bodyPr anchor="ctr" anchorCtr="0"/>
          <a:lstStyle>
            <a:lvl1pPr marL="0" indent="0">
              <a:buNone/>
              <a:defRPr sz="2000">
                <a:solidFill>
                  <a:srgbClr val="215CC1"/>
                </a:solidFill>
                <a:latin typeface="+mj-lt"/>
                <a:ea typeface="+mj-ea"/>
              </a:defRPr>
            </a:lvl1pPr>
          </a:lstStyle>
          <a:p>
            <a:pPr lvl="0"/>
            <a:endParaRPr lang="zh-CN" altLang="en-US" dirty="0"/>
          </a:p>
        </p:txBody>
      </p:sp>
    </p:spTree>
    <p:extLst>
      <p:ext uri="{BB962C8B-B14F-4D97-AF65-F5344CB8AC3E}">
        <p14:creationId xmlns:p14="http://schemas.microsoft.com/office/powerpoint/2010/main" val="3206004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E4551058-E5DB-324A-A8E9-6D3BEF243C3B}" type="datetimeFigureOut">
              <a:rPr kumimoji="1" lang="zh-CN" altLang="en-US" smtClean="0"/>
              <a:t>2026/1/6</a:t>
            </a:fld>
            <a:endParaRPr kumimoji="1" lang="zh-CN" altLang="en-US"/>
          </a:p>
        </p:txBody>
      </p:sp>
      <p:sp>
        <p:nvSpPr>
          <p:cNvPr id="4" name="Footer Placeholder 3"/>
          <p:cNvSpPr>
            <a:spLocks noGrp="1"/>
          </p:cNvSpPr>
          <p:nvPr>
            <p:ph type="ftr" sz="quarter" idx="11"/>
          </p:nvPr>
        </p:nvSpPr>
        <p:spPr/>
        <p:txBody>
          <a:bodyPr/>
          <a:lstStyle/>
          <a:p>
            <a:endParaRPr kumimoji="1" lang="zh-CN" altLang="en-US"/>
          </a:p>
        </p:txBody>
      </p:sp>
      <p:sp>
        <p:nvSpPr>
          <p:cNvPr id="5" name="Slide Number Placeholder 4"/>
          <p:cNvSpPr>
            <a:spLocks noGrp="1"/>
          </p:cNvSpPr>
          <p:nvPr>
            <p:ph type="sldNum" sz="quarter" idx="12"/>
          </p:nvPr>
        </p:nvSpPr>
        <p:spPr/>
        <p:txBody>
          <a:bodyPr/>
          <a:lstStyle/>
          <a:p>
            <a:fld id="{977BA8E6-E826-B147-AA17-E3D76A29629C}" type="slidenum">
              <a:rPr kumimoji="1" lang="zh-CN" altLang="en-US" smtClean="0"/>
              <a:t>‹#›</a:t>
            </a:fld>
            <a:endParaRPr kumimoji="1" lang="zh-CN" altLang="en-US"/>
          </a:p>
        </p:txBody>
      </p:sp>
      <p:sp>
        <p:nvSpPr>
          <p:cNvPr id="2" name="标题 1">
            <a:extLst>
              <a:ext uri="{FF2B5EF4-FFF2-40B4-BE49-F238E27FC236}">
                <a16:creationId xmlns:a16="http://schemas.microsoft.com/office/drawing/2014/main" id="{7B770DA6-1AF1-C940-AA73-A65453BE0367}"/>
              </a:ext>
            </a:extLst>
          </p:cNvPr>
          <p:cNvSpPr>
            <a:spLocks noGrp="1"/>
          </p:cNvSpPr>
          <p:nvPr>
            <p:ph type="title"/>
          </p:nvPr>
        </p:nvSpPr>
        <p:spPr/>
        <p:txBody>
          <a:bodyPr/>
          <a:lstStyle>
            <a:lvl1pPr>
              <a:defRPr cap="none" baseline="0"/>
            </a:lvl1pPr>
          </a:lstStyle>
          <a:p>
            <a:r>
              <a:rPr kumimoji="1" lang="zh-CN" altLang="en-US" dirty="0"/>
              <a:t>单击此处编辑母版标题样式</a:t>
            </a:r>
          </a:p>
        </p:txBody>
      </p:sp>
      <p:sp>
        <p:nvSpPr>
          <p:cNvPr id="6" name="文本占位符 11">
            <a:extLst>
              <a:ext uri="{FF2B5EF4-FFF2-40B4-BE49-F238E27FC236}">
                <a16:creationId xmlns:a16="http://schemas.microsoft.com/office/drawing/2014/main" id="{BB4B6AD2-2850-D610-EC3A-B373BDC1C6F3}"/>
              </a:ext>
            </a:extLst>
          </p:cNvPr>
          <p:cNvSpPr>
            <a:spLocks noGrp="1"/>
          </p:cNvSpPr>
          <p:nvPr>
            <p:ph type="body" sz="quarter" idx="13"/>
          </p:nvPr>
        </p:nvSpPr>
        <p:spPr>
          <a:xfrm>
            <a:off x="270376" y="1195961"/>
            <a:ext cx="10795605" cy="540000"/>
          </a:xfrm>
        </p:spPr>
        <p:txBody>
          <a:bodyPr anchor="ctr" anchorCtr="0"/>
          <a:lstStyle>
            <a:lvl1pPr marL="0" indent="0">
              <a:buNone/>
              <a:defRPr sz="2000">
                <a:solidFill>
                  <a:srgbClr val="215CC1"/>
                </a:solidFill>
                <a:latin typeface="+mj-lt"/>
                <a:ea typeface="+mj-ea"/>
              </a:defRPr>
            </a:lvl1pPr>
          </a:lstStyle>
          <a:p>
            <a:pPr lvl="0"/>
            <a:endParaRPr lang="zh-CN" altLang="en-US" dirty="0"/>
          </a:p>
        </p:txBody>
      </p:sp>
    </p:spTree>
    <p:extLst>
      <p:ext uri="{BB962C8B-B14F-4D97-AF65-F5344CB8AC3E}">
        <p14:creationId xmlns:p14="http://schemas.microsoft.com/office/powerpoint/2010/main" val="28575217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551058-E5DB-324A-A8E9-6D3BEF243C3B}" type="datetimeFigureOut">
              <a:rPr kumimoji="1" lang="zh-CN" altLang="en-US" smtClean="0"/>
              <a:t>2026/1/6</a:t>
            </a:fld>
            <a:endParaRPr kumimoji="1" lang="zh-CN" altLang="en-US"/>
          </a:p>
        </p:txBody>
      </p:sp>
      <p:sp>
        <p:nvSpPr>
          <p:cNvPr id="3" name="Footer Placeholder 2"/>
          <p:cNvSpPr>
            <a:spLocks noGrp="1"/>
          </p:cNvSpPr>
          <p:nvPr>
            <p:ph type="ftr" sz="quarter" idx="11"/>
          </p:nvPr>
        </p:nvSpPr>
        <p:spPr/>
        <p:txBody>
          <a:bodyPr/>
          <a:lstStyle/>
          <a:p>
            <a:endParaRPr kumimoji="1" lang="zh-CN" altLang="en-US"/>
          </a:p>
        </p:txBody>
      </p:sp>
      <p:sp>
        <p:nvSpPr>
          <p:cNvPr id="4" name="Slide Number Placeholder 3"/>
          <p:cNvSpPr>
            <a:spLocks noGrp="1"/>
          </p:cNvSpPr>
          <p:nvPr>
            <p:ph type="sldNum" sz="quarter" idx="12"/>
          </p:nvPr>
        </p:nvSpPr>
        <p:spPr/>
        <p:txBody>
          <a:bodyPr/>
          <a:lstStyle/>
          <a:p>
            <a:fld id="{977BA8E6-E826-B147-AA17-E3D76A29629C}" type="slidenum">
              <a:rPr kumimoji="1" lang="zh-CN" altLang="en-US" smtClean="0"/>
              <a:t>‹#›</a:t>
            </a:fld>
            <a:endParaRPr kumimoji="1" lang="zh-CN" altLang="en-US"/>
          </a:p>
        </p:txBody>
      </p:sp>
      <p:sp>
        <p:nvSpPr>
          <p:cNvPr id="5" name="Rectangle 6">
            <a:extLst>
              <a:ext uri="{FF2B5EF4-FFF2-40B4-BE49-F238E27FC236}">
                <a16:creationId xmlns:a16="http://schemas.microsoft.com/office/drawing/2014/main" id="{31DAF1E9-59CF-2D42-8740-6D200FC4192A}"/>
              </a:ext>
            </a:extLst>
          </p:cNvPr>
          <p:cNvSpPr>
            <a:spLocks noChangeAspect="1"/>
          </p:cNvSpPr>
          <p:nvPr userDrawn="1"/>
        </p:nvSpPr>
        <p:spPr>
          <a:xfrm>
            <a:off x="0" y="1"/>
            <a:ext cx="201799"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589483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001B2277-AA70-E141-BC48-4D053E71C76E}"/>
              </a:ext>
            </a:extLst>
          </p:cNvPr>
          <p:cNvSpPr>
            <a:spLocks noChangeAspect="1"/>
          </p:cNvSpPr>
          <p:nvPr userDrawn="1"/>
        </p:nvSpPr>
        <p:spPr>
          <a:xfrm>
            <a:off x="0" y="5141976"/>
            <a:ext cx="1219200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a:prstGeom prst="rect">
            <a:avLst/>
          </a:prstGeom>
        </p:spPr>
        <p:txBody>
          <a:bodyPr anchor="ctr">
            <a:normAutofit/>
          </a:bodyPr>
          <a:lstStyle>
            <a:lvl1pPr algn="l">
              <a:defRPr sz="2400" b="0" cap="none" baseline="0">
                <a:solidFill>
                  <a:schemeClr val="bg1"/>
                </a:solidFill>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5740825" y="5262298"/>
            <a:ext cx="4709928" cy="689515"/>
          </a:xfrm>
        </p:spPr>
        <p:txBody>
          <a:bodyPr anchor="ctr">
            <a:normAutofit/>
          </a:bodyPr>
          <a:lstStyle>
            <a:lvl1pPr marL="0" indent="0" algn="r">
              <a:buNone/>
              <a:defRPr sz="1600">
                <a:solidFill>
                  <a:schemeClr val="bg1"/>
                </a:solidFill>
              </a:defRPr>
            </a:lvl1pPr>
            <a:lvl2pPr marL="457189" indent="0">
              <a:buNone/>
              <a:defRPr sz="11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zh-CN" altLang="en-US" dirty="0"/>
              <a:t>单击此处编辑母版文本样式</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E4551058-E5DB-324A-A8E9-6D3BEF243C3B}" type="datetimeFigureOut">
              <a:rPr kumimoji="1" lang="zh-CN" altLang="en-US" smtClean="0"/>
              <a:t>2026/1/6</a:t>
            </a:fld>
            <a:endParaRPr kumimoji="1" lang="zh-CN" alt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kumimoji="1" lang="zh-CN" altLang="en-US"/>
          </a:p>
        </p:txBody>
      </p:sp>
      <p:pic>
        <p:nvPicPr>
          <p:cNvPr id="10" name="图片 9">
            <a:extLst>
              <a:ext uri="{FF2B5EF4-FFF2-40B4-BE49-F238E27FC236}">
                <a16:creationId xmlns:a16="http://schemas.microsoft.com/office/drawing/2014/main" id="{5B735133-AAF8-B043-8177-73831FB4A04D}"/>
              </a:ext>
            </a:extLst>
          </p:cNvPr>
          <p:cNvPicPr>
            <a:picLocks noChangeAspect="1"/>
          </p:cNvPicPr>
          <p:nvPr userDrawn="1"/>
        </p:nvPicPr>
        <p:blipFill>
          <a:blip r:embed="rId2"/>
          <a:srcRect/>
          <a:stretch/>
        </p:blipFill>
        <p:spPr>
          <a:xfrm>
            <a:off x="11072241" y="5311711"/>
            <a:ext cx="1015763" cy="911885"/>
          </a:xfrm>
          <a:prstGeom prst="rect">
            <a:avLst/>
          </a:prstGeom>
        </p:spPr>
      </p:pic>
      <p:sp>
        <p:nvSpPr>
          <p:cNvPr id="7" name="Slide Number Placeholder 6"/>
          <p:cNvSpPr>
            <a:spLocks noGrp="1"/>
          </p:cNvSpPr>
          <p:nvPr>
            <p:ph type="sldNum" sz="quarter" idx="12"/>
          </p:nvPr>
        </p:nvSpPr>
        <p:spPr>
          <a:xfrm>
            <a:off x="10558301" y="5956139"/>
            <a:ext cx="513940" cy="365125"/>
          </a:xfrm>
        </p:spPr>
        <p:txBody>
          <a:bodyPr/>
          <a:lstStyle>
            <a:lvl1pPr>
              <a:defRPr>
                <a:solidFill>
                  <a:schemeClr val="accent1">
                    <a:lumMod val="75000"/>
                    <a:lumOff val="25000"/>
                  </a:schemeClr>
                </a:solidFill>
              </a:defRPr>
            </a:lvl1pPr>
          </a:lstStyle>
          <a:p>
            <a:fld id="{977BA8E6-E826-B147-AA17-E3D76A29629C}" type="slidenum">
              <a:rPr kumimoji="1" lang="zh-CN" altLang="en-US" smtClean="0"/>
              <a:t>‹#›</a:t>
            </a:fld>
            <a:endParaRPr kumimoji="1" lang="zh-CN" altLang="en-US" dirty="0"/>
          </a:p>
        </p:txBody>
      </p:sp>
    </p:spTree>
    <p:extLst>
      <p:ext uri="{BB962C8B-B14F-4D97-AF65-F5344CB8AC3E}">
        <p14:creationId xmlns:p14="http://schemas.microsoft.com/office/powerpoint/2010/main" val="702074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a:prstGeom prst="rect">
            <a:avLst/>
          </a:prstGeom>
        </p:spPr>
        <p:txBody>
          <a:bodyPr anchor="b">
            <a:normAutofit/>
          </a:bodyPr>
          <a:lstStyle>
            <a:lvl1pPr algn="l">
              <a:defRPr sz="2400" b="0" cap="none" baseline="0">
                <a:solidFill>
                  <a:schemeClr val="accent1"/>
                </a:solidFill>
              </a:defRPr>
            </a:lvl1pPr>
          </a:lstStyle>
          <a:p>
            <a:r>
              <a:rPr lang="zh-CN" altLang="en-US" dirty="0"/>
              <a:t>单击此处编辑母版标题样式</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189" indent="0">
              <a:buNone/>
              <a:defRPr sz="1600"/>
            </a:lvl2pPr>
            <a:lvl3pPr marL="914377" indent="0">
              <a:buNone/>
              <a:defRPr sz="1600"/>
            </a:lvl3pPr>
            <a:lvl4pPr marL="1371566" indent="0">
              <a:buNone/>
              <a:defRPr sz="1600"/>
            </a:lvl4pPr>
            <a:lvl5pPr marL="1828754" indent="0">
              <a:buNone/>
              <a:defRPr sz="1600"/>
            </a:lvl5pPr>
            <a:lvl6pPr marL="2285943" indent="0">
              <a:buNone/>
              <a:defRPr sz="1600"/>
            </a:lvl6pPr>
            <a:lvl7pPr marL="2743131" indent="0">
              <a:buNone/>
              <a:defRPr sz="1600"/>
            </a:lvl7pPr>
            <a:lvl8pPr marL="3200320" indent="0">
              <a:buNone/>
              <a:defRPr sz="1600"/>
            </a:lvl8pPr>
            <a:lvl9pPr marL="3657509"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581193" y="5260129"/>
            <a:ext cx="11029617" cy="598671"/>
          </a:xfrm>
        </p:spPr>
        <p:txBody>
          <a:bodyPr>
            <a:normAutofit/>
          </a:bodyPr>
          <a:lstStyle>
            <a:lvl1pPr marL="0" indent="0">
              <a:buNone/>
              <a:defRPr sz="12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zh-CN" altLang="en-US" dirty="0"/>
              <a:t>单击此处编辑母版文本样式</a:t>
            </a:r>
          </a:p>
        </p:txBody>
      </p:sp>
      <p:sp>
        <p:nvSpPr>
          <p:cNvPr id="5" name="Date Placeholder 4"/>
          <p:cNvSpPr>
            <a:spLocks noGrp="1"/>
          </p:cNvSpPr>
          <p:nvPr>
            <p:ph type="dt" sz="half" idx="10"/>
          </p:nvPr>
        </p:nvSpPr>
        <p:spPr/>
        <p:txBody>
          <a:bodyPr/>
          <a:lstStyle/>
          <a:p>
            <a:fld id="{E4551058-E5DB-324A-A8E9-6D3BEF243C3B}" type="datetimeFigureOut">
              <a:rPr kumimoji="1" lang="zh-CN" altLang="en-US" smtClean="0"/>
              <a:t>2026/1/6</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977BA8E6-E826-B147-AA17-E3D76A29629C}" type="slidenum">
              <a:rPr kumimoji="1" lang="zh-CN" altLang="en-US" smtClean="0"/>
              <a:t>‹#›</a:t>
            </a:fld>
            <a:endParaRPr kumimoji="1" lang="zh-CN" altLang="en-US"/>
          </a:p>
        </p:txBody>
      </p:sp>
      <p:sp>
        <p:nvSpPr>
          <p:cNvPr id="8" name="Rectangle 6">
            <a:extLst>
              <a:ext uri="{FF2B5EF4-FFF2-40B4-BE49-F238E27FC236}">
                <a16:creationId xmlns:a16="http://schemas.microsoft.com/office/drawing/2014/main" id="{652075E8-AF1D-904C-94C1-FC4415AEDE22}"/>
              </a:ext>
            </a:extLst>
          </p:cNvPr>
          <p:cNvSpPr>
            <a:spLocks noChangeAspect="1"/>
          </p:cNvSpPr>
          <p:nvPr userDrawn="1"/>
        </p:nvSpPr>
        <p:spPr>
          <a:xfrm>
            <a:off x="0" y="1"/>
            <a:ext cx="201799"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979797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E4551058-E5DB-324A-A8E9-6D3BEF243C3B}" type="datetimeFigureOut">
              <a:rPr kumimoji="1" lang="zh-CN" altLang="en-US" smtClean="0"/>
              <a:t>2026/1/6</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977BA8E6-E826-B147-AA17-E3D76A29629C}" type="slidenum">
              <a:rPr kumimoji="1" lang="zh-CN" altLang="en-US" smtClean="0"/>
              <a:t>‹#›</a:t>
            </a:fld>
            <a:endParaRPr kumimoji="1" lang="zh-CN" altLang="en-US"/>
          </a:p>
        </p:txBody>
      </p:sp>
      <p:sp>
        <p:nvSpPr>
          <p:cNvPr id="2" name="标题 1">
            <a:extLst>
              <a:ext uri="{FF2B5EF4-FFF2-40B4-BE49-F238E27FC236}">
                <a16:creationId xmlns:a16="http://schemas.microsoft.com/office/drawing/2014/main" id="{613FAC5A-AE07-2149-BE0E-FF68E2AACCF1}"/>
              </a:ext>
            </a:extLst>
          </p:cNvPr>
          <p:cNvSpPr>
            <a:spLocks noGrp="1"/>
          </p:cNvSpPr>
          <p:nvPr>
            <p:ph type="title"/>
          </p:nvPr>
        </p:nvSpPr>
        <p:spPr/>
        <p:txBody>
          <a:bodyPr/>
          <a:lstStyle>
            <a:lvl1pPr>
              <a:defRPr cap="none" baseline="0"/>
            </a:lvl1pPr>
          </a:lstStyle>
          <a:p>
            <a:r>
              <a:rPr kumimoji="1" lang="zh-CN" altLang="en-US" dirty="0"/>
              <a:t>单击此处编辑母版标题样式</a:t>
            </a:r>
          </a:p>
        </p:txBody>
      </p:sp>
      <p:sp>
        <p:nvSpPr>
          <p:cNvPr id="7" name="文本占位符 11">
            <a:extLst>
              <a:ext uri="{FF2B5EF4-FFF2-40B4-BE49-F238E27FC236}">
                <a16:creationId xmlns:a16="http://schemas.microsoft.com/office/drawing/2014/main" id="{7C35692C-80B2-0667-CF67-4B5B090C1439}"/>
              </a:ext>
            </a:extLst>
          </p:cNvPr>
          <p:cNvSpPr>
            <a:spLocks noGrp="1"/>
          </p:cNvSpPr>
          <p:nvPr>
            <p:ph type="body" sz="quarter" idx="13"/>
          </p:nvPr>
        </p:nvSpPr>
        <p:spPr>
          <a:xfrm>
            <a:off x="270376" y="1195961"/>
            <a:ext cx="10795605" cy="540000"/>
          </a:xfrm>
        </p:spPr>
        <p:txBody>
          <a:bodyPr anchor="ctr" anchorCtr="0"/>
          <a:lstStyle>
            <a:lvl1pPr marL="0" indent="0">
              <a:buNone/>
              <a:defRPr sz="2000">
                <a:solidFill>
                  <a:srgbClr val="215CC1"/>
                </a:solidFill>
                <a:latin typeface="+mj-lt"/>
                <a:ea typeface="+mj-ea"/>
              </a:defRPr>
            </a:lvl1pPr>
          </a:lstStyle>
          <a:p>
            <a:pPr lvl="0"/>
            <a:endParaRPr lang="zh-CN" altLang="en-US" dirty="0"/>
          </a:p>
        </p:txBody>
      </p:sp>
    </p:spTree>
    <p:extLst>
      <p:ext uri="{BB962C8B-B14F-4D97-AF65-F5344CB8AC3E}">
        <p14:creationId xmlns:p14="http://schemas.microsoft.com/office/powerpoint/2010/main" val="42276918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竖排标题与文本">
    <p:spTree>
      <p:nvGrpSpPr>
        <p:cNvPr id="1" name=""/>
        <p:cNvGrpSpPr/>
        <p:nvPr/>
      </p:nvGrpSpPr>
      <p:grpSpPr>
        <a:xfrm>
          <a:off x="0" y="0"/>
          <a:ext cx="0" cy="0"/>
          <a:chOff x="0" y="0"/>
          <a:chExt cx="0" cy="0"/>
        </a:xfrm>
      </p:grpSpPr>
      <p:sp>
        <p:nvSpPr>
          <p:cNvPr id="7" name="Rectangle 6"/>
          <p:cNvSpPr>
            <a:spLocks noChangeAspect="1"/>
          </p:cNvSpPr>
          <p:nvPr/>
        </p:nvSpPr>
        <p:spPr>
          <a:xfrm>
            <a:off x="8839202" y="0"/>
            <a:ext cx="3352798"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993673" y="675728"/>
            <a:ext cx="2089963" cy="5183073"/>
          </a:xfrm>
          <a:prstGeom prst="rect">
            <a:avLst/>
          </a:prstGeom>
        </p:spPr>
        <p:txBody>
          <a:bodyPr vert="eaVert" anchor="b"/>
          <a:lstStyle>
            <a:lvl1pPr>
              <a:defRPr cap="none" baseline="0"/>
            </a:lvl1pPr>
          </a:lstStyle>
          <a:p>
            <a:r>
              <a:rPr lang="zh-CN" altLang="en-US" dirty="0"/>
              <a:t>单击此处编辑母版标题样式</a:t>
            </a:r>
            <a:endParaRPr lang="en-US" dirty="0"/>
          </a:p>
        </p:txBody>
      </p:sp>
      <p:sp>
        <p:nvSpPr>
          <p:cNvPr id="3" name="Vertical Text Placeholder 2"/>
          <p:cNvSpPr>
            <a:spLocks noGrp="1"/>
          </p:cNvSpPr>
          <p:nvPr>
            <p:ph type="body" orient="vert" idx="1"/>
          </p:nvPr>
        </p:nvSpPr>
        <p:spPr>
          <a:xfrm>
            <a:off x="774925" y="675728"/>
            <a:ext cx="7896279" cy="5183073"/>
          </a:xfrm>
        </p:spPr>
        <p:txBody>
          <a:bodyPr vert="eaVert" ancho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a:xfrm>
            <a:off x="8993674" y="5956139"/>
            <a:ext cx="1328141" cy="365125"/>
          </a:xfrm>
        </p:spPr>
        <p:txBody>
          <a:bodyPr/>
          <a:lstStyle>
            <a:lvl1pPr>
              <a:defRPr>
                <a:solidFill>
                  <a:schemeClr val="accent1">
                    <a:lumMod val="75000"/>
                    <a:lumOff val="25000"/>
                  </a:schemeClr>
                </a:solidFill>
              </a:defRPr>
            </a:lvl1pPr>
          </a:lstStyle>
          <a:p>
            <a:fld id="{E4551058-E5DB-324A-A8E9-6D3BEF243C3B}" type="datetimeFigureOut">
              <a:rPr kumimoji="1" lang="zh-CN" altLang="en-US" smtClean="0"/>
              <a:t>2026/1/6</a:t>
            </a:fld>
            <a:endParaRPr kumimoji="1" lang="zh-CN" altLang="en-US"/>
          </a:p>
        </p:txBody>
      </p:sp>
      <p:sp>
        <p:nvSpPr>
          <p:cNvPr id="5" name="Footer Placeholder 4"/>
          <p:cNvSpPr>
            <a:spLocks noGrp="1"/>
          </p:cNvSpPr>
          <p:nvPr>
            <p:ph type="ftr" sz="quarter" idx="11"/>
          </p:nvPr>
        </p:nvSpPr>
        <p:spPr>
          <a:xfrm>
            <a:off x="774925" y="5951813"/>
            <a:ext cx="7896279" cy="365125"/>
          </a:xfrm>
        </p:spPr>
        <p:txBody>
          <a:bodyPr/>
          <a:lstStyle/>
          <a:p>
            <a:endParaRPr kumimoji="1" lang="zh-CN" altLang="en-US"/>
          </a:p>
        </p:txBody>
      </p:sp>
      <p:sp>
        <p:nvSpPr>
          <p:cNvPr id="6" name="Slide Number Placeholder 5"/>
          <p:cNvSpPr>
            <a:spLocks noGrp="1"/>
          </p:cNvSpPr>
          <p:nvPr>
            <p:ph type="sldNum" sz="quarter" idx="12"/>
          </p:nvPr>
        </p:nvSpPr>
        <p:spPr>
          <a:xfrm>
            <a:off x="10446616" y="5956139"/>
            <a:ext cx="970459" cy="365125"/>
          </a:xfrm>
        </p:spPr>
        <p:txBody>
          <a:bodyPr/>
          <a:lstStyle>
            <a:lvl1pPr>
              <a:defRPr>
                <a:solidFill>
                  <a:schemeClr val="accent1">
                    <a:lumMod val="75000"/>
                    <a:lumOff val="25000"/>
                  </a:schemeClr>
                </a:solidFill>
              </a:defRPr>
            </a:lvl1pPr>
          </a:lstStyle>
          <a:p>
            <a:fld id="{977BA8E6-E826-B147-AA17-E3D76A29629C}" type="slidenum">
              <a:rPr kumimoji="1" lang="zh-CN" altLang="en-US" smtClean="0"/>
              <a:t>‹#›</a:t>
            </a:fld>
            <a:endParaRPr kumimoji="1" lang="zh-CN" altLang="en-US" dirty="0"/>
          </a:p>
        </p:txBody>
      </p:sp>
      <p:pic>
        <p:nvPicPr>
          <p:cNvPr id="10" name="图片 9">
            <a:extLst>
              <a:ext uri="{FF2B5EF4-FFF2-40B4-BE49-F238E27FC236}">
                <a16:creationId xmlns:a16="http://schemas.microsoft.com/office/drawing/2014/main" id="{585B7696-CB4E-1240-9BA7-6A9255852434}"/>
              </a:ext>
            </a:extLst>
          </p:cNvPr>
          <p:cNvPicPr>
            <a:picLocks noChangeAspect="1"/>
          </p:cNvPicPr>
          <p:nvPr userDrawn="1"/>
        </p:nvPicPr>
        <p:blipFill>
          <a:blip r:embed="rId2"/>
          <a:srcRect/>
          <a:stretch/>
        </p:blipFill>
        <p:spPr>
          <a:xfrm>
            <a:off x="11083637" y="146434"/>
            <a:ext cx="1015763" cy="911885"/>
          </a:xfrm>
          <a:prstGeom prst="rect">
            <a:avLst/>
          </a:prstGeom>
        </p:spPr>
      </p:pic>
    </p:spTree>
    <p:extLst>
      <p:ext uri="{BB962C8B-B14F-4D97-AF65-F5344CB8AC3E}">
        <p14:creationId xmlns:p14="http://schemas.microsoft.com/office/powerpoint/2010/main" val="27949448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6" name="Rectangle 6">
            <a:extLst>
              <a:ext uri="{FF2B5EF4-FFF2-40B4-BE49-F238E27FC236}">
                <a16:creationId xmlns:a16="http://schemas.microsoft.com/office/drawing/2014/main" id="{D2BB52D3-7EE7-624D-A686-4D1AE1F2C90A}"/>
              </a:ext>
            </a:extLst>
          </p:cNvPr>
          <p:cNvSpPr>
            <a:spLocks noChangeAspect="1"/>
          </p:cNvSpPr>
          <p:nvPr userDrawn="1"/>
        </p:nvSpPr>
        <p:spPr>
          <a:xfrm>
            <a:off x="0" y="0"/>
            <a:ext cx="12192000"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t">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Date Placeholder 3"/>
          <p:cNvSpPr>
            <a:spLocks noGrp="1"/>
          </p:cNvSpPr>
          <p:nvPr>
            <p:ph type="dt" sz="half" idx="2"/>
          </p:nvPr>
        </p:nvSpPr>
        <p:spPr>
          <a:xfrm>
            <a:off x="7605953" y="5956139"/>
            <a:ext cx="2844799" cy="365125"/>
          </a:xfrm>
          <a:prstGeom prst="rect">
            <a:avLst/>
          </a:prstGeom>
        </p:spPr>
        <p:txBody>
          <a:bodyPr vert="horz" lIns="91440" tIns="45720" rIns="91440" bIns="45720" rtlCol="0" anchor="ctr"/>
          <a:lstStyle>
            <a:lvl1pPr algn="r">
              <a:defRPr sz="900">
                <a:solidFill>
                  <a:schemeClr val="accent2"/>
                </a:solidFill>
              </a:defRPr>
            </a:lvl1pPr>
          </a:lstStyle>
          <a:p>
            <a:fld id="{E4551058-E5DB-324A-A8E9-6D3BEF243C3B}" type="datetimeFigureOut">
              <a:rPr kumimoji="1" lang="zh-CN" altLang="en-US" smtClean="0"/>
              <a:t>2026/1/6</a:t>
            </a:fld>
            <a:endParaRPr kumimoji="1" lang="zh-CN" altLang="en-US"/>
          </a:p>
        </p:txBody>
      </p:sp>
      <p:sp>
        <p:nvSpPr>
          <p:cNvPr id="5" name="Footer Placeholder 4"/>
          <p:cNvSpPr>
            <a:spLocks noGrp="1"/>
          </p:cNvSpPr>
          <p:nvPr>
            <p:ph type="ftr" sz="quarter" idx="3"/>
          </p:nvPr>
        </p:nvSpPr>
        <p:spPr>
          <a:xfrm>
            <a:off x="581192" y="5951813"/>
            <a:ext cx="6917211" cy="365125"/>
          </a:xfrm>
          <a:prstGeom prst="rect">
            <a:avLst/>
          </a:prstGeom>
        </p:spPr>
        <p:txBody>
          <a:bodyPr vert="horz" lIns="91440" tIns="45720" rIns="91440" bIns="45720" rtlCol="0" anchor="ctr"/>
          <a:lstStyle>
            <a:lvl1pPr algn="l">
              <a:defRPr sz="900" cap="all">
                <a:solidFill>
                  <a:schemeClr val="accent2"/>
                </a:solidFill>
              </a:defRPr>
            </a:lvl1pPr>
          </a:lstStyle>
          <a:p>
            <a:endParaRPr kumimoji="1" lang="zh-CN" altLang="en-US"/>
          </a:p>
        </p:txBody>
      </p:sp>
      <p:sp>
        <p:nvSpPr>
          <p:cNvPr id="6" name="Slide Number Placeholder 5"/>
          <p:cNvSpPr>
            <a:spLocks noGrp="1"/>
          </p:cNvSpPr>
          <p:nvPr>
            <p:ph type="sldNum" sz="quarter" idx="4"/>
          </p:nvPr>
        </p:nvSpPr>
        <p:spPr>
          <a:xfrm>
            <a:off x="10558301" y="5956139"/>
            <a:ext cx="1052511" cy="365125"/>
          </a:xfrm>
          <a:prstGeom prst="rect">
            <a:avLst/>
          </a:prstGeom>
        </p:spPr>
        <p:txBody>
          <a:bodyPr vert="horz" lIns="91440" tIns="45720" rIns="91440" bIns="45720" rtlCol="0" anchor="ctr"/>
          <a:lstStyle>
            <a:lvl1pPr algn="r">
              <a:defRPr sz="900">
                <a:solidFill>
                  <a:schemeClr val="accent2"/>
                </a:solidFill>
              </a:defRPr>
            </a:lvl1pPr>
          </a:lstStyle>
          <a:p>
            <a:fld id="{977BA8E6-E826-B147-AA17-E3D76A29629C}" type="slidenum">
              <a:rPr kumimoji="1" lang="zh-CN" altLang="en-US" smtClean="0"/>
              <a:t>‹#›</a:t>
            </a:fld>
            <a:endParaRPr kumimoji="1" lang="zh-CN" altLang="en-US"/>
          </a:p>
        </p:txBody>
      </p:sp>
      <p:sp>
        <p:nvSpPr>
          <p:cNvPr id="11" name="Rectangle 6">
            <a:extLst>
              <a:ext uri="{FF2B5EF4-FFF2-40B4-BE49-F238E27FC236}">
                <a16:creationId xmlns:a16="http://schemas.microsoft.com/office/drawing/2014/main" id="{27018390-25F4-D64E-878B-24CA2E1122C5}"/>
              </a:ext>
            </a:extLst>
          </p:cNvPr>
          <p:cNvSpPr>
            <a:spLocks noChangeAspect="1"/>
          </p:cNvSpPr>
          <p:nvPr userDrawn="1"/>
        </p:nvSpPr>
        <p:spPr>
          <a:xfrm>
            <a:off x="0" y="6604001"/>
            <a:ext cx="12192000" cy="2539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10" name="图片 9">
            <a:extLst>
              <a:ext uri="{FF2B5EF4-FFF2-40B4-BE49-F238E27FC236}">
                <a16:creationId xmlns:a16="http://schemas.microsoft.com/office/drawing/2014/main" id="{D4C6A3C0-9B9A-6346-8E2E-CDD5319CED1A}"/>
              </a:ext>
            </a:extLst>
          </p:cNvPr>
          <p:cNvPicPr>
            <a:picLocks noChangeAspect="1"/>
          </p:cNvPicPr>
          <p:nvPr userDrawn="1"/>
        </p:nvPicPr>
        <p:blipFill>
          <a:blip r:embed="rId14"/>
          <a:srcRect/>
          <a:stretch/>
        </p:blipFill>
        <p:spPr>
          <a:xfrm>
            <a:off x="11072160" y="141583"/>
            <a:ext cx="1015763" cy="911885"/>
          </a:xfrm>
          <a:prstGeom prst="rect">
            <a:avLst/>
          </a:prstGeom>
        </p:spPr>
      </p:pic>
      <p:sp>
        <p:nvSpPr>
          <p:cNvPr id="2" name="Title Placeholder 1"/>
          <p:cNvSpPr>
            <a:spLocks noGrp="1"/>
          </p:cNvSpPr>
          <p:nvPr>
            <p:ph type="title"/>
          </p:nvPr>
        </p:nvSpPr>
        <p:spPr>
          <a:xfrm>
            <a:off x="270377" y="87749"/>
            <a:ext cx="10795605" cy="1015200"/>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Tree>
    <p:extLst>
      <p:ext uri="{BB962C8B-B14F-4D97-AF65-F5344CB8AC3E}">
        <p14:creationId xmlns:p14="http://schemas.microsoft.com/office/powerpoint/2010/main" val="144104772"/>
      </p:ext>
    </p:extLst>
  </p:cSld>
  <p:clrMap bg1="lt1" tx1="dk1" bg2="lt2" tx2="dk2" accent1="accent1" accent2="accent2" accent3="accent3" accent4="accent4" accent5="accent5" accent6="accent6" hlink="hlink" folHlink="folHlink"/>
  <p:sldLayoutIdLst>
    <p:sldLayoutId id="2147483860" r:id="rId1"/>
    <p:sldLayoutId id="2147483861" r:id="rId2"/>
    <p:sldLayoutId id="2147483864" r:id="rId3"/>
    <p:sldLayoutId id="2147483865" r:id="rId4"/>
    <p:sldLayoutId id="2147483866" r:id="rId5"/>
    <p:sldLayoutId id="2147483868" r:id="rId6"/>
    <p:sldLayoutId id="2147483870" r:id="rId7"/>
    <p:sldLayoutId id="2147483871" r:id="rId8"/>
    <p:sldLayoutId id="2147483872" r:id="rId9"/>
    <p:sldLayoutId id="2147483873" r:id="rId10"/>
    <p:sldLayoutId id="2147483874" r:id="rId11"/>
    <p:sldLayoutId id="2147483875" r:id="rId12"/>
  </p:sldLayoutIdLst>
  <p:txStyles>
    <p:titleStyle>
      <a:lvl1pPr algn="l" defTabSz="457189" rtl="0" eaLnBrk="1" latinLnBrk="0" hangingPunct="1">
        <a:spcBef>
          <a:spcPct val="0"/>
        </a:spcBef>
        <a:buNone/>
        <a:defRPr sz="2800" b="0" kern="1200" cap="none"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5992" indent="-305992"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29984" indent="-305992"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899978" indent="-269993"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1969" indent="-233994"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1960" indent="-233994"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899953"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199945"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38"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930"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1.xml"/><Relationship Id="rId5" Type="http://schemas.openxmlformats.org/officeDocument/2006/relationships/image" Target="../media/image7.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15.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7.png"/><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5C4A8A-A46B-8D41-8F44-8C17E1B63584}"/>
              </a:ext>
            </a:extLst>
          </p:cNvPr>
          <p:cNvSpPr>
            <a:spLocks noGrp="1"/>
          </p:cNvSpPr>
          <p:nvPr>
            <p:ph type="ctrTitle"/>
          </p:nvPr>
        </p:nvSpPr>
        <p:spPr>
          <a:xfrm>
            <a:off x="599226" y="1731653"/>
            <a:ext cx="10993549" cy="2123126"/>
          </a:xfrm>
        </p:spPr>
        <p:txBody>
          <a:bodyPr>
            <a:normAutofit/>
          </a:bodyPr>
          <a:lstStyle/>
          <a:p>
            <a:r>
              <a:rPr lang="zh-CN" altLang="en-US" sz="4000" b="1" dirty="0"/>
              <a:t>基于图神经网络的多行为去噪推荐方法研究</a:t>
            </a:r>
          </a:p>
        </p:txBody>
      </p:sp>
      <p:sp>
        <p:nvSpPr>
          <p:cNvPr id="3" name="副标题 2">
            <a:extLst>
              <a:ext uri="{FF2B5EF4-FFF2-40B4-BE49-F238E27FC236}">
                <a16:creationId xmlns:a16="http://schemas.microsoft.com/office/drawing/2014/main" id="{5B7C49AC-161B-B74A-A7A2-0878EABB0F3A}"/>
              </a:ext>
            </a:extLst>
          </p:cNvPr>
          <p:cNvSpPr>
            <a:spLocks noGrp="1"/>
          </p:cNvSpPr>
          <p:nvPr>
            <p:ph type="subTitle" idx="1"/>
          </p:nvPr>
        </p:nvSpPr>
        <p:spPr>
          <a:xfrm>
            <a:off x="581193" y="4194262"/>
            <a:ext cx="10993547" cy="2397924"/>
          </a:xfrm>
        </p:spPr>
        <p:txBody>
          <a:bodyPr>
            <a:normAutofit/>
          </a:bodyPr>
          <a:lstStyle/>
          <a:p>
            <a:r>
              <a:rPr lang="zh-CN" altLang="en-US" sz="2400" b="1" dirty="0">
                <a:solidFill>
                  <a:schemeClr val="tx1"/>
                </a:solidFill>
                <a:latin typeface="楷体" panose="02010609060101010101" pitchFamily="49" charset="-122"/>
                <a:ea typeface="楷体" panose="02010609060101010101" pitchFamily="49" charset="-122"/>
              </a:rPr>
              <a:t>研究生：樊红雨</a:t>
            </a:r>
            <a:endParaRPr lang="en-US" altLang="zh-CN" sz="2400" b="1" dirty="0">
              <a:solidFill>
                <a:schemeClr val="tx1"/>
              </a:solidFill>
              <a:latin typeface="楷体" panose="02010609060101010101" pitchFamily="49" charset="-122"/>
              <a:ea typeface="楷体" panose="02010609060101010101" pitchFamily="49" charset="-122"/>
            </a:endParaRPr>
          </a:p>
          <a:p>
            <a:r>
              <a:rPr lang="zh-CN" altLang="en-US" sz="2400" b="1" dirty="0">
                <a:solidFill>
                  <a:schemeClr val="tx1"/>
                </a:solidFill>
                <a:latin typeface="楷体" panose="02010609060101010101" pitchFamily="49" charset="-122"/>
                <a:ea typeface="楷体" panose="02010609060101010101" pitchFamily="49" charset="-122"/>
              </a:rPr>
              <a:t>导  师：马江虹</a:t>
            </a:r>
            <a:endParaRPr lang="en-US" altLang="zh-CN" sz="2400" b="1" dirty="0">
              <a:solidFill>
                <a:schemeClr val="tx1"/>
              </a:solidFill>
              <a:latin typeface="楷体" panose="02010609060101010101" pitchFamily="49" charset="-122"/>
              <a:ea typeface="楷体" panose="02010609060101010101" pitchFamily="49" charset="-122"/>
            </a:endParaRPr>
          </a:p>
          <a:p>
            <a:r>
              <a:rPr lang="zh-CN" altLang="en-US" sz="2400" b="1" dirty="0">
                <a:solidFill>
                  <a:schemeClr val="tx1"/>
                </a:solidFill>
                <a:latin typeface="楷体" panose="02010609060101010101" pitchFamily="49" charset="-122"/>
                <a:ea typeface="楷体" panose="02010609060101010101" pitchFamily="49" charset="-122"/>
              </a:rPr>
              <a:t>计算机科学与技术学院</a:t>
            </a:r>
            <a:endParaRPr lang="en-US" altLang="zh-CN" sz="2400" b="1" dirty="0">
              <a:solidFill>
                <a:schemeClr val="tx1"/>
              </a:solidFill>
              <a:latin typeface="楷体" panose="02010609060101010101" pitchFamily="49" charset="-122"/>
              <a:ea typeface="楷体" panose="02010609060101010101" pitchFamily="49" charset="-122"/>
            </a:endParaRPr>
          </a:p>
          <a:p>
            <a:r>
              <a:rPr lang="en-US" altLang="zh-CN" sz="1800" b="1" dirty="0">
                <a:solidFill>
                  <a:schemeClr val="tx1"/>
                </a:solidFill>
              </a:rPr>
              <a:t>2026 </a:t>
            </a:r>
            <a:r>
              <a:rPr lang="zh-CN" altLang="en-US" sz="1800" b="1" dirty="0">
                <a:solidFill>
                  <a:schemeClr val="tx1"/>
                </a:solidFill>
              </a:rPr>
              <a:t>年 </a:t>
            </a:r>
            <a:r>
              <a:rPr lang="en-US" altLang="zh-CN" sz="1800" b="1" dirty="0">
                <a:solidFill>
                  <a:schemeClr val="tx1"/>
                </a:solidFill>
              </a:rPr>
              <a:t>1 </a:t>
            </a:r>
            <a:r>
              <a:rPr lang="zh-CN" altLang="en-US" sz="1800" b="1" dirty="0">
                <a:solidFill>
                  <a:schemeClr val="tx1"/>
                </a:solidFill>
              </a:rPr>
              <a:t>月 </a:t>
            </a:r>
            <a:r>
              <a:rPr lang="en-US" altLang="zh-CN" sz="1800" b="1" dirty="0">
                <a:solidFill>
                  <a:schemeClr val="tx1"/>
                </a:solidFill>
              </a:rPr>
              <a:t>7 </a:t>
            </a:r>
            <a:r>
              <a:rPr lang="zh-CN" altLang="en-US" sz="1800" b="1" dirty="0">
                <a:solidFill>
                  <a:schemeClr val="tx1"/>
                </a:solidFill>
              </a:rPr>
              <a:t>日</a:t>
            </a:r>
          </a:p>
        </p:txBody>
      </p:sp>
    </p:spTree>
    <p:extLst>
      <p:ext uri="{BB962C8B-B14F-4D97-AF65-F5344CB8AC3E}">
        <p14:creationId xmlns:p14="http://schemas.microsoft.com/office/powerpoint/2010/main" val="1722271748"/>
      </p:ext>
    </p:extLst>
  </p:cSld>
  <p:clrMapOvr>
    <a:masterClrMapping/>
  </p:clrMapOvr>
  <mc:AlternateContent xmlns:mc="http://schemas.openxmlformats.org/markup-compatibility/2006">
    <mc:Choice xmlns:p14="http://schemas.microsoft.com/office/powerpoint/2010/main" Requires="p14">
      <p:transition spd="slow" p14:dur="2000" advTm="11845"/>
    </mc:Choice>
    <mc:Fallback>
      <p:transition spd="slow" advTm="1184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B6AA08-C32B-6F4E-8AB3-67AE085DA5BA}"/>
              </a:ext>
            </a:extLst>
          </p:cNvPr>
          <p:cNvSpPr>
            <a:spLocks noGrp="1"/>
          </p:cNvSpPr>
          <p:nvPr>
            <p:ph type="title"/>
          </p:nvPr>
        </p:nvSpPr>
        <p:spPr/>
        <p:txBody>
          <a:bodyPr>
            <a:normAutofit/>
          </a:bodyPr>
          <a:lstStyle/>
          <a:p>
            <a:r>
              <a:rPr kumimoji="1" lang="zh-CN" altLang="en-US" sz="4800" b="1" dirty="0"/>
              <a:t>目录</a:t>
            </a:r>
          </a:p>
        </p:txBody>
      </p:sp>
      <p:sp>
        <p:nvSpPr>
          <p:cNvPr id="3" name="内容占位符 2">
            <a:extLst>
              <a:ext uri="{FF2B5EF4-FFF2-40B4-BE49-F238E27FC236}">
                <a16:creationId xmlns:a16="http://schemas.microsoft.com/office/drawing/2014/main" id="{E4B3B5DF-DAF7-B946-AB06-11AE7FF1176B}"/>
              </a:ext>
            </a:extLst>
          </p:cNvPr>
          <p:cNvSpPr>
            <a:spLocks noGrp="1"/>
          </p:cNvSpPr>
          <p:nvPr>
            <p:ph idx="1"/>
          </p:nvPr>
        </p:nvSpPr>
        <p:spPr>
          <a:xfrm>
            <a:off x="3942024" y="905374"/>
            <a:ext cx="8125595" cy="5047251"/>
          </a:xfrm>
        </p:spPr>
        <p:txBody>
          <a:bodyPr>
            <a:normAutofit/>
          </a:bodyPr>
          <a:lstStyle/>
          <a:p>
            <a:r>
              <a:rPr kumimoji="1" lang="en-US" altLang="zh-CN" sz="2800" b="1" dirty="0">
                <a:latin typeface="华文中宋" panose="02010600040101010101" pitchFamily="2" charset="-122"/>
                <a:ea typeface="华文中宋" panose="02010600040101010101" pitchFamily="2" charset="-122"/>
              </a:rPr>
              <a:t>1. </a:t>
            </a:r>
            <a:r>
              <a:rPr kumimoji="1" lang="zh-CN" altLang="en-US" sz="2800" b="1" dirty="0">
                <a:latin typeface="华文中宋" panose="02010600040101010101" pitchFamily="2" charset="-122"/>
                <a:ea typeface="华文中宋" panose="02010600040101010101" pitchFamily="2" charset="-122"/>
              </a:rPr>
              <a:t>课题背景及研究的目的和意义 </a:t>
            </a:r>
            <a:endParaRPr kumimoji="1" lang="en-US" altLang="zh-CN" sz="2800" b="1" dirty="0">
              <a:latin typeface="华文中宋" panose="02010600040101010101" pitchFamily="2" charset="-122"/>
              <a:ea typeface="华文中宋" panose="02010600040101010101" pitchFamily="2" charset="-122"/>
            </a:endParaRPr>
          </a:p>
          <a:p>
            <a:r>
              <a:rPr kumimoji="1" lang="en-US" altLang="zh-CN" sz="2800" b="1" dirty="0">
                <a:latin typeface="华文中宋" panose="02010600040101010101" pitchFamily="2" charset="-122"/>
                <a:ea typeface="华文中宋" panose="02010600040101010101" pitchFamily="2" charset="-122"/>
              </a:rPr>
              <a:t>2. </a:t>
            </a:r>
            <a:r>
              <a:rPr kumimoji="1" lang="zh-CN" altLang="en-US" sz="2800" b="1" dirty="0">
                <a:latin typeface="华文中宋" panose="02010600040101010101" pitchFamily="2" charset="-122"/>
                <a:ea typeface="华文中宋" panose="02010600040101010101" pitchFamily="2" charset="-122"/>
              </a:rPr>
              <a:t>研究现状概述及分析 </a:t>
            </a:r>
            <a:endParaRPr kumimoji="1" lang="en-US" altLang="zh-CN" sz="2800" b="1" dirty="0">
              <a:latin typeface="华文中宋" panose="02010600040101010101" pitchFamily="2" charset="-122"/>
              <a:ea typeface="华文中宋" panose="02010600040101010101" pitchFamily="2" charset="-122"/>
            </a:endParaRPr>
          </a:p>
          <a:p>
            <a:r>
              <a:rPr kumimoji="1" lang="en-US" altLang="zh-CN" sz="2800" b="1" dirty="0">
                <a:latin typeface="华文中宋" panose="02010600040101010101" pitchFamily="2" charset="-122"/>
                <a:ea typeface="华文中宋" panose="02010600040101010101" pitchFamily="2" charset="-122"/>
              </a:rPr>
              <a:t>3. </a:t>
            </a:r>
            <a:r>
              <a:rPr kumimoji="1" lang="zh-CN" altLang="en-US" sz="2800" b="1" dirty="0">
                <a:latin typeface="华文中宋" panose="02010600040101010101" pitchFamily="2" charset="-122"/>
                <a:ea typeface="华文中宋" panose="02010600040101010101" pitchFamily="2" charset="-122"/>
              </a:rPr>
              <a:t>噪声感知与偏好提取的多行为推荐方法</a:t>
            </a:r>
            <a:endParaRPr kumimoji="1" lang="en-US" altLang="zh-CN" sz="2800" b="1" dirty="0">
              <a:latin typeface="华文中宋" panose="02010600040101010101" pitchFamily="2" charset="-122"/>
              <a:ea typeface="华文中宋" panose="02010600040101010101" pitchFamily="2" charset="-122"/>
            </a:endParaRPr>
          </a:p>
          <a:p>
            <a:r>
              <a:rPr kumimoji="1" lang="en-US" altLang="zh-CN" sz="2800" b="1" dirty="0">
                <a:latin typeface="华文中宋" panose="02010600040101010101" pitchFamily="2" charset="-122"/>
                <a:ea typeface="华文中宋" panose="02010600040101010101" pitchFamily="2" charset="-122"/>
              </a:rPr>
              <a:t>4. </a:t>
            </a:r>
            <a:r>
              <a:rPr kumimoji="1" lang="zh-CN" altLang="en-US" sz="2800" b="1" dirty="0">
                <a:latin typeface="华文中宋" panose="02010600040101010101" pitchFamily="2" charset="-122"/>
                <a:ea typeface="华文中宋" panose="02010600040101010101" pitchFamily="2" charset="-122"/>
              </a:rPr>
              <a:t>噪声感知与偏好提取的多行为多模态推荐方法</a:t>
            </a:r>
            <a:endParaRPr kumimoji="1" lang="en-US" altLang="zh-CN" sz="2800" b="1" dirty="0">
              <a:latin typeface="华文中宋" panose="02010600040101010101" pitchFamily="2" charset="-122"/>
              <a:ea typeface="华文中宋" panose="02010600040101010101" pitchFamily="2" charset="-122"/>
            </a:endParaRPr>
          </a:p>
          <a:p>
            <a:r>
              <a:rPr kumimoji="1" lang="en-US" altLang="zh-CN" sz="2800" b="1" dirty="0">
                <a:latin typeface="华文中宋" panose="02010600040101010101" pitchFamily="2" charset="-122"/>
                <a:ea typeface="华文中宋" panose="02010600040101010101" pitchFamily="2" charset="-122"/>
              </a:rPr>
              <a:t>5. </a:t>
            </a:r>
            <a:r>
              <a:rPr kumimoji="1" lang="zh-CN" altLang="en-US" sz="2800" b="1" dirty="0">
                <a:latin typeface="华文中宋" panose="02010600040101010101" pitchFamily="2" charset="-122"/>
                <a:ea typeface="华文中宋" panose="02010600040101010101" pitchFamily="2" charset="-122"/>
              </a:rPr>
              <a:t>结论及参考文献</a:t>
            </a:r>
            <a:endParaRPr kumimoji="1" lang="en-US" altLang="zh-CN" sz="2800" b="1" dirty="0">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3592634977"/>
      </p:ext>
    </p:extLst>
  </p:cSld>
  <p:clrMapOvr>
    <a:masterClrMapping/>
  </p:clrMapOvr>
  <mc:AlternateContent xmlns:mc="http://schemas.openxmlformats.org/markup-compatibility/2006">
    <mc:Choice xmlns:p14="http://schemas.microsoft.com/office/powerpoint/2010/main" Requires="p14">
      <p:transition spd="slow" p14:dur="2000" advTm="2723"/>
    </mc:Choice>
    <mc:Fallback>
      <p:transition spd="slow" advTm="2723"/>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23FF93AD-B291-5347-AC70-D7287ABA5C8E}"/>
              </a:ext>
            </a:extLst>
          </p:cNvPr>
          <p:cNvSpPr>
            <a:spLocks noGrp="1"/>
          </p:cNvSpPr>
          <p:nvPr>
            <p:ph type="title"/>
          </p:nvPr>
        </p:nvSpPr>
        <p:spPr/>
        <p:txBody>
          <a:bodyPr>
            <a:normAutofit/>
          </a:bodyPr>
          <a:lstStyle/>
          <a:p>
            <a:r>
              <a:rPr kumimoji="1" lang="en-US" altLang="zh-CN" sz="3200" b="1" dirty="0">
                <a:latin typeface="华文中宋" panose="02010600040101010101" pitchFamily="2" charset="-122"/>
                <a:ea typeface="华文中宋" panose="02010600040101010101" pitchFamily="2" charset="-122"/>
              </a:rPr>
              <a:t>1. </a:t>
            </a:r>
            <a:r>
              <a:rPr kumimoji="1" lang="zh-CN" altLang="en-US" sz="3200" b="1" dirty="0">
                <a:latin typeface="华文中宋" panose="02010600040101010101" pitchFamily="2" charset="-122"/>
                <a:ea typeface="华文中宋" panose="02010600040101010101" pitchFamily="2" charset="-122"/>
              </a:rPr>
              <a:t>课题背景及研究的目的和意义 </a:t>
            </a:r>
            <a:endParaRPr kumimoji="1" lang="en-US" altLang="zh-CN" sz="3200" b="1" dirty="0">
              <a:latin typeface="华文中宋" panose="02010600040101010101" pitchFamily="2" charset="-122"/>
              <a:ea typeface="华文中宋" panose="02010600040101010101" pitchFamily="2" charset="-122"/>
            </a:endParaRPr>
          </a:p>
        </p:txBody>
      </p:sp>
      <p:sp>
        <p:nvSpPr>
          <p:cNvPr id="2" name="文本框 1">
            <a:extLst>
              <a:ext uri="{FF2B5EF4-FFF2-40B4-BE49-F238E27FC236}">
                <a16:creationId xmlns:a16="http://schemas.microsoft.com/office/drawing/2014/main" id="{E9416DCA-DAB8-240F-0DDC-190EB72F3945}"/>
              </a:ext>
            </a:extLst>
          </p:cNvPr>
          <p:cNvSpPr txBox="1"/>
          <p:nvPr/>
        </p:nvSpPr>
        <p:spPr>
          <a:xfrm>
            <a:off x="4209457" y="4571149"/>
            <a:ext cx="4727943" cy="338554"/>
          </a:xfrm>
          <a:prstGeom prst="rect">
            <a:avLst/>
          </a:prstGeom>
          <a:noFill/>
        </p:spPr>
        <p:txBody>
          <a:bodyPr wrap="square" rtlCol="0">
            <a:spAutoFit/>
          </a:bodyPr>
          <a:lstStyle/>
          <a:p>
            <a:r>
              <a:rPr lang="zh-CN" altLang="en-US" sz="1600" dirty="0">
                <a:solidFill>
                  <a:srgbClr val="000000"/>
                </a:solidFill>
                <a:effectLst/>
                <a:latin typeface="华文中宋" panose="02010600040101010101" pitchFamily="2" charset="-122"/>
                <a:ea typeface="华文中宋" panose="02010600040101010101" pitchFamily="2" charset="-122"/>
              </a:rPr>
              <a:t>图</a:t>
            </a:r>
            <a:r>
              <a:rPr lang="en-US" altLang="zh-CN" sz="1600" dirty="0">
                <a:solidFill>
                  <a:srgbClr val="000000"/>
                </a:solidFill>
                <a:effectLst/>
                <a:latin typeface="华文中宋" panose="02010600040101010101" pitchFamily="2" charset="-122"/>
                <a:ea typeface="华文中宋" panose="02010600040101010101" pitchFamily="2" charset="-122"/>
              </a:rPr>
              <a:t>1-1 </a:t>
            </a:r>
            <a:r>
              <a:rPr lang="zh-CN" altLang="en-US" sz="1600" dirty="0">
                <a:solidFill>
                  <a:srgbClr val="000000"/>
                </a:solidFill>
                <a:effectLst/>
                <a:latin typeface="华文中宋" panose="02010600040101010101" pitchFamily="2" charset="-122"/>
                <a:ea typeface="华文中宋" panose="02010600040101010101" pitchFamily="2" charset="-122"/>
              </a:rPr>
              <a:t>电商平台中用户的多种行为</a:t>
            </a:r>
            <a:endParaRPr lang="zh-CN" altLang="en-US" sz="1600" b="1" baseline="30000" dirty="0">
              <a:latin typeface="华文中宋" panose="02010600040101010101" pitchFamily="2" charset="-122"/>
              <a:ea typeface="华文中宋" panose="02010600040101010101" pitchFamily="2" charset="-122"/>
            </a:endParaRPr>
          </a:p>
        </p:txBody>
      </p:sp>
      <p:pic>
        <p:nvPicPr>
          <p:cNvPr id="17" name="图片 16">
            <a:extLst>
              <a:ext uri="{FF2B5EF4-FFF2-40B4-BE49-F238E27FC236}">
                <a16:creationId xmlns:a16="http://schemas.microsoft.com/office/drawing/2014/main" id="{DB95FA5C-6C2D-453D-929B-C4976B1F386F}"/>
              </a:ext>
            </a:extLst>
          </p:cNvPr>
          <p:cNvPicPr>
            <a:picLocks noChangeAspect="1"/>
          </p:cNvPicPr>
          <p:nvPr/>
        </p:nvPicPr>
        <p:blipFill>
          <a:blip r:embed="rId3"/>
          <a:stretch>
            <a:fillRect/>
          </a:stretch>
        </p:blipFill>
        <p:spPr>
          <a:xfrm>
            <a:off x="3749059" y="2553589"/>
            <a:ext cx="4321646" cy="1750821"/>
          </a:xfrm>
          <a:prstGeom prst="rect">
            <a:avLst/>
          </a:prstGeom>
        </p:spPr>
      </p:pic>
      <p:sp>
        <p:nvSpPr>
          <p:cNvPr id="20" name="内容占位符 1">
            <a:extLst>
              <a:ext uri="{FF2B5EF4-FFF2-40B4-BE49-F238E27FC236}">
                <a16:creationId xmlns:a16="http://schemas.microsoft.com/office/drawing/2014/main" id="{821D0A5C-C49D-481E-B3BC-F55F6BF309D0}"/>
              </a:ext>
            </a:extLst>
          </p:cNvPr>
          <p:cNvSpPr>
            <a:spLocks noGrp="1"/>
          </p:cNvSpPr>
          <p:nvPr>
            <p:ph idx="1"/>
          </p:nvPr>
        </p:nvSpPr>
        <p:spPr>
          <a:xfrm>
            <a:off x="534075" y="1521304"/>
            <a:ext cx="11398638" cy="4771558"/>
          </a:xfrm>
        </p:spPr>
        <p:txBody>
          <a:bodyPr>
            <a:normAutofit/>
          </a:bodyPr>
          <a:lstStyle/>
          <a:p>
            <a:r>
              <a:rPr lang="zh-CN" altLang="en-US" sz="2000" dirty="0">
                <a:latin typeface="华文中宋" panose="02010600040101010101" pitchFamily="2" charset="-122"/>
                <a:ea typeface="华文中宋" panose="02010600040101010101" pitchFamily="2" charset="-122"/>
              </a:rPr>
              <a:t>电商平台是当前互联网平台最重要的商业形态之一</a:t>
            </a:r>
            <a:endParaRPr lang="en-US" altLang="zh-CN" sz="2000" dirty="0">
              <a:latin typeface="华文中宋" panose="02010600040101010101" pitchFamily="2" charset="-122"/>
              <a:ea typeface="华文中宋" panose="02010600040101010101" pitchFamily="2" charset="-122"/>
            </a:endParaRPr>
          </a:p>
          <a:p>
            <a:r>
              <a:rPr lang="zh-CN" altLang="en-US" sz="2000" dirty="0">
                <a:latin typeface="华文中宋" panose="02010600040101010101" pitchFamily="2" charset="-122"/>
                <a:ea typeface="华文中宋" panose="02010600040101010101" pitchFamily="2" charset="-122"/>
              </a:rPr>
              <a:t>其核心收入高度依赖于</a:t>
            </a:r>
            <a:r>
              <a:rPr lang="zh-CN" altLang="en-US" sz="2000" dirty="0">
                <a:solidFill>
                  <a:srgbClr val="FF0000"/>
                </a:solidFill>
                <a:latin typeface="华文中宋" panose="02010600040101010101" pitchFamily="2" charset="-122"/>
                <a:ea typeface="华文中宋" panose="02010600040101010101" pitchFamily="2" charset="-122"/>
              </a:rPr>
              <a:t>推荐系统</a:t>
            </a:r>
            <a:r>
              <a:rPr lang="zh-CN" altLang="en-US" sz="2000" dirty="0">
                <a:latin typeface="华文中宋" panose="02010600040101010101" pitchFamily="2" charset="-122"/>
                <a:ea typeface="华文中宋" panose="02010600040101010101" pitchFamily="2" charset="-122"/>
              </a:rPr>
              <a:t>对用户兴趣的精准建模</a:t>
            </a:r>
            <a:endParaRPr lang="en-US" altLang="zh-CN" sz="2000" dirty="0">
              <a:latin typeface="华文中宋" panose="02010600040101010101" pitchFamily="2" charset="-122"/>
              <a:ea typeface="华文中宋" panose="02010600040101010101" pitchFamily="2" charset="-122"/>
            </a:endParaRPr>
          </a:p>
          <a:p>
            <a:endParaRPr lang="en-US" altLang="zh-CN" sz="2000" dirty="0">
              <a:latin typeface="华文中宋" panose="02010600040101010101" pitchFamily="2" charset="-122"/>
              <a:ea typeface="华文中宋" panose="02010600040101010101" pitchFamily="2" charset="-122"/>
            </a:endParaRPr>
          </a:p>
          <a:p>
            <a:endParaRPr lang="en-US" altLang="zh-CN" sz="2000" dirty="0">
              <a:latin typeface="华文中宋" panose="02010600040101010101" pitchFamily="2" charset="-122"/>
              <a:ea typeface="华文中宋" panose="02010600040101010101" pitchFamily="2" charset="-122"/>
            </a:endParaRPr>
          </a:p>
          <a:p>
            <a:endParaRPr lang="en-US" altLang="zh-CN" sz="2000" dirty="0">
              <a:latin typeface="华文中宋" panose="02010600040101010101" pitchFamily="2" charset="-122"/>
              <a:ea typeface="华文中宋" panose="02010600040101010101" pitchFamily="2" charset="-122"/>
            </a:endParaRPr>
          </a:p>
          <a:p>
            <a:endParaRPr lang="en-US" altLang="zh-CN" sz="2000" dirty="0">
              <a:latin typeface="华文中宋" panose="02010600040101010101" pitchFamily="2" charset="-122"/>
              <a:ea typeface="华文中宋" panose="02010600040101010101" pitchFamily="2" charset="-122"/>
            </a:endParaRPr>
          </a:p>
          <a:p>
            <a:endParaRPr kumimoji="1" lang="en-US" altLang="zh-CN" sz="2000" dirty="0">
              <a:solidFill>
                <a:schemeClr val="tx1"/>
              </a:solidFill>
            </a:endParaRPr>
          </a:p>
          <a:p>
            <a:r>
              <a:rPr lang="zh-CN" altLang="en-US" sz="2000" dirty="0">
                <a:latin typeface="华文中宋" panose="02010600040101010101" pitchFamily="2" charset="-122"/>
                <a:ea typeface="华文中宋" panose="02010600040101010101" pitchFamily="2" charset="-122"/>
              </a:rPr>
              <a:t>如图所示，用户在电商平台中会产生多种不同行为。</a:t>
            </a:r>
            <a:endParaRPr lang="en-US" altLang="zh-CN" sz="2000" dirty="0">
              <a:latin typeface="华文中宋" panose="02010600040101010101" pitchFamily="2" charset="-122"/>
              <a:ea typeface="华文中宋" panose="02010600040101010101" pitchFamily="2" charset="-122"/>
            </a:endParaRPr>
          </a:p>
          <a:p>
            <a:r>
              <a:rPr lang="zh-CN" altLang="en-US" sz="2000" dirty="0">
                <a:latin typeface="华文中宋" panose="02010600040101010101" pitchFamily="2" charset="-122"/>
                <a:ea typeface="华文中宋" panose="02010600040101010101" pitchFamily="2" charset="-122"/>
              </a:rPr>
              <a:t>这些行为蕴含着用户在不同决策阶段地偏好强度与意图信号，是构建精细化用户画像的重要依据。</a:t>
            </a:r>
            <a:endParaRPr lang="en-US" altLang="zh-CN" sz="2000" dirty="0">
              <a:latin typeface="华文中宋" panose="02010600040101010101" pitchFamily="2" charset="-122"/>
              <a:ea typeface="华文中宋" panose="02010600040101010101" pitchFamily="2" charset="-122"/>
            </a:endParaRPr>
          </a:p>
          <a:p>
            <a:endParaRPr kumimoji="1" lang="zh-CN" altLang="en-US" sz="2000" dirty="0">
              <a:solidFill>
                <a:schemeClr val="tx1"/>
              </a:solidFill>
            </a:endParaRPr>
          </a:p>
        </p:txBody>
      </p:sp>
    </p:spTree>
    <p:extLst>
      <p:ext uri="{BB962C8B-B14F-4D97-AF65-F5344CB8AC3E}">
        <p14:creationId xmlns:p14="http://schemas.microsoft.com/office/powerpoint/2010/main" val="1285981409"/>
      </p:ext>
    </p:extLst>
  </p:cSld>
  <p:clrMapOvr>
    <a:masterClrMapping/>
  </p:clrMapOvr>
  <mc:AlternateContent xmlns:mc="http://schemas.openxmlformats.org/markup-compatibility/2006">
    <mc:Choice xmlns:p14="http://schemas.microsoft.com/office/powerpoint/2010/main" Requires="p14">
      <p:transition spd="slow" p14:dur="2000" advTm="17243"/>
    </mc:Choice>
    <mc:Fallback>
      <p:transition spd="slow" advTm="17243"/>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23FF93AD-B291-5347-AC70-D7287ABA5C8E}"/>
              </a:ext>
            </a:extLst>
          </p:cNvPr>
          <p:cNvSpPr>
            <a:spLocks noGrp="1"/>
          </p:cNvSpPr>
          <p:nvPr>
            <p:ph type="title"/>
          </p:nvPr>
        </p:nvSpPr>
        <p:spPr/>
        <p:txBody>
          <a:bodyPr>
            <a:normAutofit/>
          </a:bodyPr>
          <a:lstStyle/>
          <a:p>
            <a:r>
              <a:rPr kumimoji="1" lang="en-US" altLang="zh-CN" sz="3200" b="1" dirty="0">
                <a:latin typeface="华文中宋" panose="02010600040101010101" pitchFamily="2" charset="-122"/>
                <a:ea typeface="华文中宋" panose="02010600040101010101" pitchFamily="2" charset="-122"/>
              </a:rPr>
              <a:t>1. </a:t>
            </a:r>
            <a:r>
              <a:rPr kumimoji="1" lang="zh-CN" altLang="en-US" sz="3200" b="1" dirty="0">
                <a:latin typeface="华文中宋" panose="02010600040101010101" pitchFamily="2" charset="-122"/>
                <a:ea typeface="华文中宋" panose="02010600040101010101" pitchFamily="2" charset="-122"/>
              </a:rPr>
              <a:t>课题背景及研究的目的和意义 </a:t>
            </a:r>
            <a:endParaRPr kumimoji="1" lang="en-US" altLang="zh-CN" sz="3200" b="1" dirty="0">
              <a:latin typeface="华文中宋" panose="02010600040101010101" pitchFamily="2" charset="-122"/>
              <a:ea typeface="华文中宋" panose="02010600040101010101" pitchFamily="2" charset="-122"/>
            </a:endParaRPr>
          </a:p>
        </p:txBody>
      </p:sp>
      <p:sp>
        <p:nvSpPr>
          <p:cNvPr id="15" name="内容占位符 1">
            <a:extLst>
              <a:ext uri="{FF2B5EF4-FFF2-40B4-BE49-F238E27FC236}">
                <a16:creationId xmlns:a16="http://schemas.microsoft.com/office/drawing/2014/main" id="{7B6375B4-AF07-0566-C8D3-65FCD39BB59C}"/>
              </a:ext>
            </a:extLst>
          </p:cNvPr>
          <p:cNvSpPr>
            <a:spLocks noGrp="1"/>
          </p:cNvSpPr>
          <p:nvPr>
            <p:ph idx="1"/>
          </p:nvPr>
        </p:nvSpPr>
        <p:spPr>
          <a:xfrm>
            <a:off x="270377" y="1476627"/>
            <a:ext cx="10668034" cy="5006924"/>
          </a:xfrm>
        </p:spPr>
        <p:txBody>
          <a:bodyPr>
            <a:normAutofit/>
          </a:bodyPr>
          <a:lstStyle/>
          <a:p>
            <a:r>
              <a:rPr lang="zh-CN" altLang="en-US" dirty="0">
                <a:solidFill>
                  <a:schemeClr val="tx1"/>
                </a:solidFill>
                <a:effectLst/>
                <a:latin typeface="华文中宋" panose="02010600040101010101" pitchFamily="2" charset="-122"/>
                <a:ea typeface="华文中宋" panose="02010600040101010101" pitchFamily="2" charset="-122"/>
              </a:rPr>
              <a:t>电商平台中的多行为数据：</a:t>
            </a:r>
            <a:endParaRPr lang="en-US" altLang="zh-CN" dirty="0">
              <a:solidFill>
                <a:schemeClr val="tx1"/>
              </a:solidFill>
              <a:effectLst/>
              <a:latin typeface="华文中宋" panose="02010600040101010101" pitchFamily="2" charset="-122"/>
              <a:ea typeface="华文中宋" panose="02010600040101010101" pitchFamily="2" charset="-122"/>
            </a:endParaRPr>
          </a:p>
          <a:p>
            <a:pPr lvl="1"/>
            <a:r>
              <a:rPr lang="zh-CN" altLang="en-US" dirty="0">
                <a:solidFill>
                  <a:schemeClr val="tx1"/>
                </a:solidFill>
                <a:latin typeface="华文中宋" panose="02010600040101010101" pitchFamily="2" charset="-122"/>
                <a:ea typeface="华文中宋" panose="02010600040101010101" pitchFamily="2" charset="-122"/>
              </a:rPr>
              <a:t>用户行为（点击、收藏、加购、购买等）隐含丰富的兴趣信号。</a:t>
            </a:r>
            <a:endParaRPr lang="en-US" altLang="zh-CN" dirty="0">
              <a:solidFill>
                <a:schemeClr val="tx1"/>
              </a:solidFill>
              <a:latin typeface="华文中宋" panose="02010600040101010101" pitchFamily="2" charset="-122"/>
              <a:ea typeface="华文中宋" panose="02010600040101010101" pitchFamily="2" charset="-122"/>
            </a:endParaRPr>
          </a:p>
          <a:p>
            <a:pPr lvl="1"/>
            <a:r>
              <a:rPr lang="zh-CN" altLang="en-US" dirty="0">
                <a:solidFill>
                  <a:schemeClr val="tx1"/>
                </a:solidFill>
                <a:effectLst/>
                <a:latin typeface="华文中宋" panose="02010600040101010101" pitchFamily="2" charset="-122"/>
                <a:ea typeface="华文中宋" panose="02010600040101010101" pitchFamily="2" charset="-122"/>
              </a:rPr>
              <a:t>多行为协同建模能更全面、前瞻地理解用户意图，提升转化。</a:t>
            </a:r>
            <a:endParaRPr lang="en-US" altLang="zh-CN" dirty="0">
              <a:solidFill>
                <a:schemeClr val="tx1"/>
              </a:solidFill>
              <a:effectLst/>
              <a:latin typeface="华文中宋" panose="02010600040101010101" pitchFamily="2" charset="-122"/>
              <a:ea typeface="华文中宋" panose="02010600040101010101" pitchFamily="2" charset="-122"/>
            </a:endParaRPr>
          </a:p>
          <a:p>
            <a:pPr lvl="1"/>
            <a:endParaRPr lang="en-US" altLang="zh-CN" dirty="0">
              <a:solidFill>
                <a:schemeClr val="tx1"/>
              </a:solidFill>
              <a:effectLst/>
              <a:latin typeface="华文中宋" panose="02010600040101010101" pitchFamily="2" charset="-122"/>
              <a:ea typeface="华文中宋" panose="02010600040101010101" pitchFamily="2" charset="-122"/>
            </a:endParaRPr>
          </a:p>
          <a:p>
            <a:r>
              <a:rPr lang="zh-CN" altLang="en-US" dirty="0">
                <a:solidFill>
                  <a:schemeClr val="tx1"/>
                </a:solidFill>
                <a:latin typeface="华文中宋" panose="02010600040101010101" pitchFamily="2" charset="-122"/>
                <a:ea typeface="华文中宋" panose="02010600040101010101" pitchFamily="2" charset="-122"/>
              </a:rPr>
              <a:t>现有方法的瓶颈</a:t>
            </a:r>
            <a:r>
              <a:rPr lang="zh-CN" altLang="en-US" sz="1800" dirty="0">
                <a:solidFill>
                  <a:schemeClr val="tx1"/>
                </a:solidFill>
                <a:latin typeface="华文中宋" panose="02010600040101010101" pitchFamily="2" charset="-122"/>
                <a:ea typeface="华文中宋" panose="02010600040101010101" pitchFamily="2" charset="-122"/>
              </a:rPr>
              <a:t>：</a:t>
            </a:r>
            <a:r>
              <a:rPr lang="zh-CN" altLang="en-US" b="1" i="0" dirty="0">
                <a:solidFill>
                  <a:srgbClr val="0F1115"/>
                </a:solidFill>
                <a:effectLst/>
                <a:latin typeface="华文中宋" panose="02010600040101010101" pitchFamily="2" charset="-122"/>
                <a:ea typeface="华文中宋" panose="02010600040101010101" pitchFamily="2" charset="-122"/>
              </a:rPr>
              <a:t>行为数据分布高度不均衡且含噪</a:t>
            </a:r>
            <a:endParaRPr lang="en-US" altLang="zh-CN" sz="1800" dirty="0">
              <a:solidFill>
                <a:srgbClr val="FF0000"/>
              </a:solidFill>
              <a:latin typeface="华文中宋" panose="02010600040101010101" pitchFamily="2" charset="-122"/>
              <a:ea typeface="华文中宋" panose="02010600040101010101" pitchFamily="2" charset="-122"/>
            </a:endParaRPr>
          </a:p>
          <a:p>
            <a:pPr lvl="1"/>
            <a:r>
              <a:rPr lang="zh-CN" altLang="en-US" b="0" i="0" dirty="0">
                <a:solidFill>
                  <a:srgbClr val="111133"/>
                </a:solidFill>
                <a:effectLst/>
                <a:latin typeface="华文中宋" panose="02010600040101010101" pitchFamily="2" charset="-122"/>
                <a:ea typeface="华文中宋" panose="02010600040101010101" pitchFamily="2" charset="-122"/>
              </a:rPr>
              <a:t>点击、浏览等低价值行为占比极高，而购买等高价值行为极为稀疏。</a:t>
            </a:r>
            <a:endParaRPr lang="en-US" altLang="zh-CN" dirty="0">
              <a:solidFill>
                <a:schemeClr val="tx1"/>
              </a:solidFill>
              <a:effectLst/>
              <a:latin typeface="华文中宋" panose="02010600040101010101" pitchFamily="2" charset="-122"/>
              <a:ea typeface="华文中宋" panose="02010600040101010101" pitchFamily="2" charset="-122"/>
            </a:endParaRPr>
          </a:p>
          <a:p>
            <a:pPr lvl="1"/>
            <a:r>
              <a:rPr lang="zh-CN" altLang="en-US" dirty="0">
                <a:solidFill>
                  <a:schemeClr val="tx1"/>
                </a:solidFill>
                <a:latin typeface="华文中宋" panose="02010600040101010101" pitchFamily="2" charset="-122"/>
                <a:ea typeface="华文中宋" panose="02010600040101010101" pitchFamily="2" charset="-122"/>
              </a:rPr>
              <a:t>现有方法往往关注行为的共性建模，</a:t>
            </a:r>
            <a:r>
              <a:rPr lang="zh-CN" altLang="en-US" dirty="0">
                <a:solidFill>
                  <a:srgbClr val="FF0000"/>
                </a:solidFill>
                <a:latin typeface="华文中宋" panose="02010600040101010101" pitchFamily="2" charset="-122"/>
                <a:ea typeface="华文中宋" panose="02010600040101010101" pitchFamily="2" charset="-122"/>
              </a:rPr>
              <a:t>未能考虑不同行为噪声水平的差异，导致高价值行为信号被稀释</a:t>
            </a:r>
            <a:r>
              <a:rPr lang="zh-CN" altLang="en-US" dirty="0">
                <a:solidFill>
                  <a:schemeClr val="tx1"/>
                </a:solidFill>
                <a:latin typeface="华文中宋" panose="02010600040101010101" pitchFamily="2" charset="-122"/>
                <a:ea typeface="华文中宋" panose="02010600040101010101" pitchFamily="2" charset="-122"/>
              </a:rPr>
              <a:t>。</a:t>
            </a:r>
            <a:endParaRPr lang="en-US" altLang="zh-CN" dirty="0">
              <a:solidFill>
                <a:schemeClr val="tx1"/>
              </a:solidFill>
              <a:effectLst/>
              <a:latin typeface="华文中宋" panose="02010600040101010101" pitchFamily="2" charset="-122"/>
              <a:ea typeface="华文中宋" panose="02010600040101010101" pitchFamily="2" charset="-122"/>
            </a:endParaRPr>
          </a:p>
          <a:p>
            <a:pPr lvl="1"/>
            <a:r>
              <a:rPr lang="zh-CN" altLang="en-US" b="0" i="0" dirty="0">
                <a:solidFill>
                  <a:srgbClr val="111133"/>
                </a:solidFill>
                <a:effectLst/>
                <a:latin typeface="华文中宋" panose="02010600040101010101" pitchFamily="2" charset="-122"/>
                <a:ea typeface="华文中宋" panose="02010600040101010101" pitchFamily="2" charset="-122"/>
              </a:rPr>
              <a:t>因此，兴趣表征易受噪声行为主导，高价值信号被淹没，进而引入行为间依赖关系的偏差。</a:t>
            </a:r>
            <a:endParaRPr kumimoji="1" lang="en-US" altLang="zh-CN" dirty="0">
              <a:solidFill>
                <a:schemeClr val="tx1"/>
              </a:solidFill>
              <a:latin typeface="华文中宋" panose="02010600040101010101" pitchFamily="2" charset="-122"/>
              <a:ea typeface="华文中宋" panose="02010600040101010101" pitchFamily="2" charset="-122"/>
            </a:endParaRPr>
          </a:p>
          <a:p>
            <a:endParaRPr kumimoji="1" lang="zh-CN" altLang="en-US" dirty="0">
              <a:solidFill>
                <a:schemeClr val="tx1"/>
              </a:solidFill>
            </a:endParaRPr>
          </a:p>
        </p:txBody>
      </p:sp>
      <p:pic>
        <p:nvPicPr>
          <p:cNvPr id="4" name="图片 3">
            <a:extLst>
              <a:ext uri="{FF2B5EF4-FFF2-40B4-BE49-F238E27FC236}">
                <a16:creationId xmlns:a16="http://schemas.microsoft.com/office/drawing/2014/main" id="{1B98478F-55A4-48D4-9D32-03DA5EA81A4D}"/>
              </a:ext>
            </a:extLst>
          </p:cNvPr>
          <p:cNvPicPr>
            <a:picLocks noChangeAspect="1"/>
          </p:cNvPicPr>
          <p:nvPr/>
        </p:nvPicPr>
        <p:blipFill>
          <a:blip r:embed="rId3"/>
          <a:stretch>
            <a:fillRect/>
          </a:stretch>
        </p:blipFill>
        <p:spPr>
          <a:xfrm>
            <a:off x="8309503" y="1476627"/>
            <a:ext cx="2928102" cy="2184174"/>
          </a:xfrm>
          <a:prstGeom prst="rect">
            <a:avLst/>
          </a:prstGeom>
        </p:spPr>
      </p:pic>
      <p:sp>
        <p:nvSpPr>
          <p:cNvPr id="8" name="文本框 7">
            <a:extLst>
              <a:ext uri="{FF2B5EF4-FFF2-40B4-BE49-F238E27FC236}">
                <a16:creationId xmlns:a16="http://schemas.microsoft.com/office/drawing/2014/main" id="{D11BFAEF-A02A-4F74-BCE6-D0E457A1EE5D}"/>
              </a:ext>
            </a:extLst>
          </p:cNvPr>
          <p:cNvSpPr txBox="1"/>
          <p:nvPr/>
        </p:nvSpPr>
        <p:spPr>
          <a:xfrm>
            <a:off x="8309503" y="3627984"/>
            <a:ext cx="4727943" cy="338554"/>
          </a:xfrm>
          <a:prstGeom prst="rect">
            <a:avLst/>
          </a:prstGeom>
          <a:noFill/>
        </p:spPr>
        <p:txBody>
          <a:bodyPr wrap="square" rtlCol="0">
            <a:spAutoFit/>
          </a:bodyPr>
          <a:lstStyle/>
          <a:p>
            <a:r>
              <a:rPr lang="zh-CN" altLang="en-US" sz="1600" dirty="0">
                <a:solidFill>
                  <a:srgbClr val="000000"/>
                </a:solidFill>
                <a:effectLst/>
                <a:latin typeface="华文中宋" panose="02010600040101010101" pitchFamily="2" charset="-122"/>
                <a:ea typeface="华文中宋" panose="02010600040101010101" pitchFamily="2" charset="-122"/>
              </a:rPr>
              <a:t>图</a:t>
            </a:r>
            <a:r>
              <a:rPr lang="en-US" altLang="zh-CN" sz="1600" dirty="0">
                <a:solidFill>
                  <a:srgbClr val="000000"/>
                </a:solidFill>
                <a:effectLst/>
                <a:latin typeface="华文中宋" panose="02010600040101010101" pitchFamily="2" charset="-122"/>
                <a:ea typeface="华文中宋" panose="02010600040101010101" pitchFamily="2" charset="-122"/>
              </a:rPr>
              <a:t>1-2 </a:t>
            </a:r>
            <a:r>
              <a:rPr lang="zh-CN" altLang="en-US" sz="1600" b="1" i="0" dirty="0">
                <a:effectLst/>
                <a:latin typeface="-apple-system"/>
              </a:rPr>
              <a:t>不同用户行为的交互次数分布</a:t>
            </a:r>
            <a:endParaRPr lang="zh-CN" altLang="en-US" sz="1600" b="1" baseline="30000" dirty="0">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39717851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23FF93AD-B291-5347-AC70-D7287ABA5C8E}"/>
              </a:ext>
            </a:extLst>
          </p:cNvPr>
          <p:cNvSpPr>
            <a:spLocks noGrp="1"/>
          </p:cNvSpPr>
          <p:nvPr>
            <p:ph type="title"/>
          </p:nvPr>
        </p:nvSpPr>
        <p:spPr/>
        <p:txBody>
          <a:bodyPr>
            <a:normAutofit/>
          </a:bodyPr>
          <a:lstStyle/>
          <a:p>
            <a:r>
              <a:rPr kumimoji="1" lang="en-US" altLang="zh-CN" sz="3200" b="1" dirty="0">
                <a:latin typeface="华文中宋" panose="02010600040101010101" pitchFamily="2" charset="-122"/>
                <a:ea typeface="华文中宋" panose="02010600040101010101" pitchFamily="2" charset="-122"/>
              </a:rPr>
              <a:t>2. </a:t>
            </a:r>
            <a:r>
              <a:rPr kumimoji="1" lang="zh-CN" altLang="en-US" sz="3200" b="1" dirty="0">
                <a:latin typeface="华文中宋" panose="02010600040101010101" pitchFamily="2" charset="-122"/>
                <a:ea typeface="华文中宋" panose="02010600040101010101" pitchFamily="2" charset="-122"/>
              </a:rPr>
              <a:t>研究现状概述及分析 </a:t>
            </a:r>
            <a:endParaRPr kumimoji="1" lang="en-US" altLang="zh-CN" sz="3200" b="1" dirty="0">
              <a:latin typeface="华文中宋" panose="02010600040101010101" pitchFamily="2" charset="-122"/>
              <a:ea typeface="华文中宋" panose="02010600040101010101" pitchFamily="2" charset="-122"/>
            </a:endParaRPr>
          </a:p>
        </p:txBody>
      </p:sp>
      <p:sp>
        <p:nvSpPr>
          <p:cNvPr id="14" name="文本框 13">
            <a:extLst>
              <a:ext uri="{FF2B5EF4-FFF2-40B4-BE49-F238E27FC236}">
                <a16:creationId xmlns:a16="http://schemas.microsoft.com/office/drawing/2014/main" id="{9820D2CA-E2D2-F56F-91D1-34DE3E999E0B}"/>
              </a:ext>
            </a:extLst>
          </p:cNvPr>
          <p:cNvSpPr txBox="1"/>
          <p:nvPr/>
        </p:nvSpPr>
        <p:spPr>
          <a:xfrm>
            <a:off x="430520" y="1317412"/>
            <a:ext cx="7745818" cy="400110"/>
          </a:xfrm>
          <a:prstGeom prst="rect">
            <a:avLst/>
          </a:prstGeom>
          <a:noFill/>
        </p:spPr>
        <p:txBody>
          <a:bodyPr wrap="square" rtlCol="0">
            <a:spAutoFit/>
          </a:bodyPr>
          <a:lstStyle/>
          <a:p>
            <a:r>
              <a:rPr lang="zh-CN" altLang="en-US" sz="2000" b="1" dirty="0">
                <a:solidFill>
                  <a:srgbClr val="000000"/>
                </a:solidFill>
                <a:effectLst/>
                <a:latin typeface="华文中宋" panose="02010600040101010101" pitchFamily="2" charset="-122"/>
                <a:ea typeface="华文中宋" panose="02010600040101010101" pitchFamily="2" charset="-122"/>
              </a:rPr>
              <a:t>多行为推荐的研究重点：</a:t>
            </a:r>
            <a:r>
              <a:rPr lang="zh-CN" altLang="en-US" sz="2000" b="1" dirty="0">
                <a:solidFill>
                  <a:srgbClr val="FF0000"/>
                </a:solidFill>
                <a:effectLst/>
                <a:latin typeface="华文中宋" panose="02010600040101010101" pitchFamily="2" charset="-122"/>
                <a:ea typeface="华文中宋" panose="02010600040101010101" pitchFamily="2" charset="-122"/>
              </a:rPr>
              <a:t>行为信号的融合</a:t>
            </a:r>
            <a:r>
              <a:rPr lang="zh-CN" altLang="en-US" sz="2000" b="1" dirty="0">
                <a:solidFill>
                  <a:srgbClr val="000000"/>
                </a:solidFill>
                <a:effectLst/>
                <a:latin typeface="华文中宋" panose="02010600040101010101" pitchFamily="2" charset="-122"/>
                <a:ea typeface="华文中宋" panose="02010600040101010101" pitchFamily="2" charset="-122"/>
              </a:rPr>
              <a:t>与</a:t>
            </a:r>
            <a:r>
              <a:rPr lang="zh-CN" altLang="en-US" sz="2000" b="1" dirty="0">
                <a:solidFill>
                  <a:srgbClr val="FF0000"/>
                </a:solidFill>
                <a:effectLst/>
                <a:latin typeface="华文中宋" panose="02010600040101010101" pitchFamily="2" charset="-122"/>
                <a:ea typeface="华文中宋" panose="02010600040101010101" pitchFamily="2" charset="-122"/>
              </a:rPr>
              <a:t>噪声抑制</a:t>
            </a:r>
            <a:endParaRPr lang="zh-CN" altLang="en-US" sz="2000" b="1" dirty="0">
              <a:solidFill>
                <a:srgbClr val="FF0000"/>
              </a:solidFill>
              <a:latin typeface="华文中宋" panose="02010600040101010101" pitchFamily="2" charset="-122"/>
              <a:ea typeface="华文中宋" panose="02010600040101010101" pitchFamily="2" charset="-122"/>
            </a:endParaRPr>
          </a:p>
        </p:txBody>
      </p:sp>
      <p:sp>
        <p:nvSpPr>
          <p:cNvPr id="15" name="内容占位符 1">
            <a:extLst>
              <a:ext uri="{FF2B5EF4-FFF2-40B4-BE49-F238E27FC236}">
                <a16:creationId xmlns:a16="http://schemas.microsoft.com/office/drawing/2014/main" id="{7B6375B4-AF07-0566-C8D3-65FCD39BB59C}"/>
              </a:ext>
            </a:extLst>
          </p:cNvPr>
          <p:cNvSpPr>
            <a:spLocks noGrp="1"/>
          </p:cNvSpPr>
          <p:nvPr>
            <p:ph idx="1"/>
          </p:nvPr>
        </p:nvSpPr>
        <p:spPr>
          <a:xfrm>
            <a:off x="369776" y="2234803"/>
            <a:ext cx="11452447" cy="4204707"/>
          </a:xfrm>
        </p:spPr>
        <p:txBody>
          <a:bodyPr>
            <a:normAutofit/>
          </a:bodyPr>
          <a:lstStyle/>
          <a:p>
            <a:r>
              <a:rPr lang="en-US" altLang="zh-CN" dirty="0">
                <a:solidFill>
                  <a:schemeClr val="tx1"/>
                </a:solidFill>
                <a:effectLst/>
                <a:latin typeface="华文中宋" panose="02010600040101010101" pitchFamily="2" charset="-122"/>
                <a:ea typeface="华文中宋" panose="02010600040101010101" pitchFamily="2" charset="-122"/>
              </a:rPr>
              <a:t>2020 </a:t>
            </a:r>
            <a:r>
              <a:rPr lang="zh-CN" altLang="en-US" dirty="0">
                <a:solidFill>
                  <a:schemeClr val="tx1"/>
                </a:solidFill>
                <a:effectLst/>
                <a:latin typeface="华文中宋" panose="02010600040101010101" pitchFamily="2" charset="-122"/>
                <a:ea typeface="华文中宋" panose="02010600040101010101" pitchFamily="2" charset="-122"/>
              </a:rPr>
              <a:t>年，</a:t>
            </a:r>
            <a:r>
              <a:rPr lang="en-US" altLang="zh-CN" dirty="0" err="1"/>
              <a:t>Jin</a:t>
            </a:r>
            <a:r>
              <a:rPr lang="en-US" altLang="zh-CN" dirty="0">
                <a:solidFill>
                  <a:schemeClr val="tx1"/>
                </a:solidFill>
                <a:effectLst/>
                <a:latin typeface="华文中宋" panose="02010600040101010101" pitchFamily="2" charset="-122"/>
                <a:ea typeface="华文中宋" panose="02010600040101010101" pitchFamily="2" charset="-122"/>
              </a:rPr>
              <a:t> </a:t>
            </a:r>
            <a:r>
              <a:rPr lang="zh-CN" altLang="en-US" dirty="0">
                <a:solidFill>
                  <a:schemeClr val="tx1"/>
                </a:solidFill>
                <a:effectLst/>
                <a:latin typeface="华文中宋" panose="02010600040101010101" pitchFamily="2" charset="-122"/>
                <a:ea typeface="华文中宋" panose="02010600040101010101" pitchFamily="2" charset="-122"/>
              </a:rPr>
              <a:t>等人</a:t>
            </a:r>
            <a:r>
              <a:rPr lang="en-US" altLang="zh-CN" baseline="30000" dirty="0">
                <a:solidFill>
                  <a:schemeClr val="tx1"/>
                </a:solidFill>
                <a:effectLst/>
                <a:latin typeface="华文中宋" panose="02010600040101010101" pitchFamily="2" charset="-122"/>
                <a:ea typeface="华文中宋" panose="02010600040101010101" pitchFamily="2" charset="-122"/>
              </a:rPr>
              <a:t>[1]</a:t>
            </a:r>
            <a:r>
              <a:rPr lang="zh-CN" altLang="en-US" dirty="0">
                <a:solidFill>
                  <a:schemeClr val="tx1"/>
                </a:solidFill>
                <a:effectLst/>
                <a:latin typeface="华文中宋" panose="02010600040101010101" pitchFamily="2" charset="-122"/>
                <a:ea typeface="华文中宋" panose="02010600040101010101" pitchFamily="2" charset="-122"/>
              </a:rPr>
              <a:t>构建融合多行为的统一交互图，并设计行为感知的图神经网络，以</a:t>
            </a:r>
            <a:r>
              <a:rPr lang="zh-CN" altLang="en-US" dirty="0">
                <a:solidFill>
                  <a:srgbClr val="FF0000"/>
                </a:solidFill>
                <a:effectLst/>
                <a:latin typeface="华文中宋" panose="02010600040101010101" pitchFamily="2" charset="-122"/>
                <a:ea typeface="华文中宋" panose="02010600040101010101" pitchFamily="2" charset="-122"/>
              </a:rPr>
              <a:t>差异化地</a:t>
            </a:r>
            <a:r>
              <a:rPr lang="zh-CN" altLang="en-US" dirty="0">
                <a:solidFill>
                  <a:schemeClr val="tx1"/>
                </a:solidFill>
                <a:effectLst/>
                <a:latin typeface="华文中宋" panose="02010600040101010101" pitchFamily="2" charset="-122"/>
                <a:ea typeface="华文中宋" panose="02010600040101010101" pitchFamily="2" charset="-122"/>
              </a:rPr>
              <a:t>学习不同行为间的</a:t>
            </a:r>
            <a:r>
              <a:rPr lang="zh-CN" altLang="en-US" dirty="0">
                <a:solidFill>
                  <a:srgbClr val="FF0000"/>
                </a:solidFill>
                <a:effectLst/>
                <a:latin typeface="华文中宋" panose="02010600040101010101" pitchFamily="2" charset="-122"/>
                <a:ea typeface="华文中宋" panose="02010600040101010101" pitchFamily="2" charset="-122"/>
              </a:rPr>
              <a:t>依赖关系</a:t>
            </a:r>
            <a:r>
              <a:rPr lang="zh-CN" altLang="en-US" dirty="0">
                <a:solidFill>
                  <a:schemeClr val="tx1"/>
                </a:solidFill>
                <a:effectLst/>
                <a:latin typeface="华文中宋" panose="02010600040101010101" pitchFamily="2" charset="-122"/>
                <a:ea typeface="华文中宋" panose="02010600040101010101" pitchFamily="2" charset="-122"/>
              </a:rPr>
              <a:t>；</a:t>
            </a:r>
            <a:endParaRPr lang="en-US" altLang="zh-CN" dirty="0">
              <a:solidFill>
                <a:schemeClr val="tx1"/>
              </a:solidFill>
              <a:effectLst/>
              <a:latin typeface="华文中宋" panose="02010600040101010101" pitchFamily="2" charset="-122"/>
              <a:ea typeface="华文中宋" panose="02010600040101010101" pitchFamily="2" charset="-122"/>
            </a:endParaRPr>
          </a:p>
          <a:p>
            <a:r>
              <a:rPr kumimoji="1" lang="en-US" altLang="zh-CN" dirty="0">
                <a:solidFill>
                  <a:schemeClr val="tx1"/>
                </a:solidFill>
                <a:latin typeface="华文中宋" panose="02010600040101010101" pitchFamily="2" charset="-122"/>
                <a:ea typeface="华文中宋" panose="02010600040101010101" pitchFamily="2" charset="-122"/>
              </a:rPr>
              <a:t>2021 </a:t>
            </a:r>
            <a:r>
              <a:rPr kumimoji="1" lang="zh-CN" altLang="en-US" dirty="0">
                <a:solidFill>
                  <a:schemeClr val="tx1"/>
                </a:solidFill>
                <a:latin typeface="华文中宋" panose="02010600040101010101" pitchFamily="2" charset="-122"/>
                <a:ea typeface="华文中宋" panose="02010600040101010101" pitchFamily="2" charset="-122"/>
              </a:rPr>
              <a:t>年，</a:t>
            </a:r>
            <a:r>
              <a:rPr kumimoji="1" lang="en-US" altLang="zh-CN" dirty="0">
                <a:solidFill>
                  <a:schemeClr val="tx1"/>
                </a:solidFill>
                <a:latin typeface="华文中宋" panose="02010600040101010101" pitchFamily="2" charset="-122"/>
                <a:ea typeface="华文中宋" panose="02010600040101010101" pitchFamily="2" charset="-122"/>
              </a:rPr>
              <a:t>Xia </a:t>
            </a:r>
            <a:r>
              <a:rPr kumimoji="1" lang="zh-CN" altLang="en-US" dirty="0">
                <a:solidFill>
                  <a:schemeClr val="tx1"/>
                </a:solidFill>
                <a:latin typeface="华文中宋" panose="02010600040101010101" pitchFamily="2" charset="-122"/>
                <a:ea typeface="华文中宋" panose="02010600040101010101" pitchFamily="2" charset="-122"/>
              </a:rPr>
              <a:t>等人</a:t>
            </a:r>
            <a:r>
              <a:rPr kumimoji="1" lang="en-US" altLang="zh-CN" baseline="30000" dirty="0">
                <a:solidFill>
                  <a:schemeClr val="tx1"/>
                </a:solidFill>
                <a:latin typeface="华文中宋" panose="02010600040101010101" pitchFamily="2" charset="-122"/>
                <a:ea typeface="华文中宋" panose="02010600040101010101" pitchFamily="2" charset="-122"/>
              </a:rPr>
              <a:t>[2]</a:t>
            </a:r>
            <a:r>
              <a:rPr kumimoji="1" lang="en-US" altLang="zh-CN" dirty="0">
                <a:solidFill>
                  <a:schemeClr val="tx1"/>
                </a:solidFill>
                <a:latin typeface="华文中宋" panose="02010600040101010101" pitchFamily="2" charset="-122"/>
                <a:ea typeface="华文中宋" panose="02010600040101010101" pitchFamily="2" charset="-122"/>
              </a:rPr>
              <a:t> </a:t>
            </a:r>
            <a:r>
              <a:rPr kumimoji="1" lang="zh-CN" altLang="en-US" dirty="0">
                <a:solidFill>
                  <a:schemeClr val="tx1"/>
                </a:solidFill>
                <a:latin typeface="华文中宋" panose="02010600040101010101" pitchFamily="2" charset="-122"/>
                <a:ea typeface="华文中宋" panose="02010600040101010101" pitchFamily="2" charset="-122"/>
              </a:rPr>
              <a:t>进一步指出，</a:t>
            </a:r>
            <a:r>
              <a:rPr kumimoji="1" lang="zh-CN" altLang="en-US" dirty="0">
                <a:solidFill>
                  <a:srgbClr val="FF0000"/>
                </a:solidFill>
                <a:latin typeface="华文中宋" panose="02010600040101010101" pitchFamily="2" charset="-122"/>
                <a:ea typeface="华文中宋" panose="02010600040101010101" pitchFamily="2" charset="-122"/>
              </a:rPr>
              <a:t>不同用户</a:t>
            </a:r>
            <a:r>
              <a:rPr kumimoji="1" lang="zh-CN" altLang="en-US" dirty="0">
                <a:solidFill>
                  <a:schemeClr val="tx1"/>
                </a:solidFill>
                <a:latin typeface="华文中宋" panose="02010600040101010101" pitchFamily="2" charset="-122"/>
                <a:ea typeface="华文中宋" panose="02010600040101010101" pitchFamily="2" charset="-122"/>
              </a:rPr>
              <a:t>对于多种行为的</a:t>
            </a:r>
            <a:r>
              <a:rPr kumimoji="1" lang="zh-CN" altLang="en-US" dirty="0">
                <a:solidFill>
                  <a:srgbClr val="FF0000"/>
                </a:solidFill>
                <a:latin typeface="华文中宋" panose="02010600040101010101" pitchFamily="2" charset="-122"/>
                <a:ea typeface="华文中宋" panose="02010600040101010101" pitchFamily="2" charset="-122"/>
              </a:rPr>
              <a:t>偏好不同</a:t>
            </a:r>
            <a:r>
              <a:rPr kumimoji="1" lang="zh-CN" altLang="en-US" dirty="0">
                <a:solidFill>
                  <a:schemeClr val="tx1"/>
                </a:solidFill>
                <a:latin typeface="华文中宋" panose="02010600040101010101" pitchFamily="2" charset="-122"/>
                <a:ea typeface="华文中宋" panose="02010600040101010101" pitchFamily="2" charset="-122"/>
              </a:rPr>
              <a:t>，采用了元学习方式将</a:t>
            </a:r>
            <a:r>
              <a:rPr kumimoji="1" lang="zh-CN" altLang="en-US" dirty="0">
                <a:solidFill>
                  <a:srgbClr val="FF0000"/>
                </a:solidFill>
                <a:latin typeface="华文中宋" panose="02010600040101010101" pitchFamily="2" charset="-122"/>
                <a:ea typeface="华文中宋" panose="02010600040101010101" pitchFamily="2" charset="-122"/>
              </a:rPr>
              <a:t>不同行为</a:t>
            </a:r>
            <a:r>
              <a:rPr kumimoji="1" lang="zh-CN" altLang="en-US" dirty="0">
                <a:solidFill>
                  <a:schemeClr val="tx1"/>
                </a:solidFill>
                <a:latin typeface="华文中宋" panose="02010600040101010101" pitchFamily="2" charset="-122"/>
                <a:ea typeface="华文中宋" panose="02010600040101010101" pitchFamily="2" charset="-122"/>
              </a:rPr>
              <a:t>视为独立任务，实现</a:t>
            </a:r>
            <a:r>
              <a:rPr kumimoji="1" lang="zh-CN" altLang="en-US" dirty="0">
                <a:solidFill>
                  <a:srgbClr val="FF0000"/>
                </a:solidFill>
                <a:latin typeface="华文中宋" panose="02010600040101010101" pitchFamily="2" charset="-122"/>
                <a:ea typeface="华文中宋" panose="02010600040101010101" pitchFamily="2" charset="-122"/>
              </a:rPr>
              <a:t>跨行为知识迁移</a:t>
            </a:r>
            <a:r>
              <a:rPr kumimoji="1" lang="zh-CN" altLang="en-US" dirty="0">
                <a:solidFill>
                  <a:schemeClr val="tx1"/>
                </a:solidFill>
                <a:latin typeface="华文中宋" panose="02010600040101010101" pitchFamily="2" charset="-122"/>
                <a:ea typeface="华文中宋" panose="02010600040101010101" pitchFamily="2" charset="-122"/>
              </a:rPr>
              <a:t>；</a:t>
            </a:r>
            <a:endParaRPr kumimoji="1" lang="en-US" altLang="zh-CN" dirty="0">
              <a:solidFill>
                <a:schemeClr val="tx1"/>
              </a:solidFill>
              <a:latin typeface="华文中宋" panose="02010600040101010101" pitchFamily="2" charset="-122"/>
              <a:ea typeface="华文中宋" panose="02010600040101010101" pitchFamily="2" charset="-122"/>
            </a:endParaRPr>
          </a:p>
          <a:p>
            <a:r>
              <a:rPr kumimoji="1" lang="en-US" altLang="zh-CN" dirty="0">
                <a:solidFill>
                  <a:schemeClr val="tx1"/>
                </a:solidFill>
                <a:latin typeface="华文中宋" panose="02010600040101010101" pitchFamily="2" charset="-122"/>
                <a:ea typeface="华文中宋" panose="02010600040101010101" pitchFamily="2" charset="-122"/>
              </a:rPr>
              <a:t>2022 </a:t>
            </a:r>
            <a:r>
              <a:rPr kumimoji="1" lang="zh-CN" altLang="en-US" dirty="0">
                <a:solidFill>
                  <a:schemeClr val="tx1"/>
                </a:solidFill>
                <a:latin typeface="华文中宋" panose="02010600040101010101" pitchFamily="2" charset="-122"/>
                <a:ea typeface="华文中宋" panose="02010600040101010101" pitchFamily="2" charset="-122"/>
              </a:rPr>
              <a:t>年，</a:t>
            </a:r>
            <a:r>
              <a:rPr kumimoji="1" lang="en-US" altLang="zh-CN" dirty="0">
                <a:solidFill>
                  <a:schemeClr val="tx1"/>
                </a:solidFill>
                <a:latin typeface="华文中宋" panose="02010600040101010101" pitchFamily="2" charset="-122"/>
                <a:ea typeface="华文中宋" panose="02010600040101010101" pitchFamily="2" charset="-122"/>
              </a:rPr>
              <a:t>Gu </a:t>
            </a:r>
            <a:r>
              <a:rPr kumimoji="1" lang="zh-CN" altLang="en-US" dirty="0">
                <a:solidFill>
                  <a:schemeClr val="tx1"/>
                </a:solidFill>
                <a:latin typeface="华文中宋" panose="02010600040101010101" pitchFamily="2" charset="-122"/>
                <a:ea typeface="华文中宋" panose="02010600040101010101" pitchFamily="2" charset="-122"/>
              </a:rPr>
              <a:t>等人</a:t>
            </a:r>
            <a:r>
              <a:rPr kumimoji="1" lang="en-US" altLang="zh-CN" baseline="30000" dirty="0">
                <a:solidFill>
                  <a:schemeClr val="tx1"/>
                </a:solidFill>
                <a:latin typeface="华文中宋" panose="02010600040101010101" pitchFamily="2" charset="-122"/>
                <a:ea typeface="华文中宋" panose="02010600040101010101" pitchFamily="2" charset="-122"/>
              </a:rPr>
              <a:t>[3] </a:t>
            </a:r>
            <a:r>
              <a:rPr kumimoji="1" lang="zh-CN" altLang="en-US" dirty="0">
                <a:solidFill>
                  <a:schemeClr val="tx1"/>
                </a:solidFill>
                <a:latin typeface="华文中宋" panose="02010600040101010101" pitchFamily="2" charset="-122"/>
                <a:ea typeface="华文中宋" panose="02010600040101010101" pitchFamily="2" charset="-122"/>
              </a:rPr>
              <a:t>利用</a:t>
            </a:r>
            <a:r>
              <a:rPr kumimoji="1" lang="zh-CN" altLang="en-US" dirty="0">
                <a:solidFill>
                  <a:srgbClr val="FF0000"/>
                </a:solidFill>
                <a:latin typeface="华文中宋" panose="02010600040101010101" pitchFamily="2" charset="-122"/>
                <a:ea typeface="华文中宋" panose="02010600040101010101" pitchFamily="2" charset="-122"/>
              </a:rPr>
              <a:t>对比学习策略</a:t>
            </a:r>
            <a:r>
              <a:rPr kumimoji="1" lang="zh-CN" altLang="en-US" dirty="0">
                <a:solidFill>
                  <a:schemeClr val="tx1"/>
                </a:solidFill>
                <a:latin typeface="华文中宋" panose="02010600040101010101" pitchFamily="2" charset="-122"/>
                <a:ea typeface="华文中宋" panose="02010600040101010101" pitchFamily="2" charset="-122"/>
              </a:rPr>
              <a:t>，设计多种图神经网络结构并进行对比训练，以</a:t>
            </a:r>
            <a:r>
              <a:rPr kumimoji="1" lang="zh-CN" altLang="en-US" dirty="0">
                <a:solidFill>
                  <a:srgbClr val="FF0000"/>
                </a:solidFill>
                <a:latin typeface="华文中宋" panose="02010600040101010101" pitchFamily="2" charset="-122"/>
                <a:ea typeface="华文中宋" panose="02010600040101010101" pitchFamily="2" charset="-122"/>
              </a:rPr>
              <a:t>融合不同行为</a:t>
            </a:r>
            <a:r>
              <a:rPr kumimoji="1" lang="zh-CN" altLang="en-US" dirty="0">
                <a:solidFill>
                  <a:schemeClr val="tx1"/>
                </a:solidFill>
                <a:latin typeface="华文中宋" panose="02010600040101010101" pitchFamily="2" charset="-122"/>
                <a:ea typeface="华文中宋" panose="02010600040101010101" pitchFamily="2" charset="-122"/>
              </a:rPr>
              <a:t>的信息。</a:t>
            </a:r>
            <a:endParaRPr kumimoji="1" lang="en-US" altLang="zh-CN" dirty="0">
              <a:solidFill>
                <a:schemeClr val="tx1"/>
              </a:solidFill>
              <a:latin typeface="华文中宋" panose="02010600040101010101" pitchFamily="2" charset="-122"/>
              <a:ea typeface="华文中宋" panose="02010600040101010101" pitchFamily="2" charset="-122"/>
            </a:endParaRPr>
          </a:p>
          <a:p>
            <a:r>
              <a:rPr kumimoji="1" lang="en-US" altLang="zh-CN" dirty="0">
                <a:solidFill>
                  <a:schemeClr val="tx1"/>
                </a:solidFill>
                <a:latin typeface="华文中宋" panose="02010600040101010101" pitchFamily="2" charset="-122"/>
                <a:ea typeface="华文中宋" panose="02010600040101010101" pitchFamily="2" charset="-122"/>
              </a:rPr>
              <a:t>2023</a:t>
            </a:r>
            <a:r>
              <a:rPr kumimoji="1" lang="zh-CN" altLang="en-US" dirty="0">
                <a:solidFill>
                  <a:schemeClr val="tx1"/>
                </a:solidFill>
                <a:latin typeface="华文中宋" panose="02010600040101010101" pitchFamily="2" charset="-122"/>
                <a:ea typeface="华文中宋" panose="02010600040101010101" pitchFamily="2" charset="-122"/>
              </a:rPr>
              <a:t>年，</a:t>
            </a:r>
            <a:r>
              <a:rPr kumimoji="1" lang="en-US" altLang="zh-CN" dirty="0">
                <a:solidFill>
                  <a:schemeClr val="tx1"/>
                </a:solidFill>
                <a:latin typeface="华文中宋" panose="02010600040101010101" pitchFamily="2" charset="-122"/>
                <a:ea typeface="华文中宋" panose="02010600040101010101" pitchFamily="2" charset="-122"/>
              </a:rPr>
              <a:t>Cheng</a:t>
            </a:r>
            <a:r>
              <a:rPr kumimoji="1" lang="zh-CN" altLang="en-US" dirty="0">
                <a:solidFill>
                  <a:schemeClr val="tx1"/>
                </a:solidFill>
                <a:latin typeface="华文中宋" panose="02010600040101010101" pitchFamily="2" charset="-122"/>
                <a:ea typeface="华文中宋" panose="02010600040101010101" pitchFamily="2" charset="-122"/>
              </a:rPr>
              <a:t>等人</a:t>
            </a:r>
            <a:r>
              <a:rPr kumimoji="1" lang="en-US" altLang="zh-CN" baseline="30000" dirty="0">
                <a:solidFill>
                  <a:schemeClr val="tx1"/>
                </a:solidFill>
                <a:latin typeface="华文中宋" panose="02010600040101010101" pitchFamily="2" charset="-122"/>
                <a:ea typeface="华文中宋" panose="02010600040101010101" pitchFamily="2" charset="-122"/>
              </a:rPr>
              <a:t>[4]</a:t>
            </a:r>
            <a:r>
              <a:rPr kumimoji="1" lang="zh-CN" altLang="en-US" dirty="0">
                <a:solidFill>
                  <a:schemeClr val="tx1"/>
                </a:solidFill>
                <a:latin typeface="华文中宋" panose="02010600040101010101" pitchFamily="2" charset="-122"/>
                <a:ea typeface="华文中宋" panose="02010600040101010101" pitchFamily="2" charset="-122"/>
              </a:rPr>
              <a:t>考虑了多行为</a:t>
            </a:r>
            <a:r>
              <a:rPr kumimoji="1" lang="zh-CN" altLang="en-US" dirty="0">
                <a:solidFill>
                  <a:srgbClr val="FF0000"/>
                </a:solidFill>
                <a:latin typeface="华文中宋" panose="02010600040101010101" pitchFamily="2" charset="-122"/>
                <a:ea typeface="华文中宋" panose="02010600040101010101" pitchFamily="2" charset="-122"/>
              </a:rPr>
              <a:t>实际顺序性</a:t>
            </a:r>
            <a:r>
              <a:rPr kumimoji="1" lang="zh-CN" altLang="en-US" dirty="0">
                <a:solidFill>
                  <a:schemeClr val="tx1"/>
                </a:solidFill>
                <a:latin typeface="华文中宋" panose="02010600040101010101" pitchFamily="2" charset="-122"/>
                <a:ea typeface="华文中宋" panose="02010600040101010101" pitchFamily="2" charset="-122"/>
              </a:rPr>
              <a:t>，提出了</a:t>
            </a:r>
            <a:r>
              <a:rPr kumimoji="1" lang="zh-CN" altLang="en-US" dirty="0">
                <a:solidFill>
                  <a:srgbClr val="FF0000"/>
                </a:solidFill>
                <a:latin typeface="华文中宋" panose="02010600040101010101" pitchFamily="2" charset="-122"/>
                <a:ea typeface="华文中宋" panose="02010600040101010101" pitchFamily="2" charset="-122"/>
              </a:rPr>
              <a:t>级联结构</a:t>
            </a:r>
            <a:r>
              <a:rPr kumimoji="1" lang="zh-CN" altLang="en-US" dirty="0">
                <a:solidFill>
                  <a:schemeClr val="tx1"/>
                </a:solidFill>
                <a:latin typeface="华文中宋" panose="02010600040101010101" pitchFamily="2" charset="-122"/>
                <a:ea typeface="华文中宋" panose="02010600040101010101" pitchFamily="2" charset="-122"/>
              </a:rPr>
              <a:t>以显式建模行为间的</a:t>
            </a:r>
            <a:r>
              <a:rPr kumimoji="1" lang="zh-CN" altLang="en-US" dirty="0">
                <a:solidFill>
                  <a:srgbClr val="FF0000"/>
                </a:solidFill>
                <a:latin typeface="华文中宋" panose="02010600040101010101" pitchFamily="2" charset="-122"/>
                <a:ea typeface="华文中宋" panose="02010600040101010101" pitchFamily="2" charset="-122"/>
              </a:rPr>
              <a:t>层次关系</a:t>
            </a:r>
            <a:r>
              <a:rPr kumimoji="1" lang="zh-CN" altLang="en-US" dirty="0">
                <a:solidFill>
                  <a:schemeClr val="tx1"/>
                </a:solidFill>
                <a:latin typeface="华文中宋" panose="02010600040101010101" pitchFamily="2" charset="-122"/>
                <a:ea typeface="华文中宋" panose="02010600040101010101" pitchFamily="2" charset="-122"/>
              </a:rPr>
              <a:t>。</a:t>
            </a:r>
            <a:endParaRPr kumimoji="1" lang="en-US" altLang="zh-CN" dirty="0">
              <a:solidFill>
                <a:schemeClr val="tx1"/>
              </a:solidFill>
              <a:latin typeface="华文中宋" panose="02010600040101010101" pitchFamily="2" charset="-122"/>
              <a:ea typeface="华文中宋" panose="02010600040101010101" pitchFamily="2" charset="-122"/>
            </a:endParaRPr>
          </a:p>
          <a:p>
            <a:r>
              <a:rPr kumimoji="1" lang="en-US" altLang="zh-CN" dirty="0">
                <a:solidFill>
                  <a:schemeClr val="tx1"/>
                </a:solidFill>
                <a:latin typeface="华文中宋" panose="02010600040101010101" pitchFamily="2" charset="-122"/>
                <a:ea typeface="华文中宋" panose="02010600040101010101" pitchFamily="2" charset="-122"/>
              </a:rPr>
              <a:t>2024</a:t>
            </a:r>
            <a:r>
              <a:rPr kumimoji="1" lang="zh-CN" altLang="en-US" dirty="0">
                <a:solidFill>
                  <a:schemeClr val="tx1"/>
                </a:solidFill>
                <a:latin typeface="华文中宋" panose="02010600040101010101" pitchFamily="2" charset="-122"/>
                <a:ea typeface="华文中宋" panose="02010600040101010101" pitchFamily="2" charset="-122"/>
              </a:rPr>
              <a:t>年，</a:t>
            </a:r>
            <a:r>
              <a:rPr kumimoji="1" lang="en-US" altLang="zh-CN" dirty="0">
                <a:solidFill>
                  <a:schemeClr val="tx1"/>
                </a:solidFill>
                <a:latin typeface="华文中宋" panose="02010600040101010101" pitchFamily="2" charset="-122"/>
                <a:ea typeface="华文中宋" panose="02010600040101010101" pitchFamily="2" charset="-122"/>
              </a:rPr>
              <a:t>Zhang</a:t>
            </a:r>
            <a:r>
              <a:rPr kumimoji="1" lang="zh-CN" altLang="en-US" dirty="0">
                <a:solidFill>
                  <a:schemeClr val="tx1"/>
                </a:solidFill>
                <a:latin typeface="华文中宋" panose="02010600040101010101" pitchFamily="2" charset="-122"/>
                <a:ea typeface="华文中宋" panose="02010600040101010101" pitchFamily="2" charset="-122"/>
              </a:rPr>
              <a:t>等人</a:t>
            </a:r>
            <a:r>
              <a:rPr kumimoji="1" lang="en-US" altLang="zh-CN" baseline="30000" dirty="0">
                <a:solidFill>
                  <a:schemeClr val="tx1"/>
                </a:solidFill>
                <a:latin typeface="华文中宋" panose="02010600040101010101" pitchFamily="2" charset="-122"/>
                <a:ea typeface="华文中宋" panose="02010600040101010101" pitchFamily="2" charset="-122"/>
              </a:rPr>
              <a:t>[5]</a:t>
            </a:r>
            <a:r>
              <a:rPr kumimoji="1" lang="zh-CN" altLang="en-US" dirty="0">
                <a:solidFill>
                  <a:srgbClr val="FF0000"/>
                </a:solidFill>
                <a:latin typeface="华文中宋" panose="02010600040101010101" pitchFamily="2" charset="-122"/>
                <a:ea typeface="华文中宋" panose="02010600040101010101" pitchFamily="2" charset="-122"/>
              </a:rPr>
              <a:t>量化</a:t>
            </a:r>
            <a:r>
              <a:rPr kumimoji="1" lang="zh-CN" altLang="en-US" dirty="0">
                <a:solidFill>
                  <a:schemeClr val="tx1"/>
                </a:solidFill>
                <a:latin typeface="华文中宋" panose="02010600040101010101" pitchFamily="2" charset="-122"/>
                <a:ea typeface="华文中宋" panose="02010600040101010101" pitchFamily="2" charset="-122"/>
              </a:rPr>
              <a:t>了不同行为之间的</a:t>
            </a:r>
            <a:r>
              <a:rPr kumimoji="1" lang="zh-CN" altLang="en-US" dirty="0">
                <a:solidFill>
                  <a:srgbClr val="FF0000"/>
                </a:solidFill>
                <a:latin typeface="华文中宋" panose="02010600040101010101" pitchFamily="2" charset="-122"/>
                <a:ea typeface="华文中宋" panose="02010600040101010101" pitchFamily="2" charset="-122"/>
              </a:rPr>
              <a:t>强度</a:t>
            </a:r>
            <a:r>
              <a:rPr kumimoji="1" lang="zh-CN" altLang="en-US" dirty="0">
                <a:solidFill>
                  <a:schemeClr val="tx1"/>
                </a:solidFill>
                <a:latin typeface="华文中宋" panose="02010600040101010101" pitchFamily="2" charset="-122"/>
                <a:ea typeface="华文中宋" panose="02010600040101010101" pitchFamily="2" charset="-122"/>
              </a:rPr>
              <a:t>，并基于该规则对行为信号进行</a:t>
            </a:r>
            <a:r>
              <a:rPr kumimoji="1" lang="zh-CN" altLang="en-US" dirty="0">
                <a:solidFill>
                  <a:srgbClr val="FF0000"/>
                </a:solidFill>
                <a:latin typeface="华文中宋" panose="02010600040101010101" pitchFamily="2" charset="-122"/>
                <a:ea typeface="华文中宋" panose="02010600040101010101" pitchFamily="2" charset="-122"/>
              </a:rPr>
              <a:t>加权融合</a:t>
            </a:r>
            <a:r>
              <a:rPr kumimoji="1" lang="zh-CN" altLang="en-US" dirty="0">
                <a:solidFill>
                  <a:schemeClr val="tx1"/>
                </a:solidFill>
                <a:latin typeface="华文中宋" panose="02010600040101010101" pitchFamily="2" charset="-122"/>
                <a:ea typeface="华文中宋" panose="02010600040101010101" pitchFamily="2" charset="-122"/>
              </a:rPr>
              <a:t>。</a:t>
            </a:r>
            <a:endParaRPr kumimoji="1" lang="en-US" altLang="zh-CN" dirty="0">
              <a:solidFill>
                <a:schemeClr val="tx1"/>
              </a:solidFill>
              <a:latin typeface="华文中宋" panose="02010600040101010101" pitchFamily="2" charset="-122"/>
              <a:ea typeface="华文中宋" panose="02010600040101010101" pitchFamily="2" charset="-122"/>
            </a:endParaRPr>
          </a:p>
          <a:p>
            <a:pPr marL="323992" lvl="1" indent="0">
              <a:buNone/>
            </a:pPr>
            <a:endParaRPr kumimoji="1" lang="en-US" altLang="zh-CN" dirty="0">
              <a:solidFill>
                <a:schemeClr val="tx1"/>
              </a:solidFill>
              <a:latin typeface="华文中宋" panose="02010600040101010101" pitchFamily="2" charset="-122"/>
              <a:ea typeface="华文中宋" panose="02010600040101010101" pitchFamily="2" charset="-122"/>
            </a:endParaRPr>
          </a:p>
        </p:txBody>
      </p:sp>
      <p:sp>
        <p:nvSpPr>
          <p:cNvPr id="10" name="文本框 9">
            <a:extLst>
              <a:ext uri="{FF2B5EF4-FFF2-40B4-BE49-F238E27FC236}">
                <a16:creationId xmlns:a16="http://schemas.microsoft.com/office/drawing/2014/main" id="{675BFB18-BC02-490A-8817-2A652D18E8CF}"/>
              </a:ext>
            </a:extLst>
          </p:cNvPr>
          <p:cNvSpPr txBox="1"/>
          <p:nvPr/>
        </p:nvSpPr>
        <p:spPr>
          <a:xfrm>
            <a:off x="430520" y="1848736"/>
            <a:ext cx="6096000" cy="369332"/>
          </a:xfrm>
          <a:prstGeom prst="rect">
            <a:avLst/>
          </a:prstGeom>
          <a:noFill/>
        </p:spPr>
        <p:txBody>
          <a:bodyPr wrap="square">
            <a:spAutoFit/>
          </a:bodyPr>
          <a:lstStyle/>
          <a:p>
            <a:r>
              <a:rPr lang="zh-CN" altLang="en-US" sz="1800" b="1" dirty="0">
                <a:effectLst/>
                <a:latin typeface="华文中宋" panose="02010600040101010101" pitchFamily="2" charset="-122"/>
                <a:ea typeface="华文中宋" panose="02010600040101010101" pitchFamily="2" charset="-122"/>
              </a:rPr>
              <a:t>行为信号融合的研究：</a:t>
            </a:r>
            <a:endParaRPr lang="zh-CN" altLang="en-US" dirty="0"/>
          </a:p>
        </p:txBody>
      </p:sp>
    </p:spTree>
    <p:extLst>
      <p:ext uri="{BB962C8B-B14F-4D97-AF65-F5344CB8AC3E}">
        <p14:creationId xmlns:p14="http://schemas.microsoft.com/office/powerpoint/2010/main" val="19471479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23FF93AD-B291-5347-AC70-D7287ABA5C8E}"/>
              </a:ext>
            </a:extLst>
          </p:cNvPr>
          <p:cNvSpPr>
            <a:spLocks noGrp="1"/>
          </p:cNvSpPr>
          <p:nvPr>
            <p:ph type="title"/>
          </p:nvPr>
        </p:nvSpPr>
        <p:spPr/>
        <p:txBody>
          <a:bodyPr>
            <a:normAutofit/>
          </a:bodyPr>
          <a:lstStyle/>
          <a:p>
            <a:r>
              <a:rPr kumimoji="1" lang="en-US" altLang="zh-CN" sz="3200" b="1" dirty="0">
                <a:latin typeface="华文中宋" panose="02010600040101010101" pitchFamily="2" charset="-122"/>
                <a:ea typeface="华文中宋" panose="02010600040101010101" pitchFamily="2" charset="-122"/>
              </a:rPr>
              <a:t>2. </a:t>
            </a:r>
            <a:r>
              <a:rPr kumimoji="1" lang="zh-CN" altLang="en-US" sz="3200" b="1" dirty="0">
                <a:latin typeface="华文中宋" panose="02010600040101010101" pitchFamily="2" charset="-122"/>
                <a:ea typeface="华文中宋" panose="02010600040101010101" pitchFamily="2" charset="-122"/>
              </a:rPr>
              <a:t>研究现状概述及分析 </a:t>
            </a:r>
            <a:endParaRPr kumimoji="1" lang="en-US" altLang="zh-CN" sz="3200" b="1" dirty="0">
              <a:latin typeface="华文中宋" panose="02010600040101010101" pitchFamily="2" charset="-122"/>
              <a:ea typeface="华文中宋" panose="02010600040101010101" pitchFamily="2" charset="-122"/>
            </a:endParaRPr>
          </a:p>
        </p:txBody>
      </p:sp>
      <p:sp>
        <p:nvSpPr>
          <p:cNvPr id="14" name="文本框 13">
            <a:extLst>
              <a:ext uri="{FF2B5EF4-FFF2-40B4-BE49-F238E27FC236}">
                <a16:creationId xmlns:a16="http://schemas.microsoft.com/office/drawing/2014/main" id="{9820D2CA-E2D2-F56F-91D1-34DE3E999E0B}"/>
              </a:ext>
            </a:extLst>
          </p:cNvPr>
          <p:cNvSpPr txBox="1"/>
          <p:nvPr/>
        </p:nvSpPr>
        <p:spPr>
          <a:xfrm>
            <a:off x="430520" y="1317412"/>
            <a:ext cx="7745818" cy="400110"/>
          </a:xfrm>
          <a:prstGeom prst="rect">
            <a:avLst/>
          </a:prstGeom>
          <a:noFill/>
        </p:spPr>
        <p:txBody>
          <a:bodyPr wrap="square" rtlCol="0">
            <a:spAutoFit/>
          </a:bodyPr>
          <a:lstStyle/>
          <a:p>
            <a:r>
              <a:rPr lang="zh-CN" altLang="en-US" sz="2000" b="1" dirty="0">
                <a:solidFill>
                  <a:srgbClr val="000000"/>
                </a:solidFill>
                <a:effectLst/>
                <a:latin typeface="华文中宋" panose="02010600040101010101" pitchFamily="2" charset="-122"/>
                <a:ea typeface="华文中宋" panose="02010600040101010101" pitchFamily="2" charset="-122"/>
              </a:rPr>
              <a:t>多行为推荐的研究重点：</a:t>
            </a:r>
            <a:r>
              <a:rPr lang="zh-CN" altLang="en-US" sz="2000" b="1" dirty="0">
                <a:solidFill>
                  <a:srgbClr val="FF0000"/>
                </a:solidFill>
                <a:effectLst/>
                <a:latin typeface="华文中宋" panose="02010600040101010101" pitchFamily="2" charset="-122"/>
                <a:ea typeface="华文中宋" panose="02010600040101010101" pitchFamily="2" charset="-122"/>
              </a:rPr>
              <a:t>行为信号的融合</a:t>
            </a:r>
            <a:r>
              <a:rPr lang="zh-CN" altLang="en-US" sz="2000" b="1" dirty="0">
                <a:solidFill>
                  <a:srgbClr val="000000"/>
                </a:solidFill>
                <a:effectLst/>
                <a:latin typeface="华文中宋" panose="02010600040101010101" pitchFamily="2" charset="-122"/>
                <a:ea typeface="华文中宋" panose="02010600040101010101" pitchFamily="2" charset="-122"/>
              </a:rPr>
              <a:t>与</a:t>
            </a:r>
            <a:r>
              <a:rPr lang="zh-CN" altLang="en-US" sz="2000" b="1" dirty="0">
                <a:solidFill>
                  <a:srgbClr val="FF0000"/>
                </a:solidFill>
                <a:effectLst/>
                <a:latin typeface="华文中宋" panose="02010600040101010101" pitchFamily="2" charset="-122"/>
                <a:ea typeface="华文中宋" panose="02010600040101010101" pitchFamily="2" charset="-122"/>
              </a:rPr>
              <a:t>噪声抑制</a:t>
            </a:r>
            <a:endParaRPr lang="zh-CN" altLang="en-US" sz="2000" b="1" dirty="0">
              <a:solidFill>
                <a:srgbClr val="FF0000"/>
              </a:solidFill>
              <a:latin typeface="华文中宋" panose="02010600040101010101" pitchFamily="2" charset="-122"/>
              <a:ea typeface="华文中宋" panose="02010600040101010101" pitchFamily="2" charset="-122"/>
            </a:endParaRPr>
          </a:p>
        </p:txBody>
      </p:sp>
      <p:sp>
        <p:nvSpPr>
          <p:cNvPr id="15" name="内容占位符 1">
            <a:extLst>
              <a:ext uri="{FF2B5EF4-FFF2-40B4-BE49-F238E27FC236}">
                <a16:creationId xmlns:a16="http://schemas.microsoft.com/office/drawing/2014/main" id="{7B6375B4-AF07-0566-C8D3-65FCD39BB59C}"/>
              </a:ext>
            </a:extLst>
          </p:cNvPr>
          <p:cNvSpPr>
            <a:spLocks noGrp="1"/>
          </p:cNvSpPr>
          <p:nvPr>
            <p:ph idx="1"/>
          </p:nvPr>
        </p:nvSpPr>
        <p:spPr>
          <a:xfrm>
            <a:off x="369776" y="2349282"/>
            <a:ext cx="11452447" cy="4204707"/>
          </a:xfrm>
        </p:spPr>
        <p:txBody>
          <a:bodyPr>
            <a:normAutofit/>
          </a:bodyPr>
          <a:lstStyle/>
          <a:p>
            <a:r>
              <a:rPr lang="en-US" altLang="zh-CN" dirty="0">
                <a:solidFill>
                  <a:schemeClr val="tx1"/>
                </a:solidFill>
                <a:effectLst/>
                <a:latin typeface="华文中宋" panose="02010600040101010101" pitchFamily="2" charset="-122"/>
                <a:ea typeface="华文中宋" panose="02010600040101010101" pitchFamily="2" charset="-122"/>
              </a:rPr>
              <a:t>2024 </a:t>
            </a:r>
            <a:r>
              <a:rPr lang="zh-CN" altLang="en-US" dirty="0">
                <a:solidFill>
                  <a:schemeClr val="tx1"/>
                </a:solidFill>
                <a:effectLst/>
                <a:latin typeface="华文中宋" panose="02010600040101010101" pitchFamily="2" charset="-122"/>
                <a:ea typeface="华文中宋" panose="02010600040101010101" pitchFamily="2" charset="-122"/>
              </a:rPr>
              <a:t>年，</a:t>
            </a:r>
            <a:r>
              <a:rPr lang="en-US" altLang="zh-CN" dirty="0">
                <a:latin typeface="华文中宋" panose="02010600040101010101" pitchFamily="2" charset="-122"/>
                <a:ea typeface="华文中宋" panose="02010600040101010101" pitchFamily="2" charset="-122"/>
              </a:rPr>
              <a:t>Zhang</a:t>
            </a:r>
            <a:r>
              <a:rPr lang="zh-CN" altLang="en-US" dirty="0">
                <a:latin typeface="华文中宋" panose="02010600040101010101" pitchFamily="2" charset="-122"/>
                <a:ea typeface="华文中宋" panose="02010600040101010101" pitchFamily="2" charset="-122"/>
              </a:rPr>
              <a:t>等人</a:t>
            </a:r>
            <a:r>
              <a:rPr kumimoji="1" lang="en-US" altLang="zh-CN" baseline="30000" dirty="0">
                <a:solidFill>
                  <a:schemeClr val="tx1"/>
                </a:solidFill>
                <a:latin typeface="华文中宋" panose="02010600040101010101" pitchFamily="2" charset="-122"/>
                <a:ea typeface="华文中宋" panose="02010600040101010101" pitchFamily="2" charset="-122"/>
              </a:rPr>
              <a:t>[6]</a:t>
            </a:r>
            <a:r>
              <a:rPr kumimoji="1" lang="en-US" altLang="zh-CN" dirty="0">
                <a:solidFill>
                  <a:schemeClr val="tx1"/>
                </a:solidFill>
                <a:latin typeface="华文中宋" panose="02010600040101010101" pitchFamily="2" charset="-122"/>
                <a:ea typeface="华文中宋" panose="02010600040101010101" pitchFamily="2" charset="-122"/>
              </a:rPr>
              <a:t> </a:t>
            </a:r>
            <a:r>
              <a:rPr kumimoji="1" lang="zh-CN" altLang="en-US" dirty="0">
                <a:solidFill>
                  <a:schemeClr val="tx1"/>
                </a:solidFill>
                <a:latin typeface="华文中宋" panose="02010600040101010101" pitchFamily="2" charset="-122"/>
                <a:ea typeface="华文中宋" panose="02010600040101010101" pitchFamily="2" charset="-122"/>
              </a:rPr>
              <a:t>通过单行为图神经网络预训练来评估交互质量并过滤低分噪声交互</a:t>
            </a:r>
            <a:r>
              <a:rPr lang="zh-CN" altLang="en-US" dirty="0">
                <a:solidFill>
                  <a:schemeClr val="tx1"/>
                </a:solidFill>
                <a:effectLst/>
                <a:latin typeface="华文中宋" panose="02010600040101010101" pitchFamily="2" charset="-122"/>
                <a:ea typeface="华文中宋" panose="02010600040101010101" pitchFamily="2" charset="-122"/>
              </a:rPr>
              <a:t>；</a:t>
            </a:r>
            <a:endParaRPr lang="en-US" altLang="zh-CN" dirty="0">
              <a:solidFill>
                <a:schemeClr val="tx1"/>
              </a:solidFill>
              <a:effectLst/>
              <a:latin typeface="华文中宋" panose="02010600040101010101" pitchFamily="2" charset="-122"/>
              <a:ea typeface="华文中宋" panose="02010600040101010101" pitchFamily="2" charset="-122"/>
            </a:endParaRPr>
          </a:p>
          <a:p>
            <a:r>
              <a:rPr kumimoji="1" lang="zh-CN" altLang="en-US" dirty="0">
                <a:solidFill>
                  <a:schemeClr val="tx1"/>
                </a:solidFill>
                <a:latin typeface="华文中宋" panose="02010600040101010101" pitchFamily="2" charset="-122"/>
                <a:ea typeface="华文中宋" panose="02010600040101010101" pitchFamily="2" charset="-122"/>
              </a:rPr>
              <a:t>同年，</a:t>
            </a:r>
            <a:r>
              <a:rPr kumimoji="1" lang="en-US" altLang="zh-CN" dirty="0">
                <a:solidFill>
                  <a:schemeClr val="tx1"/>
                </a:solidFill>
                <a:latin typeface="华文中宋" panose="02010600040101010101" pitchFamily="2" charset="-122"/>
                <a:ea typeface="华文中宋" panose="02010600040101010101" pitchFamily="2" charset="-122"/>
              </a:rPr>
              <a:t>Zhang </a:t>
            </a:r>
            <a:r>
              <a:rPr kumimoji="1" lang="zh-CN" altLang="en-US" dirty="0">
                <a:solidFill>
                  <a:schemeClr val="tx1"/>
                </a:solidFill>
                <a:latin typeface="华文中宋" panose="02010600040101010101" pitchFamily="2" charset="-122"/>
                <a:ea typeface="华文中宋" panose="02010600040101010101" pitchFamily="2" charset="-122"/>
              </a:rPr>
              <a:t>等人</a:t>
            </a:r>
            <a:r>
              <a:rPr kumimoji="1" lang="en-US" altLang="zh-CN" baseline="30000" dirty="0">
                <a:solidFill>
                  <a:schemeClr val="tx1"/>
                </a:solidFill>
                <a:latin typeface="华文中宋" panose="02010600040101010101" pitchFamily="2" charset="-122"/>
                <a:ea typeface="华文中宋" panose="02010600040101010101" pitchFamily="2" charset="-122"/>
              </a:rPr>
              <a:t>[7] </a:t>
            </a:r>
            <a:r>
              <a:rPr kumimoji="1" lang="zh-CN" altLang="en-US" dirty="0">
                <a:solidFill>
                  <a:schemeClr val="tx1"/>
                </a:solidFill>
                <a:latin typeface="华文中宋" panose="02010600040101010101" pitchFamily="2" charset="-122"/>
                <a:ea typeface="华文中宋" panose="02010600040101010101" pitchFamily="2" charset="-122"/>
              </a:rPr>
              <a:t>通过基于相似度的硬去噪与强行为引导若行为的软去噪双层机制，识别并去除噪声。</a:t>
            </a:r>
            <a:endParaRPr kumimoji="1" lang="en-US" altLang="zh-CN" dirty="0">
              <a:solidFill>
                <a:schemeClr val="tx1"/>
              </a:solidFill>
              <a:latin typeface="华文中宋" panose="02010600040101010101" pitchFamily="2" charset="-122"/>
              <a:ea typeface="华文中宋" panose="02010600040101010101" pitchFamily="2" charset="-122"/>
            </a:endParaRPr>
          </a:p>
          <a:p>
            <a:r>
              <a:rPr kumimoji="1" lang="en-US" altLang="zh-CN" dirty="0">
                <a:solidFill>
                  <a:schemeClr val="tx1"/>
                </a:solidFill>
                <a:latin typeface="华文中宋" panose="02010600040101010101" pitchFamily="2" charset="-122"/>
                <a:ea typeface="华文中宋" panose="02010600040101010101" pitchFamily="2" charset="-122"/>
              </a:rPr>
              <a:t>2025</a:t>
            </a:r>
            <a:r>
              <a:rPr kumimoji="1" lang="zh-CN" altLang="en-US" dirty="0">
                <a:solidFill>
                  <a:schemeClr val="tx1"/>
                </a:solidFill>
                <a:latin typeface="华文中宋" panose="02010600040101010101" pitchFamily="2" charset="-122"/>
                <a:ea typeface="华文中宋" panose="02010600040101010101" pitchFamily="2" charset="-122"/>
              </a:rPr>
              <a:t>年，</a:t>
            </a:r>
            <a:r>
              <a:rPr kumimoji="1" lang="en-US" altLang="zh-CN" dirty="0">
                <a:solidFill>
                  <a:schemeClr val="tx1"/>
                </a:solidFill>
                <a:latin typeface="华文中宋" panose="02010600040101010101" pitchFamily="2" charset="-122"/>
                <a:ea typeface="华文中宋" panose="02010600040101010101" pitchFamily="2" charset="-122"/>
              </a:rPr>
              <a:t>Wang</a:t>
            </a:r>
            <a:r>
              <a:rPr kumimoji="1" lang="zh-CN" altLang="en-US" dirty="0">
                <a:solidFill>
                  <a:schemeClr val="tx1"/>
                </a:solidFill>
                <a:latin typeface="华文中宋" panose="02010600040101010101" pitchFamily="2" charset="-122"/>
                <a:ea typeface="华文中宋" panose="02010600040101010101" pitchFamily="2" charset="-122"/>
              </a:rPr>
              <a:t>等人</a:t>
            </a:r>
            <a:r>
              <a:rPr kumimoji="1" lang="en-US" altLang="zh-CN" baseline="30000" dirty="0">
                <a:solidFill>
                  <a:schemeClr val="tx1"/>
                </a:solidFill>
                <a:latin typeface="华文中宋" panose="02010600040101010101" pitchFamily="2" charset="-122"/>
                <a:ea typeface="华文中宋" panose="02010600040101010101" pitchFamily="2" charset="-122"/>
              </a:rPr>
              <a:t>[8]</a:t>
            </a:r>
            <a:r>
              <a:rPr kumimoji="1" lang="zh-CN" altLang="en-US" dirty="0">
                <a:solidFill>
                  <a:schemeClr val="tx1"/>
                </a:solidFill>
                <a:latin typeface="华文中宋" panose="02010600040101010101" pitchFamily="2" charset="-122"/>
                <a:ea typeface="华文中宋" panose="02010600040101010101" pitchFamily="2" charset="-122"/>
              </a:rPr>
              <a:t>结合大语言模型的语义推理与知识生成能力，实现用户交互行为的去噪，并将去噪后的行为与用户真实偏好对齐。</a:t>
            </a:r>
            <a:endParaRPr kumimoji="1" lang="en-US" altLang="zh-CN" dirty="0">
              <a:solidFill>
                <a:schemeClr val="tx1"/>
              </a:solidFill>
              <a:latin typeface="华文中宋" panose="02010600040101010101" pitchFamily="2" charset="-122"/>
              <a:ea typeface="华文中宋" panose="02010600040101010101" pitchFamily="2" charset="-122"/>
            </a:endParaRPr>
          </a:p>
          <a:p>
            <a:pPr marL="323992" lvl="1" indent="0">
              <a:buNone/>
            </a:pPr>
            <a:endParaRPr kumimoji="1" lang="en-US" altLang="zh-CN" dirty="0">
              <a:solidFill>
                <a:schemeClr val="tx1"/>
              </a:solidFill>
              <a:latin typeface="华文中宋" panose="02010600040101010101" pitchFamily="2" charset="-122"/>
              <a:ea typeface="华文中宋" panose="02010600040101010101" pitchFamily="2" charset="-122"/>
            </a:endParaRPr>
          </a:p>
        </p:txBody>
      </p:sp>
      <p:sp>
        <p:nvSpPr>
          <p:cNvPr id="10" name="文本框 9">
            <a:extLst>
              <a:ext uri="{FF2B5EF4-FFF2-40B4-BE49-F238E27FC236}">
                <a16:creationId xmlns:a16="http://schemas.microsoft.com/office/drawing/2014/main" id="{675BFB18-BC02-490A-8817-2A652D18E8CF}"/>
              </a:ext>
            </a:extLst>
          </p:cNvPr>
          <p:cNvSpPr txBox="1"/>
          <p:nvPr/>
        </p:nvSpPr>
        <p:spPr>
          <a:xfrm>
            <a:off x="430520" y="1848736"/>
            <a:ext cx="6096000" cy="369332"/>
          </a:xfrm>
          <a:prstGeom prst="rect">
            <a:avLst/>
          </a:prstGeom>
          <a:noFill/>
        </p:spPr>
        <p:txBody>
          <a:bodyPr wrap="square">
            <a:spAutoFit/>
          </a:bodyPr>
          <a:lstStyle/>
          <a:p>
            <a:r>
              <a:rPr lang="zh-CN" altLang="en-US" sz="1800" b="1" dirty="0">
                <a:effectLst/>
                <a:latin typeface="华文中宋" panose="02010600040101010101" pitchFamily="2" charset="-122"/>
                <a:ea typeface="华文中宋" panose="02010600040101010101" pitchFamily="2" charset="-122"/>
              </a:rPr>
              <a:t>噪声抑制的研究：</a:t>
            </a:r>
            <a:endParaRPr lang="zh-CN" altLang="en-US" dirty="0"/>
          </a:p>
        </p:txBody>
      </p:sp>
      <p:pic>
        <p:nvPicPr>
          <p:cNvPr id="4" name="图片 3">
            <a:extLst>
              <a:ext uri="{FF2B5EF4-FFF2-40B4-BE49-F238E27FC236}">
                <a16:creationId xmlns:a16="http://schemas.microsoft.com/office/drawing/2014/main" id="{1460D3DE-C920-4FC7-987A-090B5382435C}"/>
              </a:ext>
            </a:extLst>
          </p:cNvPr>
          <p:cNvPicPr>
            <a:picLocks noChangeAspect="1"/>
          </p:cNvPicPr>
          <p:nvPr/>
        </p:nvPicPr>
        <p:blipFill>
          <a:blip r:embed="rId3"/>
          <a:stretch>
            <a:fillRect/>
          </a:stretch>
        </p:blipFill>
        <p:spPr>
          <a:xfrm>
            <a:off x="4148667" y="3834402"/>
            <a:ext cx="6794500" cy="2439248"/>
          </a:xfrm>
          <a:prstGeom prst="rect">
            <a:avLst/>
          </a:prstGeom>
        </p:spPr>
      </p:pic>
      <p:sp>
        <p:nvSpPr>
          <p:cNvPr id="8" name="文本框 7">
            <a:extLst>
              <a:ext uri="{FF2B5EF4-FFF2-40B4-BE49-F238E27FC236}">
                <a16:creationId xmlns:a16="http://schemas.microsoft.com/office/drawing/2014/main" id="{98009E22-EFD8-476C-8A46-69E12B8345F1}"/>
              </a:ext>
            </a:extLst>
          </p:cNvPr>
          <p:cNvSpPr txBox="1"/>
          <p:nvPr/>
        </p:nvSpPr>
        <p:spPr>
          <a:xfrm>
            <a:off x="6050794" y="6273650"/>
            <a:ext cx="4617205" cy="369332"/>
          </a:xfrm>
          <a:prstGeom prst="rect">
            <a:avLst/>
          </a:prstGeom>
          <a:noFill/>
        </p:spPr>
        <p:txBody>
          <a:bodyPr wrap="square">
            <a:spAutoFit/>
          </a:bodyPr>
          <a:lstStyle/>
          <a:p>
            <a:r>
              <a:rPr lang="zh-CN" altLang="en-US" b="1" dirty="0">
                <a:highlight>
                  <a:srgbClr val="FEFDFF"/>
                </a:highlight>
                <a:latin typeface="华文中宋" panose="02010600040101010101" pitchFamily="2" charset="-122"/>
                <a:ea typeface="华文中宋" panose="02010600040101010101" pitchFamily="2" charset="-122"/>
              </a:rPr>
              <a:t>图</a:t>
            </a:r>
            <a:r>
              <a:rPr lang="en-US" altLang="zh-CN" b="1" dirty="0">
                <a:highlight>
                  <a:srgbClr val="FEFDFF"/>
                </a:highlight>
                <a:latin typeface="华文中宋" panose="02010600040101010101" pitchFamily="2" charset="-122"/>
                <a:ea typeface="华文中宋" panose="02010600040101010101" pitchFamily="2" charset="-122"/>
              </a:rPr>
              <a:t>2-1 </a:t>
            </a:r>
            <a:r>
              <a:rPr kumimoji="1" lang="en-US" altLang="zh-CN" b="1" dirty="0" err="1">
                <a:highlight>
                  <a:srgbClr val="FEFDFF"/>
                </a:highlight>
                <a:latin typeface="华文中宋" panose="02010600040101010101" pitchFamily="2" charset="-122"/>
                <a:ea typeface="华文中宋" panose="02010600040101010101" pitchFamily="2" charset="-122"/>
              </a:rPr>
              <a:t>LLaRD</a:t>
            </a:r>
            <a:r>
              <a:rPr kumimoji="1" lang="en-US" altLang="zh-CN" baseline="30000" dirty="0">
                <a:solidFill>
                  <a:schemeClr val="tx1"/>
                </a:solidFill>
                <a:latin typeface="华文中宋" panose="02010600040101010101" pitchFamily="2" charset="-122"/>
                <a:ea typeface="华文中宋" panose="02010600040101010101" pitchFamily="2" charset="-122"/>
              </a:rPr>
              <a:t> [8]</a:t>
            </a:r>
            <a:r>
              <a:rPr kumimoji="1" lang="zh-CN" altLang="en-US" b="1" dirty="0">
                <a:highlight>
                  <a:srgbClr val="FEFDFF"/>
                </a:highlight>
                <a:latin typeface="华文中宋" panose="02010600040101010101" pitchFamily="2" charset="-122"/>
                <a:ea typeface="华文中宋" panose="02010600040101010101" pitchFamily="2" charset="-122"/>
              </a:rPr>
              <a:t>利用大模型去噪流程</a:t>
            </a:r>
            <a:endParaRPr lang="zh-CN" altLang="en-US" dirty="0">
              <a:highlight>
                <a:srgbClr val="FEFDFF"/>
              </a:highlight>
            </a:endParaRPr>
          </a:p>
        </p:txBody>
      </p:sp>
    </p:spTree>
    <p:extLst>
      <p:ext uri="{BB962C8B-B14F-4D97-AF65-F5344CB8AC3E}">
        <p14:creationId xmlns:p14="http://schemas.microsoft.com/office/powerpoint/2010/main" val="503268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23FF93AD-B291-5347-AC70-D7287ABA5C8E}"/>
              </a:ext>
            </a:extLst>
          </p:cNvPr>
          <p:cNvSpPr>
            <a:spLocks noGrp="1"/>
          </p:cNvSpPr>
          <p:nvPr>
            <p:ph type="title"/>
          </p:nvPr>
        </p:nvSpPr>
        <p:spPr/>
        <p:txBody>
          <a:bodyPr>
            <a:normAutofit/>
          </a:bodyPr>
          <a:lstStyle/>
          <a:p>
            <a:r>
              <a:rPr kumimoji="1" lang="en-US" altLang="zh-CN" sz="3200" b="1" dirty="0">
                <a:latin typeface="华文中宋" panose="02010600040101010101" pitchFamily="2" charset="-122"/>
                <a:ea typeface="华文中宋" panose="02010600040101010101" pitchFamily="2" charset="-122"/>
              </a:rPr>
              <a:t>2. </a:t>
            </a:r>
            <a:r>
              <a:rPr kumimoji="1" lang="zh-CN" altLang="en-US" sz="3200" b="1" dirty="0">
                <a:latin typeface="华文中宋" panose="02010600040101010101" pitchFamily="2" charset="-122"/>
                <a:ea typeface="华文中宋" panose="02010600040101010101" pitchFamily="2" charset="-122"/>
              </a:rPr>
              <a:t>主要研究内容</a:t>
            </a:r>
            <a:endParaRPr kumimoji="1" lang="en-US" altLang="zh-CN" sz="3200" b="1" dirty="0">
              <a:latin typeface="华文中宋" panose="02010600040101010101" pitchFamily="2" charset="-122"/>
              <a:ea typeface="华文中宋" panose="02010600040101010101" pitchFamily="2" charset="-122"/>
            </a:endParaRPr>
          </a:p>
        </p:txBody>
      </p:sp>
      <p:sp>
        <p:nvSpPr>
          <p:cNvPr id="14" name="文本框 13">
            <a:extLst>
              <a:ext uri="{FF2B5EF4-FFF2-40B4-BE49-F238E27FC236}">
                <a16:creationId xmlns:a16="http://schemas.microsoft.com/office/drawing/2014/main" id="{9820D2CA-E2D2-F56F-91D1-34DE3E999E0B}"/>
              </a:ext>
            </a:extLst>
          </p:cNvPr>
          <p:cNvSpPr txBox="1"/>
          <p:nvPr/>
        </p:nvSpPr>
        <p:spPr>
          <a:xfrm>
            <a:off x="561754" y="1366100"/>
            <a:ext cx="7745818" cy="400110"/>
          </a:xfrm>
          <a:prstGeom prst="rect">
            <a:avLst/>
          </a:prstGeom>
          <a:noFill/>
        </p:spPr>
        <p:txBody>
          <a:bodyPr wrap="square" rtlCol="0">
            <a:spAutoFit/>
          </a:bodyPr>
          <a:lstStyle/>
          <a:p>
            <a:r>
              <a:rPr lang="zh-CN" altLang="en-US" sz="2000" b="1" dirty="0">
                <a:solidFill>
                  <a:srgbClr val="000000"/>
                </a:solidFill>
                <a:effectLst/>
                <a:latin typeface="华文中宋" panose="02010600040101010101" pitchFamily="2" charset="-122"/>
                <a:ea typeface="华文中宋" panose="02010600040101010101" pitchFamily="2" charset="-122"/>
              </a:rPr>
              <a:t>课题主要围绕解决以下问题而展开：</a:t>
            </a:r>
            <a:endParaRPr lang="zh-CN" altLang="en-US" sz="2000" b="1" dirty="0">
              <a:latin typeface="华文中宋" panose="02010600040101010101" pitchFamily="2" charset="-122"/>
              <a:ea typeface="华文中宋" panose="02010600040101010101" pitchFamily="2" charset="-122"/>
            </a:endParaRPr>
          </a:p>
        </p:txBody>
      </p:sp>
      <p:sp>
        <p:nvSpPr>
          <p:cNvPr id="15" name="内容占位符 1">
            <a:extLst>
              <a:ext uri="{FF2B5EF4-FFF2-40B4-BE49-F238E27FC236}">
                <a16:creationId xmlns:a16="http://schemas.microsoft.com/office/drawing/2014/main" id="{7B6375B4-AF07-0566-C8D3-65FCD39BB59C}"/>
              </a:ext>
            </a:extLst>
          </p:cNvPr>
          <p:cNvSpPr>
            <a:spLocks noGrp="1"/>
          </p:cNvSpPr>
          <p:nvPr>
            <p:ph idx="1"/>
          </p:nvPr>
        </p:nvSpPr>
        <p:spPr>
          <a:xfrm>
            <a:off x="483681" y="1928429"/>
            <a:ext cx="7641266" cy="4472764"/>
          </a:xfrm>
        </p:spPr>
        <p:txBody>
          <a:bodyPr>
            <a:normAutofit/>
          </a:bodyPr>
          <a:lstStyle/>
          <a:p>
            <a:r>
              <a:rPr lang="zh-CN" altLang="en-US" sz="1800" dirty="0">
                <a:solidFill>
                  <a:srgbClr val="FF0000"/>
                </a:solidFill>
                <a:effectLst/>
                <a:latin typeface="华文中宋" panose="02010600040101010101" pitchFamily="2" charset="-122"/>
                <a:ea typeface="华文中宋" panose="02010600040101010101" pitchFamily="2" charset="-122"/>
              </a:rPr>
              <a:t>辅助行为噪声问题</a:t>
            </a:r>
            <a:r>
              <a:rPr lang="zh-CN" altLang="en-US" dirty="0">
                <a:solidFill>
                  <a:schemeClr val="tx1"/>
                </a:solidFill>
                <a:effectLst/>
                <a:latin typeface="华文中宋" panose="02010600040101010101" pitchFamily="2" charset="-122"/>
                <a:ea typeface="华文中宋" panose="02010600040101010101" pitchFamily="2" charset="-122"/>
              </a:rPr>
              <a:t>：</a:t>
            </a:r>
            <a:endParaRPr lang="en-US" altLang="zh-CN" dirty="0">
              <a:solidFill>
                <a:schemeClr val="tx1"/>
              </a:solidFill>
              <a:effectLst/>
              <a:latin typeface="华文中宋" panose="02010600040101010101" pitchFamily="2" charset="-122"/>
              <a:ea typeface="华文中宋" panose="02010600040101010101" pitchFamily="2" charset="-122"/>
            </a:endParaRPr>
          </a:p>
          <a:p>
            <a:pPr lvl="1"/>
            <a:r>
              <a:rPr lang="zh-CN" altLang="en-US" dirty="0">
                <a:solidFill>
                  <a:schemeClr val="tx1"/>
                </a:solidFill>
                <a:effectLst/>
                <a:latin typeface="华文中宋" panose="02010600040101010101" pitchFamily="2" charset="-122"/>
                <a:ea typeface="华文中宋" panose="02010600040101010101" pitchFamily="2" charset="-122"/>
              </a:rPr>
              <a:t>辅助行为内普遍存在误触等</a:t>
            </a:r>
            <a:r>
              <a:rPr lang="zh-CN" altLang="en-US" dirty="0">
                <a:solidFill>
                  <a:srgbClr val="FF0000"/>
                </a:solidFill>
                <a:effectLst/>
                <a:latin typeface="华文中宋" panose="02010600040101010101" pitchFamily="2" charset="-122"/>
                <a:ea typeface="华文中宋" panose="02010600040101010101" pitchFamily="2" charset="-122"/>
              </a:rPr>
              <a:t>低质量交互</a:t>
            </a:r>
            <a:r>
              <a:rPr lang="zh-CN" altLang="en-US" dirty="0">
                <a:solidFill>
                  <a:schemeClr val="tx1"/>
                </a:solidFill>
                <a:effectLst/>
                <a:latin typeface="华文中宋" panose="02010600040101010101" pitchFamily="2" charset="-122"/>
                <a:ea typeface="华文中宋" panose="02010600040101010101" pitchFamily="2" charset="-122"/>
              </a:rPr>
              <a:t>，若直接用于建模，易导致高价值行为信号被</a:t>
            </a:r>
            <a:r>
              <a:rPr lang="zh-CN" altLang="en-US" dirty="0">
                <a:solidFill>
                  <a:srgbClr val="FF0000"/>
                </a:solidFill>
                <a:effectLst/>
                <a:latin typeface="华文中宋" panose="02010600040101010101" pitchFamily="2" charset="-122"/>
                <a:ea typeface="华文中宋" panose="02010600040101010101" pitchFamily="2" charset="-122"/>
              </a:rPr>
              <a:t>稀释</a:t>
            </a:r>
            <a:r>
              <a:rPr lang="zh-CN" altLang="en-US" dirty="0">
                <a:solidFill>
                  <a:schemeClr val="tx1"/>
                </a:solidFill>
                <a:effectLst/>
                <a:latin typeface="华文中宋" panose="02010600040101010101" pitchFamily="2" charset="-122"/>
                <a:ea typeface="华文中宋" panose="02010600040101010101" pitchFamily="2" charset="-122"/>
              </a:rPr>
              <a:t>，影响推荐准确性。</a:t>
            </a:r>
            <a:endParaRPr lang="en-US" altLang="zh-CN" dirty="0">
              <a:solidFill>
                <a:schemeClr val="tx1"/>
              </a:solidFill>
              <a:effectLst/>
              <a:latin typeface="华文中宋" panose="02010600040101010101" pitchFamily="2" charset="-122"/>
              <a:ea typeface="华文中宋" panose="02010600040101010101" pitchFamily="2" charset="-122"/>
            </a:endParaRPr>
          </a:p>
          <a:p>
            <a:pPr lvl="1"/>
            <a:endParaRPr lang="en-US" altLang="zh-CN" dirty="0">
              <a:solidFill>
                <a:schemeClr val="tx1"/>
              </a:solidFill>
              <a:effectLst/>
              <a:latin typeface="华文中宋" panose="02010600040101010101" pitchFamily="2" charset="-122"/>
              <a:ea typeface="华文中宋" panose="02010600040101010101" pitchFamily="2" charset="-122"/>
            </a:endParaRPr>
          </a:p>
          <a:p>
            <a:r>
              <a:rPr lang="zh-CN" altLang="en-US" sz="1800" dirty="0">
                <a:solidFill>
                  <a:srgbClr val="000000"/>
                </a:solidFill>
                <a:effectLst/>
                <a:latin typeface="华文中宋" panose="02010600040101010101" pitchFamily="2" charset="-122"/>
                <a:ea typeface="华文中宋" panose="02010600040101010101" pitchFamily="2" charset="-122"/>
              </a:rPr>
              <a:t>多行为</a:t>
            </a:r>
            <a:r>
              <a:rPr lang="zh-CN" altLang="en-US" sz="1800" dirty="0">
                <a:solidFill>
                  <a:srgbClr val="FF0000"/>
                </a:solidFill>
                <a:effectLst/>
                <a:latin typeface="华文中宋" panose="02010600040101010101" pitchFamily="2" charset="-122"/>
                <a:ea typeface="华文中宋" panose="02010600040101010101" pitchFamily="2" charset="-122"/>
              </a:rPr>
              <a:t>交互信号融合</a:t>
            </a:r>
            <a:r>
              <a:rPr lang="zh-CN" altLang="en-US" sz="1800" dirty="0">
                <a:solidFill>
                  <a:srgbClr val="000000"/>
                </a:solidFill>
                <a:effectLst/>
                <a:latin typeface="华文中宋" panose="02010600040101010101" pitchFamily="2" charset="-122"/>
                <a:ea typeface="华文中宋" panose="02010600040101010101" pitchFamily="2" charset="-122"/>
              </a:rPr>
              <a:t>问题：</a:t>
            </a:r>
            <a:endParaRPr lang="en-US" altLang="zh-CN" sz="1800" dirty="0">
              <a:solidFill>
                <a:srgbClr val="000000"/>
              </a:solidFill>
              <a:effectLst/>
              <a:latin typeface="华文中宋" panose="02010600040101010101" pitchFamily="2" charset="-122"/>
              <a:ea typeface="华文中宋" panose="02010600040101010101" pitchFamily="2" charset="-122"/>
            </a:endParaRPr>
          </a:p>
          <a:p>
            <a:pPr lvl="1"/>
            <a:r>
              <a:rPr lang="zh-CN" altLang="en-US" dirty="0">
                <a:solidFill>
                  <a:srgbClr val="000000"/>
                </a:solidFill>
                <a:effectLst/>
                <a:latin typeface="华文中宋" panose="02010600040101010101" pitchFamily="2" charset="-122"/>
                <a:ea typeface="华文中宋" panose="02010600040101010101" pitchFamily="2" charset="-122"/>
              </a:rPr>
              <a:t>尽管辅助行为存在噪声，但</a:t>
            </a:r>
            <a:r>
              <a:rPr lang="zh-CN" altLang="en-US" dirty="0">
                <a:solidFill>
                  <a:srgbClr val="FF0000"/>
                </a:solidFill>
                <a:effectLst/>
                <a:latin typeface="华文中宋" panose="02010600040101010101" pitchFamily="2" charset="-122"/>
                <a:ea typeface="华文中宋" panose="02010600040101010101" pitchFamily="2" charset="-122"/>
              </a:rPr>
              <a:t>仍蕴含</a:t>
            </a:r>
            <a:r>
              <a:rPr lang="zh-CN" altLang="en-US" dirty="0">
                <a:solidFill>
                  <a:srgbClr val="000000"/>
                </a:solidFill>
                <a:effectLst/>
                <a:latin typeface="华文中宋" panose="02010600040101010101" pitchFamily="2" charset="-122"/>
                <a:ea typeface="华文中宋" panose="02010600040101010101" pitchFamily="2" charset="-122"/>
              </a:rPr>
              <a:t>可反映用户偏好的</a:t>
            </a:r>
            <a:r>
              <a:rPr lang="zh-CN" altLang="en-US" dirty="0">
                <a:solidFill>
                  <a:srgbClr val="FF0000"/>
                </a:solidFill>
                <a:effectLst/>
                <a:latin typeface="华文中宋" panose="02010600040101010101" pitchFamily="2" charset="-122"/>
                <a:ea typeface="华文中宋" panose="02010600040101010101" pitchFamily="2" charset="-122"/>
              </a:rPr>
              <a:t>有效信号</a:t>
            </a:r>
            <a:r>
              <a:rPr lang="zh-CN" altLang="en-US" dirty="0">
                <a:solidFill>
                  <a:srgbClr val="000000"/>
                </a:solidFill>
                <a:effectLst/>
                <a:latin typeface="华文中宋" panose="02010600040101010101" pitchFamily="2" charset="-122"/>
                <a:ea typeface="华文中宋" panose="02010600040101010101" pitchFamily="2" charset="-122"/>
              </a:rPr>
              <a:t>。如何挖掘并融合多种行为间的互补信息，是提升推荐性能的关键。</a:t>
            </a:r>
            <a:endParaRPr lang="en-US" altLang="zh-CN" dirty="0">
              <a:solidFill>
                <a:srgbClr val="000000"/>
              </a:solidFill>
              <a:effectLst/>
              <a:latin typeface="华文中宋" panose="02010600040101010101" pitchFamily="2" charset="-122"/>
              <a:ea typeface="华文中宋" panose="02010600040101010101" pitchFamily="2" charset="-122"/>
            </a:endParaRPr>
          </a:p>
          <a:p>
            <a:pPr lvl="1"/>
            <a:endParaRPr lang="en-US" altLang="zh-CN" dirty="0">
              <a:solidFill>
                <a:srgbClr val="000000"/>
              </a:solidFill>
              <a:effectLst/>
              <a:latin typeface="华文中宋" panose="02010600040101010101" pitchFamily="2" charset="-122"/>
              <a:ea typeface="华文中宋" panose="02010600040101010101" pitchFamily="2" charset="-122"/>
            </a:endParaRPr>
          </a:p>
          <a:p>
            <a:r>
              <a:rPr lang="zh-CN" altLang="en-US" dirty="0">
                <a:solidFill>
                  <a:srgbClr val="FF0000"/>
                </a:solidFill>
                <a:latin typeface="华文中宋" panose="02010600040101010101" pitchFamily="2" charset="-122"/>
                <a:ea typeface="华文中宋" panose="02010600040101010101" pitchFamily="2" charset="-122"/>
              </a:rPr>
              <a:t>多模态</a:t>
            </a:r>
            <a:r>
              <a:rPr lang="zh-CN" altLang="en-US" dirty="0">
                <a:solidFill>
                  <a:srgbClr val="000000"/>
                </a:solidFill>
                <a:latin typeface="华文中宋" panose="02010600040101010101" pitchFamily="2" charset="-122"/>
                <a:ea typeface="华文中宋" panose="02010600040101010101" pitchFamily="2" charset="-122"/>
              </a:rPr>
              <a:t>多行为推荐问题：</a:t>
            </a:r>
            <a:endParaRPr lang="en-US" altLang="zh-CN" dirty="0">
              <a:solidFill>
                <a:srgbClr val="000000"/>
              </a:solidFill>
              <a:latin typeface="华文中宋" panose="02010600040101010101" pitchFamily="2" charset="-122"/>
              <a:ea typeface="华文中宋" panose="02010600040101010101" pitchFamily="2" charset="-122"/>
            </a:endParaRPr>
          </a:p>
          <a:p>
            <a:pPr lvl="1"/>
            <a:r>
              <a:rPr kumimoji="1" lang="zh-CN" altLang="en-US" dirty="0">
                <a:solidFill>
                  <a:srgbClr val="FF0000"/>
                </a:solidFill>
                <a:latin typeface="华文中宋" panose="02010600040101010101" pitchFamily="2" charset="-122"/>
                <a:ea typeface="华文中宋" panose="02010600040101010101" pitchFamily="2" charset="-122"/>
              </a:rPr>
              <a:t>传统</a:t>
            </a:r>
            <a:r>
              <a:rPr kumimoji="1" lang="zh-CN" altLang="en-US" dirty="0">
                <a:solidFill>
                  <a:schemeClr val="tx1"/>
                </a:solidFill>
                <a:latin typeface="华文中宋" panose="02010600040101010101" pitchFamily="2" charset="-122"/>
                <a:ea typeface="华文中宋" panose="02010600040101010101" pitchFamily="2" charset="-122"/>
              </a:rPr>
              <a:t>多行为推荐主要</a:t>
            </a:r>
            <a:r>
              <a:rPr kumimoji="1" lang="zh-CN" altLang="en-US" dirty="0">
                <a:solidFill>
                  <a:srgbClr val="FF0000"/>
                </a:solidFill>
                <a:latin typeface="华文中宋" panose="02010600040101010101" pitchFamily="2" charset="-122"/>
                <a:ea typeface="华文中宋" panose="02010600040101010101" pitchFamily="2" charset="-122"/>
              </a:rPr>
              <a:t>依赖协同信息</a:t>
            </a:r>
            <a:r>
              <a:rPr kumimoji="1" lang="zh-CN" altLang="en-US" dirty="0">
                <a:solidFill>
                  <a:schemeClr val="tx1"/>
                </a:solidFill>
                <a:latin typeface="华文中宋" panose="02010600040101010101" pitchFamily="2" charset="-122"/>
                <a:ea typeface="华文中宋" panose="02010600040101010101" pitchFamily="2" charset="-122"/>
              </a:rPr>
              <a:t>，</a:t>
            </a:r>
            <a:r>
              <a:rPr kumimoji="1" lang="zh-CN" altLang="en-US" dirty="0">
                <a:solidFill>
                  <a:srgbClr val="FF0000"/>
                </a:solidFill>
                <a:latin typeface="华文中宋" panose="02010600040101010101" pitchFamily="2" charset="-122"/>
                <a:ea typeface="华文中宋" panose="02010600040101010101" pitchFamily="2" charset="-122"/>
              </a:rPr>
              <a:t>忽略了</a:t>
            </a:r>
            <a:r>
              <a:rPr kumimoji="1" lang="zh-CN" altLang="en-US" dirty="0">
                <a:solidFill>
                  <a:schemeClr val="tx1"/>
                </a:solidFill>
                <a:latin typeface="华文中宋" panose="02010600040101010101" pitchFamily="2" charset="-122"/>
                <a:ea typeface="华文中宋" panose="02010600040101010101" pitchFamily="2" charset="-122"/>
              </a:rPr>
              <a:t>多模态特征。这些特征能够揭示不同行为之间的潜在语义关联。</a:t>
            </a:r>
            <a:endParaRPr kumimoji="1" lang="en-US" altLang="zh-CN" dirty="0">
              <a:solidFill>
                <a:schemeClr val="tx1"/>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41173626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23FF93AD-B291-5347-AC70-D7287ABA5C8E}"/>
              </a:ext>
            </a:extLst>
          </p:cNvPr>
          <p:cNvSpPr>
            <a:spLocks noGrp="1"/>
          </p:cNvSpPr>
          <p:nvPr>
            <p:ph type="title"/>
          </p:nvPr>
        </p:nvSpPr>
        <p:spPr/>
        <p:txBody>
          <a:bodyPr>
            <a:normAutofit/>
          </a:bodyPr>
          <a:lstStyle/>
          <a:p>
            <a:r>
              <a:rPr kumimoji="1" lang="en-US" altLang="zh-CN" sz="3200" b="1" dirty="0">
                <a:latin typeface="华文中宋" panose="02010600040101010101" pitchFamily="2" charset="-122"/>
                <a:ea typeface="华文中宋" panose="02010600040101010101" pitchFamily="2" charset="-122"/>
              </a:rPr>
              <a:t>3. </a:t>
            </a:r>
            <a:r>
              <a:rPr kumimoji="1" lang="zh-CN" altLang="en-US" sz="3200" b="1" dirty="0">
                <a:latin typeface="华文中宋" panose="02010600040101010101" pitchFamily="2" charset="-122"/>
                <a:ea typeface="华文中宋" panose="02010600040101010101" pitchFamily="2" charset="-122"/>
              </a:rPr>
              <a:t>噪声感知与偏好提取的多行为推荐方法</a:t>
            </a:r>
            <a:endParaRPr kumimoji="1" lang="en-US" altLang="zh-CN" sz="3200" b="1" dirty="0">
              <a:latin typeface="华文中宋" panose="02010600040101010101" pitchFamily="2" charset="-122"/>
              <a:ea typeface="华文中宋" panose="02010600040101010101" pitchFamily="2" charset="-122"/>
            </a:endParaRPr>
          </a:p>
        </p:txBody>
      </p:sp>
      <p:sp>
        <p:nvSpPr>
          <p:cNvPr id="14" name="文本框 13">
            <a:extLst>
              <a:ext uri="{FF2B5EF4-FFF2-40B4-BE49-F238E27FC236}">
                <a16:creationId xmlns:a16="http://schemas.microsoft.com/office/drawing/2014/main" id="{9820D2CA-E2D2-F56F-91D1-34DE3E999E0B}"/>
              </a:ext>
            </a:extLst>
          </p:cNvPr>
          <p:cNvSpPr txBox="1"/>
          <p:nvPr/>
        </p:nvSpPr>
        <p:spPr>
          <a:xfrm>
            <a:off x="270377" y="1357532"/>
            <a:ext cx="10601546" cy="400110"/>
          </a:xfrm>
          <a:prstGeom prst="rect">
            <a:avLst/>
          </a:prstGeom>
          <a:noFill/>
        </p:spPr>
        <p:txBody>
          <a:bodyPr wrap="square" rtlCol="0">
            <a:spAutoFit/>
          </a:bodyPr>
          <a:lstStyle/>
          <a:p>
            <a:r>
              <a:rPr lang="zh-CN" altLang="en-US" sz="2000" b="1" dirty="0">
                <a:solidFill>
                  <a:srgbClr val="000000"/>
                </a:solidFill>
                <a:latin typeface="华文中宋" panose="02010600040101010101" pitchFamily="2" charset="-122"/>
                <a:ea typeface="华文中宋" panose="02010600040101010101" pitchFamily="2" charset="-122"/>
              </a:rPr>
              <a:t>整体框架示意图：</a:t>
            </a:r>
            <a:endParaRPr lang="zh-CN" altLang="en-US" sz="2000" b="1" dirty="0">
              <a:latin typeface="华文中宋" panose="02010600040101010101" pitchFamily="2" charset="-122"/>
              <a:ea typeface="华文中宋" panose="02010600040101010101" pitchFamily="2" charset="-122"/>
            </a:endParaRPr>
          </a:p>
        </p:txBody>
      </p:sp>
      <p:sp>
        <p:nvSpPr>
          <p:cNvPr id="2" name="文本框 1">
            <a:extLst>
              <a:ext uri="{FF2B5EF4-FFF2-40B4-BE49-F238E27FC236}">
                <a16:creationId xmlns:a16="http://schemas.microsoft.com/office/drawing/2014/main" id="{F8A51EE4-C21C-3936-EAFF-331D00C54B6B}"/>
              </a:ext>
            </a:extLst>
          </p:cNvPr>
          <p:cNvSpPr txBox="1"/>
          <p:nvPr/>
        </p:nvSpPr>
        <p:spPr>
          <a:xfrm>
            <a:off x="5039832" y="6208278"/>
            <a:ext cx="2282457" cy="338554"/>
          </a:xfrm>
          <a:prstGeom prst="rect">
            <a:avLst/>
          </a:prstGeom>
          <a:noFill/>
        </p:spPr>
        <p:txBody>
          <a:bodyPr wrap="square" rtlCol="0">
            <a:spAutoFit/>
          </a:bodyPr>
          <a:lstStyle/>
          <a:p>
            <a:r>
              <a:rPr lang="zh-CN" altLang="en-US" sz="1600" dirty="0">
                <a:solidFill>
                  <a:srgbClr val="000000"/>
                </a:solidFill>
                <a:effectLst/>
                <a:latin typeface="华文中宋" panose="02010600040101010101" pitchFamily="2" charset="-122"/>
                <a:ea typeface="华文中宋" panose="02010600040101010101" pitchFamily="2" charset="-122"/>
              </a:rPr>
              <a:t>图</a:t>
            </a:r>
            <a:r>
              <a:rPr lang="en-US" altLang="zh-CN" sz="1600" dirty="0">
                <a:solidFill>
                  <a:srgbClr val="000000"/>
                </a:solidFill>
                <a:effectLst/>
                <a:latin typeface="华文中宋" panose="02010600040101010101" pitchFamily="2" charset="-122"/>
                <a:ea typeface="华文中宋" panose="02010600040101010101" pitchFamily="2" charset="-122"/>
              </a:rPr>
              <a:t>3-1 </a:t>
            </a:r>
            <a:r>
              <a:rPr lang="zh-CN" altLang="en-US" sz="1600" dirty="0">
                <a:solidFill>
                  <a:srgbClr val="000000"/>
                </a:solidFill>
                <a:effectLst/>
                <a:latin typeface="华文中宋" panose="02010600040101010101" pitchFamily="2" charset="-122"/>
                <a:ea typeface="华文中宋" panose="02010600040101010101" pitchFamily="2" charset="-122"/>
              </a:rPr>
              <a:t>整体框架示意图</a:t>
            </a:r>
            <a:endParaRPr lang="zh-CN" altLang="en-US" sz="1600" b="1" baseline="30000" dirty="0">
              <a:latin typeface="华文中宋" panose="02010600040101010101" pitchFamily="2" charset="-122"/>
              <a:ea typeface="华文中宋" panose="02010600040101010101" pitchFamily="2" charset="-122"/>
            </a:endParaRPr>
          </a:p>
        </p:txBody>
      </p:sp>
      <p:pic>
        <p:nvPicPr>
          <p:cNvPr id="5" name="图片 4">
            <a:extLst>
              <a:ext uri="{FF2B5EF4-FFF2-40B4-BE49-F238E27FC236}">
                <a16:creationId xmlns:a16="http://schemas.microsoft.com/office/drawing/2014/main" id="{E96F2128-65C4-46C2-9D2A-0D42E993C20B}"/>
              </a:ext>
            </a:extLst>
          </p:cNvPr>
          <p:cNvPicPr>
            <a:picLocks noChangeAspect="1"/>
          </p:cNvPicPr>
          <p:nvPr/>
        </p:nvPicPr>
        <p:blipFill>
          <a:blip r:embed="rId3"/>
          <a:stretch>
            <a:fillRect/>
          </a:stretch>
        </p:blipFill>
        <p:spPr>
          <a:xfrm>
            <a:off x="2549088" y="1204264"/>
            <a:ext cx="7809879" cy="4904436"/>
          </a:xfrm>
          <a:prstGeom prst="rect">
            <a:avLst/>
          </a:prstGeom>
        </p:spPr>
      </p:pic>
    </p:spTree>
    <p:extLst>
      <p:ext uri="{BB962C8B-B14F-4D97-AF65-F5344CB8AC3E}">
        <p14:creationId xmlns:p14="http://schemas.microsoft.com/office/powerpoint/2010/main" val="13817162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23FF93AD-B291-5347-AC70-D7287ABA5C8E}"/>
              </a:ext>
            </a:extLst>
          </p:cNvPr>
          <p:cNvSpPr>
            <a:spLocks noGrp="1"/>
          </p:cNvSpPr>
          <p:nvPr>
            <p:ph type="title"/>
          </p:nvPr>
        </p:nvSpPr>
        <p:spPr/>
        <p:txBody>
          <a:bodyPr>
            <a:normAutofit/>
          </a:bodyPr>
          <a:lstStyle/>
          <a:p>
            <a:r>
              <a:rPr kumimoji="1" lang="en-US" altLang="zh-CN" sz="3200" b="1" dirty="0">
                <a:latin typeface="华文中宋" panose="02010600040101010101" pitchFamily="2" charset="-122"/>
                <a:ea typeface="华文中宋" panose="02010600040101010101" pitchFamily="2" charset="-122"/>
              </a:rPr>
              <a:t>3.</a:t>
            </a:r>
            <a:r>
              <a:rPr kumimoji="1" lang="zh-CN" altLang="en-US" sz="3200" b="1" dirty="0">
                <a:latin typeface="华文中宋" panose="02010600040101010101" pitchFamily="2" charset="-122"/>
                <a:ea typeface="华文中宋" panose="02010600040101010101" pitchFamily="2" charset="-122"/>
              </a:rPr>
              <a:t>噪声感知与偏好提取的多行为推荐方法</a:t>
            </a:r>
            <a:endParaRPr kumimoji="1" lang="en-US" altLang="zh-CN" sz="3200" b="1" dirty="0">
              <a:latin typeface="华文中宋" panose="02010600040101010101" pitchFamily="2" charset="-122"/>
              <a:ea typeface="华文中宋" panose="02010600040101010101" pitchFamily="2" charset="-122"/>
            </a:endParaRPr>
          </a:p>
        </p:txBody>
      </p:sp>
      <p:sp>
        <p:nvSpPr>
          <p:cNvPr id="14" name="文本框 13">
            <a:extLst>
              <a:ext uri="{FF2B5EF4-FFF2-40B4-BE49-F238E27FC236}">
                <a16:creationId xmlns:a16="http://schemas.microsoft.com/office/drawing/2014/main" id="{9820D2CA-E2D2-F56F-91D1-34DE3E999E0B}"/>
              </a:ext>
            </a:extLst>
          </p:cNvPr>
          <p:cNvSpPr txBox="1"/>
          <p:nvPr/>
        </p:nvSpPr>
        <p:spPr>
          <a:xfrm>
            <a:off x="561754" y="1366100"/>
            <a:ext cx="10601546" cy="400110"/>
          </a:xfrm>
          <a:prstGeom prst="rect">
            <a:avLst/>
          </a:prstGeom>
          <a:noFill/>
        </p:spPr>
        <p:txBody>
          <a:bodyPr wrap="square" rtlCol="0">
            <a:spAutoFit/>
          </a:bodyPr>
          <a:lstStyle/>
          <a:p>
            <a:r>
              <a:rPr lang="zh-CN" altLang="en-US" sz="2000" b="1" dirty="0">
                <a:solidFill>
                  <a:srgbClr val="000000"/>
                </a:solidFill>
                <a:latin typeface="华文中宋" panose="02010600040101010101" pitchFamily="2" charset="-122"/>
                <a:ea typeface="华文中宋" panose="02010600040101010101" pitchFamily="2" charset="-122"/>
              </a:rPr>
              <a:t>数据预处理：行为间行为内加权去噪模块</a:t>
            </a:r>
            <a:endParaRPr lang="zh-CN" altLang="en-US" sz="2000" b="1" dirty="0">
              <a:latin typeface="华文中宋" panose="02010600040101010101" pitchFamily="2" charset="-122"/>
              <a:ea typeface="华文中宋" panose="02010600040101010101" pitchFamily="2" charset="-122"/>
            </a:endParaRPr>
          </a:p>
        </p:txBody>
      </p:sp>
      <mc:AlternateContent xmlns:mc="http://schemas.openxmlformats.org/markup-compatibility/2006" xmlns:a14="http://schemas.microsoft.com/office/drawing/2010/main">
        <mc:Choice Requires="a14">
          <p:sp>
            <p:nvSpPr>
              <p:cNvPr id="19" name="内容占位符 1">
                <a:extLst>
                  <a:ext uri="{FF2B5EF4-FFF2-40B4-BE49-F238E27FC236}">
                    <a16:creationId xmlns:a16="http://schemas.microsoft.com/office/drawing/2014/main" id="{BEC30531-D40D-4F94-BA04-D4A2FD246E9A}"/>
                  </a:ext>
                </a:extLst>
              </p:cNvPr>
              <p:cNvSpPr txBox="1">
                <a:spLocks/>
              </p:cNvSpPr>
              <p:nvPr/>
            </p:nvSpPr>
            <p:spPr>
              <a:xfrm>
                <a:off x="270377" y="1842653"/>
                <a:ext cx="9177049" cy="4826611"/>
              </a:xfrm>
              <a:prstGeom prst="rect">
                <a:avLst/>
              </a:prstGeom>
            </p:spPr>
            <p:txBody>
              <a:bodyPr vert="horz" lIns="91440" tIns="45720" rIns="91440" bIns="45720" rtlCol="0" anchor="t">
                <a:normAutofit lnSpcReduction="10000"/>
              </a:bodyPr>
              <a:lstStyle>
                <a:lvl1pPr marL="305992" indent="-305992"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29984" indent="-305992"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899978" indent="-269993"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1969" indent="-233994"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1960" indent="-233994"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899953"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199945"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38"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930"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zh-CN" altLang="en-US" dirty="0">
                    <a:solidFill>
                      <a:schemeClr val="tx1"/>
                    </a:solidFill>
                    <a:latin typeface="华文中宋" panose="02010600040101010101" pitchFamily="2" charset="-122"/>
                    <a:ea typeface="华文中宋" panose="02010600040101010101" pitchFamily="2" charset="-122"/>
                  </a:rPr>
                  <a:t>我们认为多行为之间的行为</a:t>
                </a:r>
                <a:r>
                  <a:rPr lang="zh-CN" altLang="en-US" dirty="0">
                    <a:solidFill>
                      <a:srgbClr val="FF0000"/>
                    </a:solidFill>
                    <a:latin typeface="华文中宋" panose="02010600040101010101" pitchFamily="2" charset="-122"/>
                    <a:ea typeface="华文中宋" panose="02010600040101010101" pitchFamily="2" charset="-122"/>
                  </a:rPr>
                  <a:t>强度不同</a:t>
                </a:r>
                <a:r>
                  <a:rPr lang="zh-CN" altLang="en-US" dirty="0">
                    <a:solidFill>
                      <a:schemeClr val="tx1"/>
                    </a:solidFill>
                    <a:latin typeface="+mj-lt"/>
                    <a:ea typeface="华文中宋" panose="02010600040101010101" pitchFamily="2" charset="-122"/>
                  </a:rPr>
                  <a:t>：</a:t>
                </a:r>
                <a:endParaRPr lang="en-US" altLang="zh-CN" dirty="0">
                  <a:solidFill>
                    <a:schemeClr val="tx1"/>
                  </a:solidFill>
                  <a:latin typeface="+mj-lt"/>
                  <a:ea typeface="华文中宋" panose="02010600040101010101" pitchFamily="2" charset="-122"/>
                </a:endParaRPr>
              </a:p>
              <a:p>
                <a:r>
                  <a:rPr lang="zh-CN" altLang="en-US" dirty="0">
                    <a:solidFill>
                      <a:schemeClr val="tx1"/>
                    </a:solidFill>
                    <a:latin typeface="+mj-lt"/>
                    <a:ea typeface="华文中宋" panose="02010600040101010101" pitchFamily="2" charset="-122"/>
                  </a:rPr>
                  <a:t>为了量化行为不同行为的强度，使用因果森林模型计算点击、加购对购买的影响</a:t>
                </a:r>
                <a:endParaRPr lang="en-US" altLang="zh-CN" dirty="0">
                  <a:solidFill>
                    <a:schemeClr val="tx1"/>
                  </a:solidFill>
                  <a:latin typeface="+mj-lt"/>
                  <a:ea typeface="华文中宋" panose="02010600040101010101" pitchFamily="2" charset="-122"/>
                </a:endParaRPr>
              </a:p>
              <a:p>
                <a:pPr lvl="1"/>
                <a:r>
                  <a:rPr lang="zh-CN" altLang="en-US" dirty="0">
                    <a:solidFill>
                      <a:schemeClr val="tx1"/>
                    </a:solidFill>
                    <a:latin typeface="+mj-lt"/>
                    <a:ea typeface="华文中宋" panose="02010600040101010101" pitchFamily="2" charset="-122"/>
                  </a:rPr>
                  <a:t>干预：</a:t>
                </a:r>
                <a:r>
                  <a:rPr lang="en-US" altLang="zh-CN" dirty="0">
                    <a:solidFill>
                      <a:schemeClr val="tx1"/>
                    </a:solidFill>
                    <a:latin typeface="+mj-lt"/>
                    <a:ea typeface="华文中宋" panose="02010600040101010101" pitchFamily="2" charset="-122"/>
                  </a:rPr>
                  <a:t>T=1</a:t>
                </a:r>
                <a:r>
                  <a:rPr lang="zh-CN" altLang="en-US" dirty="0">
                    <a:solidFill>
                      <a:schemeClr val="tx1"/>
                    </a:solidFill>
                    <a:latin typeface="+mj-lt"/>
                    <a:ea typeface="华文中宋" panose="02010600040101010101" pitchFamily="2" charset="-122"/>
                  </a:rPr>
                  <a:t>为点击，</a:t>
                </a:r>
                <a:r>
                  <a:rPr lang="en-US" altLang="zh-CN" dirty="0">
                    <a:solidFill>
                      <a:schemeClr val="tx1"/>
                    </a:solidFill>
                    <a:latin typeface="+mj-lt"/>
                    <a:ea typeface="华文中宋" panose="02010600040101010101" pitchFamily="2" charset="-122"/>
                  </a:rPr>
                  <a:t>T=2</a:t>
                </a:r>
                <a:r>
                  <a:rPr lang="zh-CN" altLang="en-US" dirty="0">
                    <a:solidFill>
                      <a:schemeClr val="tx1"/>
                    </a:solidFill>
                    <a:latin typeface="+mj-lt"/>
                    <a:ea typeface="华文中宋" panose="02010600040101010101" pitchFamily="2" charset="-122"/>
                  </a:rPr>
                  <a:t>为加购</a:t>
                </a:r>
                <a:endParaRPr lang="en-US" altLang="zh-CN" dirty="0">
                  <a:solidFill>
                    <a:schemeClr val="tx1"/>
                  </a:solidFill>
                  <a:latin typeface="+mj-lt"/>
                  <a:ea typeface="华文中宋" panose="02010600040101010101" pitchFamily="2" charset="-122"/>
                </a:endParaRPr>
              </a:p>
              <a:p>
                <a:pPr lvl="1"/>
                <a:r>
                  <a:rPr lang="zh-CN" altLang="en-US" dirty="0">
                    <a:solidFill>
                      <a:schemeClr val="tx1"/>
                    </a:solidFill>
                    <a:latin typeface="+mj-lt"/>
                    <a:ea typeface="华文中宋" panose="02010600040101010101" pitchFamily="2" charset="-122"/>
                  </a:rPr>
                  <a:t>目标：是否购买</a:t>
                </a:r>
                <a:r>
                  <a:rPr lang="en-US" altLang="zh-CN" dirty="0">
                    <a:solidFill>
                      <a:schemeClr val="tx1"/>
                    </a:solidFill>
                    <a:latin typeface="+mj-lt"/>
                    <a:ea typeface="华文中宋" panose="02010600040101010101" pitchFamily="2" charset="-122"/>
                  </a:rPr>
                  <a:t>Y=1</a:t>
                </a:r>
                <a:r>
                  <a:rPr lang="zh-CN" altLang="en-US" dirty="0">
                    <a:solidFill>
                      <a:schemeClr val="tx1"/>
                    </a:solidFill>
                    <a:latin typeface="+mj-lt"/>
                    <a:ea typeface="华文中宋" panose="02010600040101010101" pitchFamily="2" charset="-122"/>
                  </a:rPr>
                  <a:t>或</a:t>
                </a:r>
                <a:r>
                  <a:rPr lang="en-US" altLang="zh-CN" dirty="0">
                    <a:solidFill>
                      <a:schemeClr val="tx1"/>
                    </a:solidFill>
                    <a:latin typeface="+mj-lt"/>
                    <a:ea typeface="华文中宋" panose="02010600040101010101" pitchFamily="2" charset="-122"/>
                  </a:rPr>
                  <a:t>0</a:t>
                </a:r>
              </a:p>
              <a:p>
                <a:pPr lvl="1"/>
                <a:r>
                  <a:rPr lang="zh-CN" altLang="en-US" dirty="0">
                    <a:solidFill>
                      <a:schemeClr val="tx1"/>
                    </a:solidFill>
                    <a:latin typeface="+mj-lt"/>
                    <a:ea typeface="华文中宋" panose="02010600040101010101" pitchFamily="2" charset="-122"/>
                  </a:rPr>
                  <a:t>协变量</a:t>
                </a:r>
                <a:r>
                  <a:rPr lang="en-US" altLang="zh-CN" dirty="0">
                    <a:solidFill>
                      <a:schemeClr val="tx1"/>
                    </a:solidFill>
                    <a:latin typeface="+mj-lt"/>
                    <a:ea typeface="华文中宋" panose="02010600040101010101" pitchFamily="2" charset="-122"/>
                  </a:rPr>
                  <a:t>X</a:t>
                </a:r>
                <a:r>
                  <a:rPr lang="zh-CN" altLang="en-US" dirty="0">
                    <a:solidFill>
                      <a:schemeClr val="tx1"/>
                    </a:solidFill>
                    <a:latin typeface="+mj-lt"/>
                    <a:ea typeface="华文中宋" panose="02010600040101010101" pitchFamily="2" charset="-122"/>
                  </a:rPr>
                  <a:t>：用户历史点击率，加购频率</a:t>
                </a:r>
                <a:endParaRPr lang="en-US" altLang="zh-CN" dirty="0">
                  <a:solidFill>
                    <a:schemeClr val="tx1"/>
                  </a:solidFill>
                  <a:latin typeface="+mj-lt"/>
                  <a:ea typeface="华文中宋" panose="02010600040101010101" pitchFamily="2" charset="-122"/>
                </a:endParaRPr>
              </a:p>
              <a:p>
                <a:pPr lvl="1"/>
                <a14:m>
                  <m:oMath xmlns:m="http://schemas.openxmlformats.org/officeDocument/2006/math">
                    <m:r>
                      <a:rPr lang="de-DE" altLang="zh-CN" i="1">
                        <a:solidFill>
                          <a:schemeClr val="tx1"/>
                        </a:solidFill>
                        <a:latin typeface="Cambria Math" panose="02040503050406030204" pitchFamily="18" charset="0"/>
                        <a:ea typeface="华文中宋" panose="02010600040101010101" pitchFamily="2" charset="-122"/>
                      </a:rPr>
                      <m:t>𝜏</m:t>
                    </m:r>
                    <m:r>
                      <a:rPr lang="de-DE" altLang="zh-CN" i="1">
                        <a:solidFill>
                          <a:schemeClr val="tx1"/>
                        </a:solidFill>
                        <a:latin typeface="Cambria Math" panose="02040503050406030204" pitchFamily="18" charset="0"/>
                        <a:ea typeface="华文中宋" panose="02010600040101010101" pitchFamily="2" charset="-122"/>
                      </a:rPr>
                      <m:t>ᵢ = </m:t>
                    </m:r>
                    <m:r>
                      <a:rPr lang="de-DE" altLang="zh-CN" i="1">
                        <a:solidFill>
                          <a:schemeClr val="tx1"/>
                        </a:solidFill>
                        <a:latin typeface="Cambria Math" panose="02040503050406030204" pitchFamily="18" charset="0"/>
                        <a:ea typeface="华文中宋" panose="02010600040101010101" pitchFamily="2" charset="-122"/>
                      </a:rPr>
                      <m:t>𝐸</m:t>
                    </m:r>
                    <m:r>
                      <a:rPr lang="de-DE" altLang="zh-CN" i="1">
                        <a:solidFill>
                          <a:schemeClr val="tx1"/>
                        </a:solidFill>
                        <a:latin typeface="Cambria Math" panose="02040503050406030204" pitchFamily="18" charset="0"/>
                        <a:ea typeface="华文中宋" panose="02010600040101010101" pitchFamily="2" charset="-122"/>
                      </a:rPr>
                      <m:t>[</m:t>
                    </m:r>
                    <m:r>
                      <a:rPr lang="de-DE" altLang="zh-CN" i="1">
                        <a:solidFill>
                          <a:schemeClr val="tx1"/>
                        </a:solidFill>
                        <a:latin typeface="Cambria Math" panose="02040503050406030204" pitchFamily="18" charset="0"/>
                        <a:ea typeface="华文中宋" panose="02010600040101010101" pitchFamily="2" charset="-122"/>
                      </a:rPr>
                      <m:t>𝑌</m:t>
                    </m:r>
                    <m:r>
                      <a:rPr lang="de-DE" altLang="zh-CN" i="1">
                        <a:solidFill>
                          <a:schemeClr val="tx1"/>
                        </a:solidFill>
                        <a:latin typeface="Cambria Math" panose="02040503050406030204" pitchFamily="18" charset="0"/>
                        <a:ea typeface="华文中宋" panose="02010600040101010101" pitchFamily="2" charset="-122"/>
                      </a:rPr>
                      <m:t>ᵢ | </m:t>
                    </m:r>
                    <m:r>
                      <a:rPr lang="de-DE" altLang="zh-CN" i="1">
                        <a:solidFill>
                          <a:schemeClr val="tx1"/>
                        </a:solidFill>
                        <a:latin typeface="Cambria Math" panose="02040503050406030204" pitchFamily="18" charset="0"/>
                        <a:ea typeface="华文中宋" panose="02010600040101010101" pitchFamily="2" charset="-122"/>
                      </a:rPr>
                      <m:t>𝑇</m:t>
                    </m:r>
                    <m:r>
                      <a:rPr lang="de-DE" altLang="zh-CN" i="1">
                        <a:solidFill>
                          <a:schemeClr val="tx1"/>
                        </a:solidFill>
                        <a:latin typeface="Cambria Math" panose="02040503050406030204" pitchFamily="18" charset="0"/>
                        <a:ea typeface="华文中宋" panose="02010600040101010101" pitchFamily="2" charset="-122"/>
                      </a:rPr>
                      <m:t>=2, </m:t>
                    </m:r>
                    <m:r>
                      <a:rPr lang="de-DE" altLang="zh-CN" i="1">
                        <a:solidFill>
                          <a:schemeClr val="tx1"/>
                        </a:solidFill>
                        <a:latin typeface="Cambria Math" panose="02040503050406030204" pitchFamily="18" charset="0"/>
                        <a:ea typeface="华文中宋" panose="02010600040101010101" pitchFamily="2" charset="-122"/>
                      </a:rPr>
                      <m:t>𝑋</m:t>
                    </m:r>
                    <m:r>
                      <a:rPr lang="de-DE" altLang="zh-CN" i="1">
                        <a:solidFill>
                          <a:schemeClr val="tx1"/>
                        </a:solidFill>
                        <a:latin typeface="Cambria Math" panose="02040503050406030204" pitchFamily="18" charset="0"/>
                        <a:ea typeface="华文中宋" panose="02010600040101010101" pitchFamily="2" charset="-122"/>
                      </a:rPr>
                      <m:t>ᵢ] − </m:t>
                    </m:r>
                    <m:r>
                      <a:rPr lang="de-DE" altLang="zh-CN" i="1">
                        <a:solidFill>
                          <a:schemeClr val="tx1"/>
                        </a:solidFill>
                        <a:latin typeface="Cambria Math" panose="02040503050406030204" pitchFamily="18" charset="0"/>
                        <a:ea typeface="华文中宋" panose="02010600040101010101" pitchFamily="2" charset="-122"/>
                      </a:rPr>
                      <m:t>𝐸</m:t>
                    </m:r>
                    <m:r>
                      <a:rPr lang="de-DE" altLang="zh-CN" i="1">
                        <a:solidFill>
                          <a:schemeClr val="tx1"/>
                        </a:solidFill>
                        <a:latin typeface="Cambria Math" panose="02040503050406030204" pitchFamily="18" charset="0"/>
                        <a:ea typeface="华文中宋" panose="02010600040101010101" pitchFamily="2" charset="-122"/>
                      </a:rPr>
                      <m:t>[</m:t>
                    </m:r>
                    <m:r>
                      <a:rPr lang="de-DE" altLang="zh-CN" i="1">
                        <a:solidFill>
                          <a:schemeClr val="tx1"/>
                        </a:solidFill>
                        <a:latin typeface="Cambria Math" panose="02040503050406030204" pitchFamily="18" charset="0"/>
                        <a:ea typeface="华文中宋" panose="02010600040101010101" pitchFamily="2" charset="-122"/>
                      </a:rPr>
                      <m:t>𝑌</m:t>
                    </m:r>
                    <m:r>
                      <a:rPr lang="de-DE" altLang="zh-CN" i="1">
                        <a:solidFill>
                          <a:schemeClr val="tx1"/>
                        </a:solidFill>
                        <a:latin typeface="Cambria Math" panose="02040503050406030204" pitchFamily="18" charset="0"/>
                        <a:ea typeface="华文中宋" panose="02010600040101010101" pitchFamily="2" charset="-122"/>
                      </a:rPr>
                      <m:t>ᵢ | </m:t>
                    </m:r>
                    <m:r>
                      <a:rPr lang="de-DE" altLang="zh-CN" i="1">
                        <a:solidFill>
                          <a:schemeClr val="tx1"/>
                        </a:solidFill>
                        <a:latin typeface="Cambria Math" panose="02040503050406030204" pitchFamily="18" charset="0"/>
                        <a:ea typeface="华文中宋" panose="02010600040101010101" pitchFamily="2" charset="-122"/>
                      </a:rPr>
                      <m:t>𝑇</m:t>
                    </m:r>
                    <m:r>
                      <a:rPr lang="de-DE" altLang="zh-CN" i="1">
                        <a:solidFill>
                          <a:schemeClr val="tx1"/>
                        </a:solidFill>
                        <a:latin typeface="Cambria Math" panose="02040503050406030204" pitchFamily="18" charset="0"/>
                        <a:ea typeface="华文中宋" panose="02010600040101010101" pitchFamily="2" charset="-122"/>
                      </a:rPr>
                      <m:t>=1, </m:t>
                    </m:r>
                    <m:r>
                      <a:rPr lang="de-DE" altLang="zh-CN" i="1">
                        <a:solidFill>
                          <a:schemeClr val="tx1"/>
                        </a:solidFill>
                        <a:latin typeface="Cambria Math" panose="02040503050406030204" pitchFamily="18" charset="0"/>
                        <a:ea typeface="华文中宋" panose="02010600040101010101" pitchFamily="2" charset="-122"/>
                      </a:rPr>
                      <m:t>𝑋</m:t>
                    </m:r>
                    <m:r>
                      <a:rPr lang="de-DE" altLang="zh-CN" i="1">
                        <a:solidFill>
                          <a:schemeClr val="tx1"/>
                        </a:solidFill>
                        <a:latin typeface="Cambria Math" panose="02040503050406030204" pitchFamily="18" charset="0"/>
                        <a:ea typeface="华文中宋" panose="02010600040101010101" pitchFamily="2" charset="-122"/>
                      </a:rPr>
                      <m:t>ᵢ]</m:t>
                    </m:r>
                  </m:oMath>
                </a14:m>
                <a:endParaRPr lang="en-US" altLang="zh-CN" dirty="0">
                  <a:solidFill>
                    <a:schemeClr val="tx1"/>
                  </a:solidFill>
                  <a:latin typeface="+mj-lt"/>
                  <a:ea typeface="华文中宋" panose="02010600040101010101" pitchFamily="2" charset="-122"/>
                </a:endParaRPr>
              </a:p>
              <a:p>
                <a:pPr lvl="1"/>
                <a14:m>
                  <m:oMath xmlns:m="http://schemas.openxmlformats.org/officeDocument/2006/math">
                    <m:sSub>
                      <m:sSubPr>
                        <m:ctrlPr>
                          <a:rPr lang="pl-PL" altLang="zh-CN" i="1" smtClean="0">
                            <a:solidFill>
                              <a:schemeClr val="tx1"/>
                            </a:solidFill>
                            <a:latin typeface="Cambria Math" panose="02040503050406030204" pitchFamily="18" charset="0"/>
                            <a:ea typeface="华文中宋" panose="02010600040101010101" pitchFamily="2" charset="-122"/>
                          </a:rPr>
                        </m:ctrlPr>
                      </m:sSubPr>
                      <m:e>
                        <m:r>
                          <a:rPr lang="en-US" altLang="zh-CN" b="0" i="1" smtClean="0">
                            <a:solidFill>
                              <a:schemeClr val="tx1"/>
                            </a:solidFill>
                            <a:latin typeface="Cambria Math" panose="02040503050406030204" pitchFamily="18" charset="0"/>
                            <a:ea typeface="华文中宋" panose="02010600040101010101" pitchFamily="2" charset="-122"/>
                          </a:rPr>
                          <m:t>𝑤</m:t>
                        </m:r>
                      </m:e>
                      <m:sub>
                        <m:r>
                          <a:rPr lang="en-US" altLang="zh-CN" b="0" i="1" smtClean="0">
                            <a:solidFill>
                              <a:schemeClr val="tx1"/>
                            </a:solidFill>
                            <a:latin typeface="Cambria Math" panose="02040503050406030204" pitchFamily="18" charset="0"/>
                            <a:ea typeface="华文中宋" panose="02010600040101010101" pitchFamily="2" charset="-122"/>
                          </a:rPr>
                          <m:t>𝑐𝑎𝑟𝑡</m:t>
                        </m:r>
                        <m:r>
                          <a:rPr lang="en-US" altLang="zh-CN" b="0" i="1" smtClean="0">
                            <a:solidFill>
                              <a:schemeClr val="tx1"/>
                            </a:solidFill>
                            <a:latin typeface="Cambria Math" panose="02040503050406030204" pitchFamily="18" charset="0"/>
                            <a:ea typeface="华文中宋" panose="02010600040101010101" pitchFamily="2" charset="-122"/>
                          </a:rPr>
                          <m:t>,</m:t>
                        </m:r>
                        <m:r>
                          <a:rPr lang="en-US" altLang="zh-CN" b="0" i="1" smtClean="0">
                            <a:solidFill>
                              <a:schemeClr val="tx1"/>
                            </a:solidFill>
                            <a:latin typeface="Cambria Math" panose="02040503050406030204" pitchFamily="18" charset="0"/>
                            <a:ea typeface="华文中宋" panose="02010600040101010101" pitchFamily="2" charset="-122"/>
                          </a:rPr>
                          <m:t>𝑖</m:t>
                        </m:r>
                      </m:sub>
                    </m:sSub>
                    <m:r>
                      <a:rPr lang="pl-PL" altLang="zh-CN" i="1" smtClean="0">
                        <a:solidFill>
                          <a:schemeClr val="tx1"/>
                        </a:solidFill>
                        <a:latin typeface="Cambria Math" panose="02040503050406030204" pitchFamily="18" charset="0"/>
                        <a:ea typeface="华文中宋" panose="02010600040101010101" pitchFamily="2" charset="-122"/>
                      </a:rPr>
                      <m:t> </m:t>
                    </m:r>
                    <m:r>
                      <a:rPr lang="pl-PL" altLang="zh-CN" i="1">
                        <a:solidFill>
                          <a:schemeClr val="tx1"/>
                        </a:solidFill>
                        <a:latin typeface="Cambria Math" panose="02040503050406030204" pitchFamily="18" charset="0"/>
                        <a:ea typeface="华文中宋" panose="02010600040101010101" pitchFamily="2" charset="-122"/>
                      </a:rPr>
                      <m:t>=</m:t>
                    </m:r>
                    <m:f>
                      <m:fPr>
                        <m:ctrlPr>
                          <a:rPr lang="pl-PL" altLang="zh-CN" i="1">
                            <a:solidFill>
                              <a:schemeClr val="tx1"/>
                            </a:solidFill>
                            <a:latin typeface="Cambria Math" panose="02040503050406030204" pitchFamily="18" charset="0"/>
                            <a:ea typeface="华文中宋" panose="02010600040101010101" pitchFamily="2" charset="-122"/>
                          </a:rPr>
                        </m:ctrlPr>
                      </m:fPr>
                      <m:num>
                        <m:r>
                          <a:rPr lang="pl-PL" altLang="zh-CN" i="1">
                            <a:solidFill>
                              <a:schemeClr val="tx1"/>
                            </a:solidFill>
                            <a:latin typeface="Cambria Math" panose="02040503050406030204" pitchFamily="18" charset="0"/>
                            <a:ea typeface="华文中宋" panose="02010600040101010101" pitchFamily="2" charset="-122"/>
                          </a:rPr>
                          <m:t>𝑒𝑥𝑝</m:t>
                        </m:r>
                        <m:d>
                          <m:dPr>
                            <m:ctrlPr>
                              <a:rPr lang="pl-PL" altLang="zh-CN" i="1">
                                <a:solidFill>
                                  <a:schemeClr val="tx1"/>
                                </a:solidFill>
                                <a:latin typeface="Cambria Math" panose="02040503050406030204" pitchFamily="18" charset="0"/>
                                <a:ea typeface="华文中宋" panose="02010600040101010101" pitchFamily="2" charset="-122"/>
                              </a:rPr>
                            </m:ctrlPr>
                          </m:dPr>
                          <m:e>
                            <m:r>
                              <a:rPr lang="pl-PL" altLang="zh-CN" i="1">
                                <a:solidFill>
                                  <a:schemeClr val="tx1"/>
                                </a:solidFill>
                                <a:latin typeface="Cambria Math" panose="02040503050406030204" pitchFamily="18" charset="0"/>
                                <a:ea typeface="华文中宋" panose="02010600040101010101" pitchFamily="2" charset="-122"/>
                              </a:rPr>
                              <m:t>𝜏</m:t>
                            </m:r>
                            <m:r>
                              <a:rPr lang="pl-PL" altLang="zh-CN" i="1">
                                <a:solidFill>
                                  <a:schemeClr val="tx1"/>
                                </a:solidFill>
                                <a:latin typeface="Cambria Math" panose="02040503050406030204" pitchFamily="18" charset="0"/>
                                <a:ea typeface="华文中宋" panose="02010600040101010101" pitchFamily="2" charset="-122"/>
                              </a:rPr>
                              <m:t>ᵢ</m:t>
                            </m:r>
                          </m:e>
                        </m:d>
                      </m:num>
                      <m:den>
                        <m:d>
                          <m:dPr>
                            <m:ctrlPr>
                              <a:rPr lang="pl-PL" altLang="zh-CN" i="1">
                                <a:solidFill>
                                  <a:schemeClr val="tx1"/>
                                </a:solidFill>
                                <a:latin typeface="Cambria Math" panose="02040503050406030204" pitchFamily="18" charset="0"/>
                                <a:ea typeface="华文中宋" panose="02010600040101010101" pitchFamily="2" charset="-122"/>
                              </a:rPr>
                            </m:ctrlPr>
                          </m:dPr>
                          <m:e>
                            <m:r>
                              <a:rPr lang="pl-PL" altLang="zh-CN" i="1">
                                <a:solidFill>
                                  <a:schemeClr val="tx1"/>
                                </a:solidFill>
                                <a:latin typeface="Cambria Math" panose="02040503050406030204" pitchFamily="18" charset="0"/>
                                <a:ea typeface="华文中宋" panose="02010600040101010101" pitchFamily="2" charset="-122"/>
                              </a:rPr>
                              <m:t>𝑒𝑥𝑝</m:t>
                            </m:r>
                            <m:d>
                              <m:dPr>
                                <m:ctrlPr>
                                  <a:rPr lang="pl-PL" altLang="zh-CN" i="1">
                                    <a:solidFill>
                                      <a:schemeClr val="tx1"/>
                                    </a:solidFill>
                                    <a:latin typeface="Cambria Math" panose="02040503050406030204" pitchFamily="18" charset="0"/>
                                    <a:ea typeface="华文中宋" panose="02010600040101010101" pitchFamily="2" charset="-122"/>
                                  </a:rPr>
                                </m:ctrlPr>
                              </m:dPr>
                              <m:e>
                                <m:r>
                                  <a:rPr lang="pl-PL" altLang="zh-CN" i="1">
                                    <a:solidFill>
                                      <a:schemeClr val="tx1"/>
                                    </a:solidFill>
                                    <a:latin typeface="Cambria Math" panose="02040503050406030204" pitchFamily="18" charset="0"/>
                                    <a:ea typeface="华文中宋" panose="02010600040101010101" pitchFamily="2" charset="-122"/>
                                  </a:rPr>
                                  <m:t>𝜏</m:t>
                                </m:r>
                                <m:r>
                                  <a:rPr lang="pl-PL" altLang="zh-CN" i="1">
                                    <a:solidFill>
                                      <a:schemeClr val="tx1"/>
                                    </a:solidFill>
                                    <a:latin typeface="Cambria Math" panose="02040503050406030204" pitchFamily="18" charset="0"/>
                                    <a:ea typeface="华文中宋" panose="02010600040101010101" pitchFamily="2" charset="-122"/>
                                  </a:rPr>
                                  <m:t>ᵢ</m:t>
                                </m:r>
                              </m:e>
                            </m:d>
                            <m:r>
                              <a:rPr lang="pl-PL" altLang="zh-CN" i="1">
                                <a:solidFill>
                                  <a:schemeClr val="tx1"/>
                                </a:solidFill>
                                <a:latin typeface="Cambria Math" panose="02040503050406030204" pitchFamily="18" charset="0"/>
                                <a:ea typeface="华文中宋" panose="02010600040101010101" pitchFamily="2" charset="-122"/>
                              </a:rPr>
                              <m:t>+ 1</m:t>
                            </m:r>
                          </m:e>
                        </m:d>
                      </m:den>
                    </m:f>
                  </m:oMath>
                </a14:m>
                <a:endParaRPr lang="en-US" altLang="zh-CN" dirty="0">
                  <a:solidFill>
                    <a:schemeClr val="tx1"/>
                  </a:solidFill>
                  <a:latin typeface="+mj-lt"/>
                  <a:ea typeface="华文中宋" panose="02010600040101010101" pitchFamily="2" charset="-122"/>
                </a:endParaRPr>
              </a:p>
              <a:p>
                <a:pPr lvl="1"/>
                <a14:m>
                  <m:oMath xmlns:m="http://schemas.openxmlformats.org/officeDocument/2006/math">
                    <m:sSub>
                      <m:sSubPr>
                        <m:ctrlPr>
                          <a:rPr lang="el-GR" altLang="zh-CN" i="1">
                            <a:solidFill>
                              <a:schemeClr val="tx1"/>
                            </a:solidFill>
                            <a:latin typeface="Cambria Math" panose="02040503050406030204" pitchFamily="18" charset="0"/>
                            <a:ea typeface="华文中宋" panose="02010600040101010101" pitchFamily="2" charset="-122"/>
                          </a:rPr>
                        </m:ctrlPr>
                      </m:sSubPr>
                      <m:e>
                        <m:r>
                          <a:rPr lang="el-GR" altLang="zh-CN" i="1">
                            <a:solidFill>
                              <a:schemeClr val="tx1"/>
                            </a:solidFill>
                            <a:latin typeface="Cambria Math" panose="02040503050406030204" pitchFamily="18" charset="0"/>
                            <a:ea typeface="华文中宋" panose="02010600040101010101" pitchFamily="2" charset="-122"/>
                          </a:rPr>
                          <m:t>𝜌</m:t>
                        </m:r>
                      </m:e>
                      <m:sub>
                        <m:r>
                          <a:rPr lang="en-US" altLang="zh-CN" i="1">
                            <a:solidFill>
                              <a:schemeClr val="tx1"/>
                            </a:solidFill>
                            <a:latin typeface="Cambria Math" panose="02040503050406030204" pitchFamily="18" charset="0"/>
                            <a:ea typeface="华文中宋" panose="02010600040101010101" pitchFamily="2" charset="-122"/>
                          </a:rPr>
                          <m:t>𝑐𝑎𝑟𝑡</m:t>
                        </m:r>
                      </m:sub>
                    </m:sSub>
                    <m:r>
                      <a:rPr lang="en-US" altLang="zh-CN" i="1">
                        <a:solidFill>
                          <a:schemeClr val="tx1"/>
                        </a:solidFill>
                        <a:latin typeface="Cambria Math" panose="02040503050406030204" pitchFamily="18" charset="0"/>
                        <a:ea typeface="华文中宋" panose="02010600040101010101" pitchFamily="2" charset="-122"/>
                      </a:rPr>
                      <m:t>= </m:t>
                    </m:r>
                    <m:d>
                      <m:dPr>
                        <m:ctrlPr>
                          <a:rPr lang="en-US" altLang="zh-CN" i="1">
                            <a:solidFill>
                              <a:schemeClr val="tx1"/>
                            </a:solidFill>
                            <a:latin typeface="Cambria Math" panose="02040503050406030204" pitchFamily="18" charset="0"/>
                            <a:ea typeface="华文中宋" panose="02010600040101010101" pitchFamily="2" charset="-122"/>
                          </a:rPr>
                        </m:ctrlPr>
                      </m:dPr>
                      <m:e>
                        <m:f>
                          <m:fPr>
                            <m:ctrlPr>
                              <a:rPr lang="en-US" altLang="zh-CN" i="1">
                                <a:solidFill>
                                  <a:schemeClr val="tx1"/>
                                </a:solidFill>
                                <a:latin typeface="Cambria Math" panose="02040503050406030204" pitchFamily="18" charset="0"/>
                                <a:ea typeface="华文中宋" panose="02010600040101010101" pitchFamily="2" charset="-122"/>
                              </a:rPr>
                            </m:ctrlPr>
                          </m:fPr>
                          <m:num>
                            <m:r>
                              <a:rPr lang="en-US" altLang="zh-CN" i="1">
                                <a:solidFill>
                                  <a:schemeClr val="tx1"/>
                                </a:solidFill>
                                <a:latin typeface="Cambria Math" panose="02040503050406030204" pitchFamily="18" charset="0"/>
                                <a:ea typeface="华文中宋" panose="02010600040101010101" pitchFamily="2" charset="-122"/>
                              </a:rPr>
                              <m:t>1</m:t>
                            </m:r>
                          </m:num>
                          <m:den>
                            <m:r>
                              <a:rPr lang="en-US" altLang="zh-CN" i="1">
                                <a:solidFill>
                                  <a:schemeClr val="tx1"/>
                                </a:solidFill>
                                <a:latin typeface="Cambria Math" panose="02040503050406030204" pitchFamily="18" charset="0"/>
                                <a:ea typeface="华文中宋" panose="02010600040101010101" pitchFamily="2" charset="-122"/>
                              </a:rPr>
                              <m:t>𝑁</m:t>
                            </m:r>
                          </m:den>
                        </m:f>
                      </m:e>
                    </m:d>
                    <m:nary>
                      <m:naryPr>
                        <m:chr m:val="∑"/>
                        <m:subHide m:val="on"/>
                        <m:supHide m:val="on"/>
                        <m:ctrlPr>
                          <a:rPr lang="en-US" altLang="zh-CN" i="1">
                            <a:solidFill>
                              <a:schemeClr val="tx1"/>
                            </a:solidFill>
                            <a:latin typeface="Cambria Math" panose="02040503050406030204" pitchFamily="18" charset="0"/>
                            <a:ea typeface="华文中宋" panose="02010600040101010101" pitchFamily="2" charset="-122"/>
                          </a:rPr>
                        </m:ctrlPr>
                      </m:naryPr>
                      <m:sub/>
                      <m:sup/>
                      <m:e>
                        <m:sSub>
                          <m:sSubPr>
                            <m:ctrlPr>
                              <a:rPr lang="en-US" altLang="zh-CN" i="1">
                                <a:solidFill>
                                  <a:schemeClr val="tx1"/>
                                </a:solidFill>
                                <a:latin typeface="Cambria Math" panose="02040503050406030204" pitchFamily="18" charset="0"/>
                                <a:ea typeface="华文中宋" panose="02010600040101010101" pitchFamily="2" charset="-122"/>
                              </a:rPr>
                            </m:ctrlPr>
                          </m:sSubPr>
                          <m:e>
                            <m:r>
                              <a:rPr lang="en-US" altLang="zh-CN" i="1">
                                <a:solidFill>
                                  <a:schemeClr val="tx1"/>
                                </a:solidFill>
                                <a:latin typeface="Cambria Math" panose="02040503050406030204" pitchFamily="18" charset="0"/>
                                <a:ea typeface="华文中宋" panose="02010600040101010101" pitchFamily="2" charset="-122"/>
                              </a:rPr>
                              <m:t>𝑤</m:t>
                            </m:r>
                          </m:e>
                          <m:sub>
                            <m:r>
                              <a:rPr lang="en-US" altLang="zh-CN" i="1">
                                <a:solidFill>
                                  <a:schemeClr val="tx1"/>
                                </a:solidFill>
                                <a:latin typeface="Cambria Math" panose="02040503050406030204" pitchFamily="18" charset="0"/>
                                <a:ea typeface="华文中宋" panose="02010600040101010101" pitchFamily="2" charset="-122"/>
                              </a:rPr>
                              <m:t>𝑐𝑎𝑟𝑡</m:t>
                            </m:r>
                            <m:r>
                              <a:rPr lang="en-US" altLang="zh-CN" i="1">
                                <a:solidFill>
                                  <a:schemeClr val="tx1"/>
                                </a:solidFill>
                                <a:latin typeface="Cambria Math" panose="02040503050406030204" pitchFamily="18" charset="0"/>
                                <a:ea typeface="华文中宋" panose="02010600040101010101" pitchFamily="2" charset="-122"/>
                              </a:rPr>
                              <m:t>,</m:t>
                            </m:r>
                            <m:r>
                              <a:rPr lang="en-US" altLang="zh-CN" i="1">
                                <a:solidFill>
                                  <a:schemeClr val="tx1"/>
                                </a:solidFill>
                                <a:latin typeface="Cambria Math" panose="02040503050406030204" pitchFamily="18" charset="0"/>
                                <a:ea typeface="华文中宋" panose="02010600040101010101" pitchFamily="2" charset="-122"/>
                              </a:rPr>
                              <m:t>𝑖</m:t>
                            </m:r>
                          </m:sub>
                        </m:sSub>
                      </m:e>
                    </m:nary>
                    <m:r>
                      <a:rPr lang="en-US" altLang="zh-CN" b="0" i="1" smtClean="0">
                        <a:solidFill>
                          <a:schemeClr val="tx1"/>
                        </a:solidFill>
                        <a:latin typeface="Cambria Math" panose="02040503050406030204" pitchFamily="18" charset="0"/>
                        <a:ea typeface="华文中宋" panose="02010600040101010101" pitchFamily="2" charset="-122"/>
                      </a:rPr>
                      <m:t>            </m:t>
                    </m:r>
                    <m:sSub>
                      <m:sSubPr>
                        <m:ctrlPr>
                          <a:rPr lang="el-GR" altLang="zh-CN" i="1" smtClean="0">
                            <a:solidFill>
                              <a:schemeClr val="tx1"/>
                            </a:solidFill>
                            <a:latin typeface="Cambria Math" panose="02040503050406030204" pitchFamily="18" charset="0"/>
                            <a:ea typeface="华文中宋" panose="02010600040101010101" pitchFamily="2" charset="-122"/>
                          </a:rPr>
                        </m:ctrlPr>
                      </m:sSubPr>
                      <m:e>
                        <m:r>
                          <a:rPr lang="el-GR" altLang="zh-CN" i="1">
                            <a:solidFill>
                              <a:schemeClr val="tx1"/>
                            </a:solidFill>
                            <a:latin typeface="Cambria Math" panose="02040503050406030204" pitchFamily="18" charset="0"/>
                            <a:ea typeface="华文中宋" panose="02010600040101010101" pitchFamily="2" charset="-122"/>
                          </a:rPr>
                          <m:t>𝜌</m:t>
                        </m:r>
                      </m:e>
                      <m:sub>
                        <m:r>
                          <a:rPr lang="en-US" altLang="zh-CN" b="0" i="1" smtClean="0">
                            <a:solidFill>
                              <a:schemeClr val="tx1"/>
                            </a:solidFill>
                            <a:latin typeface="Cambria Math" panose="02040503050406030204" pitchFamily="18" charset="0"/>
                            <a:ea typeface="华文中宋" panose="02010600040101010101" pitchFamily="2" charset="-122"/>
                          </a:rPr>
                          <m:t>𝑐𝑙𝑖𝑐𝑘</m:t>
                        </m:r>
                      </m:sub>
                    </m:sSub>
                    <m:r>
                      <a:rPr lang="en-US" altLang="zh-CN" i="1">
                        <a:solidFill>
                          <a:schemeClr val="tx1"/>
                        </a:solidFill>
                        <a:latin typeface="Cambria Math" panose="02040503050406030204" pitchFamily="18" charset="0"/>
                        <a:ea typeface="华文中宋" panose="02010600040101010101" pitchFamily="2" charset="-122"/>
                      </a:rPr>
                      <m:t> = 1 −</m:t>
                    </m:r>
                    <m:sSub>
                      <m:sSubPr>
                        <m:ctrlPr>
                          <a:rPr lang="el-GR" altLang="zh-CN" i="1">
                            <a:solidFill>
                              <a:schemeClr val="tx1"/>
                            </a:solidFill>
                            <a:latin typeface="Cambria Math" panose="02040503050406030204" pitchFamily="18" charset="0"/>
                            <a:ea typeface="华文中宋" panose="02010600040101010101" pitchFamily="2" charset="-122"/>
                          </a:rPr>
                        </m:ctrlPr>
                      </m:sSubPr>
                      <m:e>
                        <m:r>
                          <a:rPr lang="el-GR" altLang="zh-CN" i="1">
                            <a:solidFill>
                              <a:schemeClr val="tx1"/>
                            </a:solidFill>
                            <a:latin typeface="Cambria Math" panose="02040503050406030204" pitchFamily="18" charset="0"/>
                            <a:ea typeface="华文中宋" panose="02010600040101010101" pitchFamily="2" charset="-122"/>
                          </a:rPr>
                          <m:t>𝜌</m:t>
                        </m:r>
                      </m:e>
                      <m:sub>
                        <m:r>
                          <a:rPr lang="en-US" altLang="zh-CN" i="1">
                            <a:solidFill>
                              <a:schemeClr val="tx1"/>
                            </a:solidFill>
                            <a:latin typeface="Cambria Math" panose="02040503050406030204" pitchFamily="18" charset="0"/>
                            <a:ea typeface="华文中宋" panose="02010600040101010101" pitchFamily="2" charset="-122"/>
                          </a:rPr>
                          <m:t>𝑐𝑎𝑟𝑡</m:t>
                        </m:r>
                      </m:sub>
                    </m:sSub>
                  </m:oMath>
                </a14:m>
                <a:endParaRPr lang="en-US" altLang="zh-CN" dirty="0">
                  <a:solidFill>
                    <a:schemeClr val="tx1"/>
                  </a:solidFill>
                  <a:latin typeface="+mj-lt"/>
                  <a:ea typeface="华文中宋" panose="02010600040101010101" pitchFamily="2" charset="-122"/>
                </a:endParaRPr>
              </a:p>
              <a:p>
                <a:pPr lvl="1"/>
                <a14:m>
                  <m:oMath xmlns:m="http://schemas.openxmlformats.org/officeDocument/2006/math">
                    <m:sSub>
                      <m:sSubPr>
                        <m:ctrlPr>
                          <a:rPr lang="el-GR" altLang="zh-CN" i="1" smtClean="0">
                            <a:solidFill>
                              <a:schemeClr val="tx1"/>
                            </a:solidFill>
                            <a:latin typeface="Cambria Math" panose="02040503050406030204" pitchFamily="18" charset="0"/>
                            <a:ea typeface="华文中宋" panose="02010600040101010101" pitchFamily="2" charset="-122"/>
                          </a:rPr>
                        </m:ctrlPr>
                      </m:sSubPr>
                      <m:e>
                        <m:r>
                          <a:rPr lang="el-GR" altLang="zh-CN" i="1">
                            <a:solidFill>
                              <a:schemeClr val="tx1"/>
                            </a:solidFill>
                            <a:latin typeface="Cambria Math" panose="02040503050406030204" pitchFamily="18" charset="0"/>
                            <a:ea typeface="华文中宋" panose="02010600040101010101" pitchFamily="2" charset="-122"/>
                          </a:rPr>
                          <m:t>𝜌</m:t>
                        </m:r>
                      </m:e>
                      <m:sub>
                        <m:r>
                          <a:rPr lang="en-US" altLang="zh-CN" b="0" i="1" smtClean="0">
                            <a:solidFill>
                              <a:schemeClr val="tx1"/>
                            </a:solidFill>
                            <a:latin typeface="Cambria Math" panose="02040503050406030204" pitchFamily="18" charset="0"/>
                            <a:ea typeface="华文中宋" panose="02010600040101010101" pitchFamily="2" charset="-122"/>
                          </a:rPr>
                          <m:t>𝑏𝑢𝑦</m:t>
                        </m:r>
                      </m:sub>
                    </m:sSub>
                    <m:r>
                      <a:rPr lang="en-US" altLang="zh-CN" b="0" i="1" smtClean="0">
                        <a:solidFill>
                          <a:schemeClr val="tx1"/>
                        </a:solidFill>
                        <a:latin typeface="Cambria Math" panose="02040503050406030204" pitchFamily="18" charset="0"/>
                        <a:ea typeface="华文中宋" panose="02010600040101010101" pitchFamily="2" charset="-122"/>
                      </a:rPr>
                      <m:t>=1</m:t>
                    </m:r>
                  </m:oMath>
                </a14:m>
                <a:endParaRPr lang="en-US" altLang="zh-CN" dirty="0">
                  <a:solidFill>
                    <a:schemeClr val="tx1"/>
                  </a:solidFill>
                  <a:latin typeface="+mj-lt"/>
                  <a:ea typeface="华文中宋" panose="02010600040101010101" pitchFamily="2" charset="-122"/>
                </a:endParaRPr>
              </a:p>
              <a:p>
                <a:r>
                  <a:rPr lang="zh-CN" altLang="en-US" dirty="0">
                    <a:solidFill>
                      <a:schemeClr val="tx1"/>
                    </a:solidFill>
                    <a:latin typeface="+mj-lt"/>
                    <a:ea typeface="华文中宋" panose="02010600040101010101" pitchFamily="2" charset="-122"/>
                  </a:rPr>
                  <a:t>根据不同行为的组合进行加权</a:t>
                </a:r>
                <a:endParaRPr lang="en-US" altLang="zh-CN" dirty="0">
                  <a:solidFill>
                    <a:schemeClr val="tx1"/>
                  </a:solidFill>
                  <a:latin typeface="+mj-lt"/>
                  <a:ea typeface="华文中宋" panose="02010600040101010101" pitchFamily="2" charset="-122"/>
                </a:endParaRPr>
              </a:p>
              <a:p>
                <a:pPr marL="0" indent="0">
                  <a:buNone/>
                </a:pPr>
                <a:endParaRPr lang="en-US" altLang="zh-CN" dirty="0">
                  <a:solidFill>
                    <a:schemeClr val="tx1"/>
                  </a:solidFill>
                  <a:latin typeface="+mj-lt"/>
                  <a:ea typeface="华文中宋" panose="02010600040101010101" pitchFamily="2" charset="-122"/>
                </a:endParaRPr>
              </a:p>
              <a:p>
                <a:pPr marL="0" indent="0">
                  <a:buNone/>
                </a:pPr>
                <a:endParaRPr lang="en-US" altLang="zh-CN" dirty="0">
                  <a:solidFill>
                    <a:schemeClr val="tx1"/>
                  </a:solidFill>
                  <a:latin typeface="华文中宋" panose="02010600040101010101" pitchFamily="2" charset="-122"/>
                  <a:ea typeface="华文中宋" panose="02010600040101010101" pitchFamily="2" charset="-122"/>
                </a:endParaRPr>
              </a:p>
              <a:p>
                <a:endParaRPr lang="zh-CN" altLang="en-US" dirty="0">
                  <a:solidFill>
                    <a:schemeClr val="tx1"/>
                  </a:solidFill>
                  <a:latin typeface="华文中宋" panose="02010600040101010101" pitchFamily="2" charset="-122"/>
                  <a:ea typeface="华文中宋" panose="02010600040101010101" pitchFamily="2" charset="-122"/>
                </a:endParaRPr>
              </a:p>
            </p:txBody>
          </p:sp>
        </mc:Choice>
        <mc:Fallback xmlns="">
          <p:sp>
            <p:nvSpPr>
              <p:cNvPr id="19" name="内容占位符 1">
                <a:extLst>
                  <a:ext uri="{FF2B5EF4-FFF2-40B4-BE49-F238E27FC236}">
                    <a16:creationId xmlns:a16="http://schemas.microsoft.com/office/drawing/2014/main" id="{BEC30531-D40D-4F94-BA04-D4A2FD246E9A}"/>
                  </a:ext>
                </a:extLst>
              </p:cNvPr>
              <p:cNvSpPr txBox="1">
                <a:spLocks noRot="1" noChangeAspect="1" noMove="1" noResize="1" noEditPoints="1" noAdjustHandles="1" noChangeArrowheads="1" noChangeShapeType="1" noTextEdit="1"/>
              </p:cNvSpPr>
              <p:nvPr/>
            </p:nvSpPr>
            <p:spPr>
              <a:xfrm>
                <a:off x="270377" y="1842653"/>
                <a:ext cx="9177049" cy="4826611"/>
              </a:xfrm>
              <a:prstGeom prst="rect">
                <a:avLst/>
              </a:prstGeom>
              <a:blipFill>
                <a:blip r:embed="rId4"/>
                <a:stretch>
                  <a:fillRect l="-266" t="-505"/>
                </a:stretch>
              </a:blipFill>
            </p:spPr>
            <p:txBody>
              <a:bodyPr/>
              <a:lstStyle/>
              <a:p>
                <a:r>
                  <a:rPr lang="zh-CN" altLang="en-US">
                    <a:noFill/>
                  </a:rPr>
                  <a:t> </a:t>
                </a:r>
              </a:p>
            </p:txBody>
          </p:sp>
        </mc:Fallback>
      </mc:AlternateContent>
      <p:pic>
        <p:nvPicPr>
          <p:cNvPr id="20" name="图片 19">
            <a:extLst>
              <a:ext uri="{FF2B5EF4-FFF2-40B4-BE49-F238E27FC236}">
                <a16:creationId xmlns:a16="http://schemas.microsoft.com/office/drawing/2014/main" id="{8EAA0CAB-FA3D-4019-B6DC-7D9BEFA94984}"/>
              </a:ext>
            </a:extLst>
          </p:cNvPr>
          <p:cNvPicPr>
            <a:picLocks noChangeAspect="1"/>
          </p:cNvPicPr>
          <p:nvPr/>
        </p:nvPicPr>
        <p:blipFill>
          <a:blip r:embed="rId5"/>
          <a:stretch>
            <a:fillRect/>
          </a:stretch>
        </p:blipFill>
        <p:spPr>
          <a:xfrm>
            <a:off x="6535675" y="2808412"/>
            <a:ext cx="5000870" cy="3028271"/>
          </a:xfrm>
          <a:prstGeom prst="rect">
            <a:avLst/>
          </a:prstGeom>
        </p:spPr>
      </p:pic>
      <p:sp>
        <p:nvSpPr>
          <p:cNvPr id="21" name="文本框 20">
            <a:extLst>
              <a:ext uri="{FF2B5EF4-FFF2-40B4-BE49-F238E27FC236}">
                <a16:creationId xmlns:a16="http://schemas.microsoft.com/office/drawing/2014/main" id="{5EB1DE25-3481-4C93-9E33-CD9F8F3D3C51}"/>
              </a:ext>
            </a:extLst>
          </p:cNvPr>
          <p:cNvSpPr txBox="1"/>
          <p:nvPr>
            <p:custDataLst>
              <p:tags r:id="rId1"/>
            </p:custDataLst>
          </p:nvPr>
        </p:nvSpPr>
        <p:spPr>
          <a:xfrm>
            <a:off x="6655200" y="5845333"/>
            <a:ext cx="5045710" cy="307007"/>
          </a:xfrm>
          <a:prstGeom prst="rect">
            <a:avLst/>
          </a:prstGeom>
          <a:noFill/>
        </p:spPr>
        <p:txBody>
          <a:bodyPr wrap="square" rtlCol="0">
            <a:spAutoFit/>
          </a:bodyPr>
          <a:lstStyle/>
          <a:p>
            <a:pPr algn="ctr">
              <a:lnSpc>
                <a:spcPct val="130000"/>
              </a:lnSpc>
            </a:pPr>
            <a:r>
              <a:rPr lang="zh-CN" sz="1200" b="1" dirty="0">
                <a:solidFill>
                  <a:schemeClr val="tx1">
                    <a:lumMod val="75000"/>
                    <a:lumOff val="25000"/>
                  </a:schemeClr>
                </a:solidFill>
                <a:latin typeface="+mn-ea"/>
                <a:cs typeface="汉仪君黑-45简" panose="020B0604020202020204" charset="-122"/>
                <a:sym typeface="+mn-ea"/>
              </a:rPr>
              <a:t>图</a:t>
            </a:r>
            <a:r>
              <a:rPr lang="en-US" altLang="zh-CN" sz="1200" b="1" dirty="0">
                <a:solidFill>
                  <a:schemeClr val="tx1">
                    <a:lumMod val="75000"/>
                    <a:lumOff val="25000"/>
                  </a:schemeClr>
                </a:solidFill>
                <a:latin typeface="+mn-ea"/>
                <a:cs typeface="汉仪君黑-45简" panose="020B0604020202020204" charset="-122"/>
                <a:sym typeface="+mn-ea"/>
              </a:rPr>
              <a:t>3-1  </a:t>
            </a:r>
            <a:r>
              <a:rPr lang="zh-CN" altLang="en-US" sz="1200" b="1" dirty="0">
                <a:latin typeface="+mn-ea"/>
                <a:sym typeface="+mn-ea"/>
              </a:rPr>
              <a:t>行为间加权</a:t>
            </a:r>
          </a:p>
        </p:txBody>
      </p:sp>
    </p:spTree>
    <p:extLst>
      <p:ext uri="{BB962C8B-B14F-4D97-AF65-F5344CB8AC3E}">
        <p14:creationId xmlns:p14="http://schemas.microsoft.com/office/powerpoint/2010/main" val="13843656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23FF93AD-B291-5347-AC70-D7287ABA5C8E}"/>
              </a:ext>
            </a:extLst>
          </p:cNvPr>
          <p:cNvSpPr>
            <a:spLocks noGrp="1"/>
          </p:cNvSpPr>
          <p:nvPr>
            <p:ph type="title"/>
          </p:nvPr>
        </p:nvSpPr>
        <p:spPr/>
        <p:txBody>
          <a:bodyPr>
            <a:normAutofit/>
          </a:bodyPr>
          <a:lstStyle/>
          <a:p>
            <a:r>
              <a:rPr kumimoji="1" lang="en-US" altLang="zh-CN" sz="3200" b="1" dirty="0">
                <a:latin typeface="华文中宋" panose="02010600040101010101" pitchFamily="2" charset="-122"/>
                <a:ea typeface="华文中宋" panose="02010600040101010101" pitchFamily="2" charset="-122"/>
              </a:rPr>
              <a:t>3.</a:t>
            </a:r>
            <a:r>
              <a:rPr kumimoji="1" lang="zh-CN" altLang="en-US" sz="3200" b="1" dirty="0">
                <a:latin typeface="华文中宋" panose="02010600040101010101" pitchFamily="2" charset="-122"/>
                <a:ea typeface="华文中宋" panose="02010600040101010101" pitchFamily="2" charset="-122"/>
              </a:rPr>
              <a:t>噪声感知与偏好提取的多行为推荐方法</a:t>
            </a:r>
            <a:endParaRPr kumimoji="1" lang="en-US" altLang="zh-CN" sz="3200" b="1" dirty="0">
              <a:latin typeface="华文中宋" panose="02010600040101010101" pitchFamily="2" charset="-122"/>
              <a:ea typeface="华文中宋" panose="02010600040101010101" pitchFamily="2" charset="-122"/>
            </a:endParaRPr>
          </a:p>
        </p:txBody>
      </p:sp>
      <p:sp>
        <p:nvSpPr>
          <p:cNvPr id="17" name="文本框 16">
            <a:extLst>
              <a:ext uri="{FF2B5EF4-FFF2-40B4-BE49-F238E27FC236}">
                <a16:creationId xmlns:a16="http://schemas.microsoft.com/office/drawing/2014/main" id="{96DA7569-1DB3-4204-BCD6-15A4A363B9F0}"/>
              </a:ext>
            </a:extLst>
          </p:cNvPr>
          <p:cNvSpPr txBox="1"/>
          <p:nvPr/>
        </p:nvSpPr>
        <p:spPr>
          <a:xfrm>
            <a:off x="561754" y="1366100"/>
            <a:ext cx="10601546" cy="400110"/>
          </a:xfrm>
          <a:prstGeom prst="rect">
            <a:avLst/>
          </a:prstGeom>
          <a:noFill/>
        </p:spPr>
        <p:txBody>
          <a:bodyPr wrap="square" rtlCol="0">
            <a:spAutoFit/>
          </a:bodyPr>
          <a:lstStyle/>
          <a:p>
            <a:r>
              <a:rPr lang="zh-CN" altLang="en-US" sz="2000" b="1" dirty="0">
                <a:solidFill>
                  <a:schemeClr val="tx1"/>
                </a:solidFill>
                <a:effectLst/>
                <a:latin typeface="华文中宋" panose="02010600040101010101" pitchFamily="2" charset="-122"/>
                <a:ea typeface="华文中宋" panose="02010600040101010101" pitchFamily="2" charset="-122"/>
              </a:rPr>
              <a:t>行为内的加权模块</a:t>
            </a:r>
            <a:endParaRPr lang="zh-CN" altLang="en-US" sz="2000" b="1" dirty="0">
              <a:latin typeface="华文中宋" panose="02010600040101010101" pitchFamily="2" charset="-122"/>
              <a:ea typeface="华文中宋" panose="02010600040101010101" pitchFamily="2" charset="-122"/>
            </a:endParaRPr>
          </a:p>
        </p:txBody>
      </p:sp>
      <p:sp>
        <p:nvSpPr>
          <p:cNvPr id="18" name="内容占位符 1">
            <a:extLst>
              <a:ext uri="{FF2B5EF4-FFF2-40B4-BE49-F238E27FC236}">
                <a16:creationId xmlns:a16="http://schemas.microsoft.com/office/drawing/2014/main" id="{4807AF47-75C6-4AFF-8936-B99C474B5860}"/>
              </a:ext>
            </a:extLst>
          </p:cNvPr>
          <p:cNvSpPr txBox="1">
            <a:spLocks/>
          </p:cNvSpPr>
          <p:nvPr/>
        </p:nvSpPr>
        <p:spPr>
          <a:xfrm>
            <a:off x="561754" y="1867677"/>
            <a:ext cx="10092465" cy="3957246"/>
          </a:xfrm>
          <a:prstGeom prst="rect">
            <a:avLst/>
          </a:prstGeom>
        </p:spPr>
        <p:txBody>
          <a:bodyPr vert="horz" lIns="91440" tIns="45720" rIns="91440" bIns="45720" rtlCol="0" anchor="t">
            <a:normAutofit/>
          </a:bodyPr>
          <a:lstStyle>
            <a:lvl1pPr marL="305992" indent="-305992"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29984" indent="-305992"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899978" indent="-269993"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1969" indent="-233994"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1960" indent="-233994"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899953"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199945"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38"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930"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zh-CN" altLang="en-US" dirty="0">
                <a:solidFill>
                  <a:schemeClr val="tx1"/>
                </a:solidFill>
                <a:latin typeface="华文中宋" panose="02010600040101010101" pitchFamily="2" charset="-122"/>
                <a:ea typeface="华文中宋" panose="02010600040101010101" pitchFamily="2" charset="-122"/>
              </a:rPr>
              <a:t>我们认为每种</a:t>
            </a:r>
            <a:r>
              <a:rPr lang="zh-CN" altLang="en-US" dirty="0">
                <a:solidFill>
                  <a:srgbClr val="FF0000"/>
                </a:solidFill>
                <a:latin typeface="华文中宋" panose="02010600040101010101" pitchFamily="2" charset="-122"/>
                <a:ea typeface="华文中宋" panose="02010600040101010101" pitchFamily="2" charset="-122"/>
              </a:rPr>
              <a:t>行为内</a:t>
            </a:r>
            <a:r>
              <a:rPr lang="zh-CN" altLang="en-US" dirty="0">
                <a:solidFill>
                  <a:schemeClr val="tx1"/>
                </a:solidFill>
                <a:latin typeface="华文中宋" panose="02010600040101010101" pitchFamily="2" charset="-122"/>
                <a:ea typeface="华文中宋" panose="02010600040101010101" pitchFamily="2" charset="-122"/>
              </a:rPr>
              <a:t>的交互同样存在</a:t>
            </a:r>
            <a:r>
              <a:rPr lang="zh-CN" altLang="en-US" dirty="0">
                <a:solidFill>
                  <a:srgbClr val="FF0000"/>
                </a:solidFill>
                <a:latin typeface="华文中宋" panose="02010600040101010101" pitchFamily="2" charset="-122"/>
                <a:ea typeface="华文中宋" panose="02010600040101010101" pitchFamily="2" charset="-122"/>
              </a:rPr>
              <a:t>不同权重</a:t>
            </a:r>
            <a:r>
              <a:rPr lang="zh-CN" altLang="en-US" dirty="0">
                <a:solidFill>
                  <a:schemeClr val="tx1"/>
                </a:solidFill>
                <a:latin typeface="+mj-lt"/>
                <a:ea typeface="华文中宋" panose="02010600040101010101" pitchFamily="2" charset="-122"/>
              </a:rPr>
              <a:t>：</a:t>
            </a:r>
            <a:endParaRPr lang="en-US" altLang="zh-CN" dirty="0">
              <a:solidFill>
                <a:schemeClr val="tx1"/>
              </a:solidFill>
              <a:latin typeface="+mj-lt"/>
              <a:ea typeface="华文中宋" panose="02010600040101010101" pitchFamily="2" charset="-122"/>
            </a:endParaRPr>
          </a:p>
          <a:p>
            <a:r>
              <a:rPr lang="zh-CN" altLang="en-US" dirty="0">
                <a:solidFill>
                  <a:schemeClr val="tx1"/>
                </a:solidFill>
                <a:latin typeface="+mj-lt"/>
                <a:ea typeface="华文中宋" panose="02010600040101010101" pitchFamily="2" charset="-122"/>
              </a:rPr>
              <a:t>有</a:t>
            </a:r>
            <a:r>
              <a:rPr lang="zh-CN" altLang="en-US" dirty="0">
                <a:solidFill>
                  <a:srgbClr val="FF0000"/>
                </a:solidFill>
                <a:latin typeface="+mj-lt"/>
                <a:ea typeface="华文中宋" panose="02010600040101010101" pitchFamily="2" charset="-122"/>
              </a:rPr>
              <a:t>相似交互偏好</a:t>
            </a:r>
            <a:r>
              <a:rPr lang="zh-CN" altLang="en-US" dirty="0">
                <a:solidFill>
                  <a:schemeClr val="tx1"/>
                </a:solidFill>
                <a:latin typeface="+mj-lt"/>
                <a:ea typeface="华文中宋" panose="02010600040101010101" pitchFamily="2" charset="-122"/>
              </a:rPr>
              <a:t>的用户对之间，他们</a:t>
            </a:r>
            <a:r>
              <a:rPr lang="zh-CN" altLang="en-US" dirty="0">
                <a:solidFill>
                  <a:srgbClr val="FF0000"/>
                </a:solidFill>
                <a:latin typeface="+mj-lt"/>
                <a:ea typeface="华文中宋" panose="02010600040101010101" pitchFamily="2" charset="-122"/>
              </a:rPr>
              <a:t>共同交互</a:t>
            </a:r>
            <a:r>
              <a:rPr lang="zh-CN" altLang="en-US" dirty="0">
                <a:solidFill>
                  <a:schemeClr val="tx1"/>
                </a:solidFill>
                <a:latin typeface="+mj-lt"/>
                <a:ea typeface="华文中宋" panose="02010600040101010101" pitchFamily="2" charset="-122"/>
              </a:rPr>
              <a:t>的物品</a:t>
            </a:r>
            <a:r>
              <a:rPr lang="zh-CN" altLang="en-US" dirty="0">
                <a:solidFill>
                  <a:srgbClr val="FF0000"/>
                </a:solidFill>
                <a:latin typeface="+mj-lt"/>
                <a:ea typeface="华文中宋" panose="02010600040101010101" pitchFamily="2" charset="-122"/>
              </a:rPr>
              <a:t>权重更大</a:t>
            </a:r>
            <a:endParaRPr lang="en-US" altLang="zh-CN" dirty="0">
              <a:solidFill>
                <a:srgbClr val="FF0000"/>
              </a:solidFill>
              <a:latin typeface="+mj-lt"/>
              <a:ea typeface="华文中宋" panose="02010600040101010101" pitchFamily="2" charset="-122"/>
            </a:endParaRPr>
          </a:p>
          <a:p>
            <a:pPr lvl="1"/>
            <a:r>
              <a:rPr lang="zh-CN" altLang="en-US" dirty="0">
                <a:solidFill>
                  <a:schemeClr val="tx1"/>
                </a:solidFill>
                <a:latin typeface="+mj-lt"/>
                <a:ea typeface="华文中宋" panose="02010600040101010101" pitchFamily="2" charset="-122"/>
              </a:rPr>
              <a:t>通过对交互同一件物品的相似用户数量，作为行为内权重</a:t>
            </a:r>
            <a:endParaRPr lang="en-US" altLang="zh-CN" dirty="0">
              <a:solidFill>
                <a:schemeClr val="tx1"/>
              </a:solidFill>
              <a:latin typeface="+mj-lt"/>
              <a:ea typeface="华文中宋" panose="02010600040101010101" pitchFamily="2" charset="-122"/>
            </a:endParaRPr>
          </a:p>
          <a:p>
            <a:endParaRPr lang="en-US" altLang="zh-CN" dirty="0">
              <a:solidFill>
                <a:schemeClr val="tx1"/>
              </a:solidFill>
              <a:latin typeface="+mj-lt"/>
              <a:ea typeface="华文中宋" panose="02010600040101010101" pitchFamily="2" charset="-122"/>
            </a:endParaRPr>
          </a:p>
          <a:p>
            <a:pPr marL="0" indent="0">
              <a:buNone/>
            </a:pPr>
            <a:endParaRPr lang="en-US" altLang="zh-CN" dirty="0">
              <a:solidFill>
                <a:schemeClr val="tx1"/>
              </a:solidFill>
              <a:latin typeface="华文中宋" panose="02010600040101010101" pitchFamily="2" charset="-122"/>
              <a:ea typeface="华文中宋" panose="02010600040101010101" pitchFamily="2" charset="-122"/>
            </a:endParaRPr>
          </a:p>
          <a:p>
            <a:endParaRPr lang="zh-CN" altLang="en-US" dirty="0">
              <a:solidFill>
                <a:schemeClr val="tx1"/>
              </a:solidFill>
              <a:latin typeface="华文中宋" panose="02010600040101010101" pitchFamily="2" charset="-122"/>
              <a:ea typeface="华文中宋" panose="02010600040101010101" pitchFamily="2" charset="-122"/>
            </a:endParaRPr>
          </a:p>
        </p:txBody>
      </p:sp>
      <p:pic>
        <p:nvPicPr>
          <p:cNvPr id="21" name="图片 20">
            <a:extLst>
              <a:ext uri="{FF2B5EF4-FFF2-40B4-BE49-F238E27FC236}">
                <a16:creationId xmlns:a16="http://schemas.microsoft.com/office/drawing/2014/main" id="{2DC1B889-5223-4C1D-B517-0A2C8328F25B}"/>
              </a:ext>
            </a:extLst>
          </p:cNvPr>
          <p:cNvPicPr>
            <a:picLocks noChangeAspect="1"/>
          </p:cNvPicPr>
          <p:nvPr/>
        </p:nvPicPr>
        <p:blipFill>
          <a:blip r:embed="rId4"/>
          <a:stretch>
            <a:fillRect/>
          </a:stretch>
        </p:blipFill>
        <p:spPr>
          <a:xfrm>
            <a:off x="3147381" y="3357137"/>
            <a:ext cx="5173012" cy="2836812"/>
          </a:xfrm>
          <a:prstGeom prst="rect">
            <a:avLst/>
          </a:prstGeom>
        </p:spPr>
      </p:pic>
      <p:sp>
        <p:nvSpPr>
          <p:cNvPr id="22" name="文本框 21">
            <a:extLst>
              <a:ext uri="{FF2B5EF4-FFF2-40B4-BE49-F238E27FC236}">
                <a16:creationId xmlns:a16="http://schemas.microsoft.com/office/drawing/2014/main" id="{F9300857-1CF5-49F3-9E8F-39E9A33CEDC5}"/>
              </a:ext>
            </a:extLst>
          </p:cNvPr>
          <p:cNvSpPr txBox="1"/>
          <p:nvPr>
            <p:custDataLst>
              <p:tags r:id="rId1"/>
            </p:custDataLst>
          </p:nvPr>
        </p:nvSpPr>
        <p:spPr>
          <a:xfrm>
            <a:off x="3274683" y="6137085"/>
            <a:ext cx="5045710" cy="307007"/>
          </a:xfrm>
          <a:prstGeom prst="rect">
            <a:avLst/>
          </a:prstGeom>
          <a:noFill/>
        </p:spPr>
        <p:txBody>
          <a:bodyPr wrap="square" rtlCol="0">
            <a:spAutoFit/>
          </a:bodyPr>
          <a:lstStyle/>
          <a:p>
            <a:pPr algn="ctr">
              <a:lnSpc>
                <a:spcPct val="130000"/>
              </a:lnSpc>
            </a:pPr>
            <a:r>
              <a:rPr lang="zh-CN" sz="1200" b="1" dirty="0">
                <a:solidFill>
                  <a:schemeClr val="tx1">
                    <a:lumMod val="75000"/>
                    <a:lumOff val="25000"/>
                  </a:schemeClr>
                </a:solidFill>
                <a:latin typeface="+mn-ea"/>
                <a:cs typeface="汉仪君黑-45简" panose="020B0604020202020204" charset="-122"/>
                <a:sym typeface="+mn-ea"/>
              </a:rPr>
              <a:t>图</a:t>
            </a:r>
            <a:r>
              <a:rPr lang="en-US" altLang="zh-CN" sz="1200" b="1" dirty="0">
                <a:solidFill>
                  <a:schemeClr val="tx1">
                    <a:lumMod val="75000"/>
                    <a:lumOff val="25000"/>
                  </a:schemeClr>
                </a:solidFill>
                <a:latin typeface="+mn-ea"/>
                <a:cs typeface="汉仪君黑-45简" panose="020B0604020202020204" charset="-122"/>
                <a:sym typeface="+mn-ea"/>
              </a:rPr>
              <a:t>3-2  </a:t>
            </a:r>
            <a:r>
              <a:rPr lang="zh-CN" altLang="en-US" sz="1200" b="1" dirty="0">
                <a:latin typeface="+mn-ea"/>
                <a:sym typeface="+mn-ea"/>
              </a:rPr>
              <a:t>行为内加权</a:t>
            </a:r>
          </a:p>
        </p:txBody>
      </p:sp>
    </p:spTree>
    <p:extLst>
      <p:ext uri="{BB962C8B-B14F-4D97-AF65-F5344CB8AC3E}">
        <p14:creationId xmlns:p14="http://schemas.microsoft.com/office/powerpoint/2010/main" val="21046026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23FF93AD-B291-5347-AC70-D7287ABA5C8E}"/>
              </a:ext>
            </a:extLst>
          </p:cNvPr>
          <p:cNvSpPr>
            <a:spLocks noGrp="1"/>
          </p:cNvSpPr>
          <p:nvPr>
            <p:ph type="title"/>
          </p:nvPr>
        </p:nvSpPr>
        <p:spPr/>
        <p:txBody>
          <a:bodyPr>
            <a:normAutofit/>
          </a:bodyPr>
          <a:lstStyle/>
          <a:p>
            <a:r>
              <a:rPr kumimoji="1" lang="en-US" altLang="zh-CN" sz="3200" b="1" dirty="0">
                <a:latin typeface="华文中宋" panose="02010600040101010101" pitchFamily="2" charset="-122"/>
                <a:ea typeface="华文中宋" panose="02010600040101010101" pitchFamily="2" charset="-122"/>
              </a:rPr>
              <a:t>3.</a:t>
            </a:r>
            <a:r>
              <a:rPr kumimoji="1" lang="zh-CN" altLang="en-US" sz="3200" b="1" dirty="0">
                <a:latin typeface="华文中宋" panose="02010600040101010101" pitchFamily="2" charset="-122"/>
                <a:ea typeface="华文中宋" panose="02010600040101010101" pitchFamily="2" charset="-122"/>
              </a:rPr>
              <a:t>噪声感知与偏好提取的多行为推荐方法</a:t>
            </a:r>
            <a:endParaRPr kumimoji="1" lang="en-US" altLang="zh-CN" sz="3200" b="1" dirty="0">
              <a:latin typeface="华文中宋" panose="02010600040101010101" pitchFamily="2" charset="-122"/>
              <a:ea typeface="华文中宋" panose="02010600040101010101" pitchFamily="2" charset="-122"/>
            </a:endParaRPr>
          </a:p>
        </p:txBody>
      </p:sp>
      <p:sp>
        <p:nvSpPr>
          <p:cNvPr id="14" name="文本框 13">
            <a:extLst>
              <a:ext uri="{FF2B5EF4-FFF2-40B4-BE49-F238E27FC236}">
                <a16:creationId xmlns:a16="http://schemas.microsoft.com/office/drawing/2014/main" id="{9820D2CA-E2D2-F56F-91D1-34DE3E999E0B}"/>
              </a:ext>
            </a:extLst>
          </p:cNvPr>
          <p:cNvSpPr txBox="1"/>
          <p:nvPr/>
        </p:nvSpPr>
        <p:spPr>
          <a:xfrm>
            <a:off x="116913" y="1366100"/>
            <a:ext cx="10601546" cy="707886"/>
          </a:xfrm>
          <a:prstGeom prst="rect">
            <a:avLst/>
          </a:prstGeom>
          <a:noFill/>
        </p:spPr>
        <p:txBody>
          <a:bodyPr wrap="square" rtlCol="0">
            <a:spAutoFit/>
          </a:bodyPr>
          <a:lstStyle/>
          <a:p>
            <a:r>
              <a:rPr lang="zh-CN" altLang="en-US" sz="2000" b="1" dirty="0">
                <a:solidFill>
                  <a:srgbClr val="000000"/>
                </a:solidFill>
                <a:latin typeface="华文中宋" panose="02010600040101010101" pitchFamily="2" charset="-122"/>
                <a:ea typeface="华文中宋" panose="02010600040101010101" pitchFamily="2" charset="-122"/>
              </a:rPr>
              <a:t>数据预处理：</a:t>
            </a:r>
            <a:r>
              <a:rPr lang="zh-CN" altLang="en-US" sz="2000" b="1" dirty="0">
                <a:latin typeface="华文中宋" panose="02010600040101010101" pitchFamily="2" charset="-122"/>
                <a:ea typeface="华文中宋" panose="02010600040101010101" pitchFamily="2" charset="-122"/>
              </a:rPr>
              <a:t>由权重引导的去噪</a:t>
            </a:r>
            <a:r>
              <a:rPr lang="zh-CN" altLang="en-US" sz="2000" b="1" dirty="0">
                <a:solidFill>
                  <a:schemeClr val="tx1"/>
                </a:solidFill>
                <a:effectLst/>
                <a:latin typeface="华文中宋" panose="02010600040101010101" pitchFamily="2" charset="-122"/>
                <a:ea typeface="华文中宋" panose="02010600040101010101" pitchFamily="2" charset="-122"/>
              </a:rPr>
              <a:t>模块</a:t>
            </a:r>
            <a:endParaRPr lang="zh-CN" altLang="en-US" sz="2000" b="1" dirty="0">
              <a:latin typeface="华文中宋" panose="02010600040101010101" pitchFamily="2" charset="-122"/>
              <a:ea typeface="华文中宋" panose="02010600040101010101" pitchFamily="2" charset="-122"/>
            </a:endParaRPr>
          </a:p>
          <a:p>
            <a:endParaRPr lang="zh-CN" altLang="en-US" sz="2000" b="1" dirty="0">
              <a:latin typeface="华文中宋" panose="02010600040101010101" pitchFamily="2" charset="-122"/>
              <a:ea typeface="华文中宋" panose="02010600040101010101" pitchFamily="2" charset="-122"/>
            </a:endParaRPr>
          </a:p>
        </p:txBody>
      </p:sp>
      <mc:AlternateContent xmlns:mc="http://schemas.openxmlformats.org/markup-compatibility/2006" xmlns:a14="http://schemas.microsoft.com/office/drawing/2010/main">
        <mc:Choice Requires="a14">
          <p:sp>
            <p:nvSpPr>
              <p:cNvPr id="12" name="内容占位符 1">
                <a:extLst>
                  <a:ext uri="{FF2B5EF4-FFF2-40B4-BE49-F238E27FC236}">
                    <a16:creationId xmlns:a16="http://schemas.microsoft.com/office/drawing/2014/main" id="{2105A8E6-9AC9-487A-9AE8-B48388599349}"/>
                  </a:ext>
                </a:extLst>
              </p:cNvPr>
              <p:cNvSpPr txBox="1">
                <a:spLocks/>
              </p:cNvSpPr>
              <p:nvPr/>
            </p:nvSpPr>
            <p:spPr>
              <a:xfrm>
                <a:off x="505214" y="1861192"/>
                <a:ext cx="10092465" cy="3957246"/>
              </a:xfrm>
              <a:prstGeom prst="rect">
                <a:avLst/>
              </a:prstGeom>
            </p:spPr>
            <p:txBody>
              <a:bodyPr vert="horz" lIns="91440" tIns="45720" rIns="91440" bIns="45720" rtlCol="0" anchor="t">
                <a:normAutofit/>
              </a:bodyPr>
              <a:lstStyle>
                <a:lvl1pPr marL="305992" indent="-305992"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29984" indent="-305992"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899978" indent="-269993"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1969" indent="-233994"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1960" indent="-233994"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899953"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199945"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38"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930"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zh-CN" altLang="en-US" dirty="0">
                    <a:solidFill>
                      <a:schemeClr val="tx1"/>
                    </a:solidFill>
                    <a:latin typeface="华文中宋" panose="02010600040101010101" pitchFamily="2" charset="-122"/>
                    <a:ea typeface="华文中宋" panose="02010600040101010101" pitchFamily="2" charset="-122"/>
                  </a:rPr>
                  <a:t>融合</a:t>
                </a:r>
                <a:r>
                  <a:rPr lang="zh-CN" altLang="en-US" dirty="0">
                    <a:solidFill>
                      <a:srgbClr val="FF0000"/>
                    </a:solidFill>
                    <a:latin typeface="华文中宋" panose="02010600040101010101" pitchFamily="2" charset="-122"/>
                    <a:ea typeface="华文中宋" panose="02010600040101010101" pitchFamily="2" charset="-122"/>
                  </a:rPr>
                  <a:t>行为间</a:t>
                </a:r>
                <a:r>
                  <a:rPr lang="zh-CN" altLang="en-US" dirty="0">
                    <a:solidFill>
                      <a:schemeClr val="tx1"/>
                    </a:solidFill>
                    <a:latin typeface="华文中宋" panose="02010600040101010101" pitchFamily="2" charset="-122"/>
                    <a:ea typeface="华文中宋" panose="02010600040101010101" pitchFamily="2" charset="-122"/>
                  </a:rPr>
                  <a:t>的权重与</a:t>
                </a:r>
                <a:r>
                  <a:rPr lang="zh-CN" altLang="en-US" dirty="0">
                    <a:solidFill>
                      <a:srgbClr val="FF0000"/>
                    </a:solidFill>
                    <a:latin typeface="华文中宋" panose="02010600040101010101" pitchFamily="2" charset="-122"/>
                    <a:ea typeface="华文中宋" panose="02010600040101010101" pitchFamily="2" charset="-122"/>
                  </a:rPr>
                  <a:t>行为内</a:t>
                </a:r>
                <a:r>
                  <a:rPr lang="zh-CN" altLang="en-US" dirty="0">
                    <a:solidFill>
                      <a:schemeClr val="tx1"/>
                    </a:solidFill>
                    <a:latin typeface="华文中宋" panose="02010600040101010101" pitchFamily="2" charset="-122"/>
                    <a:ea typeface="华文中宋" panose="02010600040101010101" pitchFamily="2" charset="-122"/>
                  </a:rPr>
                  <a:t>权重</a:t>
                </a:r>
                <a:r>
                  <a:rPr lang="zh-CN" altLang="en-US" dirty="0">
                    <a:solidFill>
                      <a:schemeClr val="tx1"/>
                    </a:solidFill>
                    <a:latin typeface="+mj-lt"/>
                    <a:ea typeface="华文中宋" panose="02010600040101010101" pitchFamily="2" charset="-122"/>
                  </a:rPr>
                  <a:t>：</a:t>
                </a:r>
                <a:endParaRPr lang="en-US" altLang="zh-CN" dirty="0">
                  <a:solidFill>
                    <a:schemeClr val="tx1"/>
                  </a:solidFill>
                  <a:latin typeface="+mj-lt"/>
                  <a:ea typeface="华文中宋" panose="02010600040101010101" pitchFamily="2" charset="-122"/>
                </a:endParaRPr>
              </a:p>
              <a:p>
                <a:r>
                  <a:rPr lang="zh-CN" altLang="en-US" dirty="0">
                    <a:solidFill>
                      <a:schemeClr val="tx1"/>
                    </a:solidFill>
                    <a:latin typeface="+mj-lt"/>
                    <a:ea typeface="华文中宋" panose="02010600040101010101" pitchFamily="2" charset="-122"/>
                  </a:rPr>
                  <a:t>得到多行为交互的权重 </a:t>
                </a:r>
                <a14:m>
                  <m:oMath xmlns:m="http://schemas.openxmlformats.org/officeDocument/2006/math">
                    <m:sSup>
                      <m:sSupPr>
                        <m:ctrlPr>
                          <a:rPr lang="en-US" altLang="zh-CN" b="1" i="1" smtClean="0">
                            <a:solidFill>
                              <a:schemeClr val="tx1"/>
                            </a:solidFill>
                            <a:latin typeface="Cambria Math" panose="02040503050406030204" pitchFamily="18" charset="0"/>
                            <a:ea typeface="华文中宋" panose="02010600040101010101" pitchFamily="2" charset="-122"/>
                          </a:rPr>
                        </m:ctrlPr>
                      </m:sSupPr>
                      <m:e>
                        <m:r>
                          <a:rPr lang="en-US" altLang="zh-CN" b="1" i="1" smtClean="0">
                            <a:solidFill>
                              <a:schemeClr val="tx1"/>
                            </a:solidFill>
                            <a:latin typeface="Cambria Math" panose="02040503050406030204" pitchFamily="18" charset="0"/>
                            <a:ea typeface="华文中宋" panose="02010600040101010101" pitchFamily="2" charset="-122"/>
                          </a:rPr>
                          <m:t>𝑾</m:t>
                        </m:r>
                      </m:e>
                      <m:sup>
                        <m:r>
                          <a:rPr lang="en-US" altLang="zh-CN" b="1" i="1" smtClean="0">
                            <a:solidFill>
                              <a:schemeClr val="tx1"/>
                            </a:solidFill>
                            <a:latin typeface="Cambria Math" panose="02040503050406030204" pitchFamily="18" charset="0"/>
                            <a:ea typeface="华文中宋" panose="02010600040101010101" pitchFamily="2" charset="-122"/>
                          </a:rPr>
                          <m:t>𝒄𝒐𝒎𝒃𝒊𝒏𝒆</m:t>
                        </m:r>
                      </m:sup>
                    </m:sSup>
                  </m:oMath>
                </a14:m>
                <a:endParaRPr lang="en-US" altLang="zh-CN" b="1" dirty="0">
                  <a:solidFill>
                    <a:schemeClr val="tx1"/>
                  </a:solidFill>
                  <a:latin typeface="+mj-lt"/>
                  <a:ea typeface="华文中宋" panose="02010600040101010101" pitchFamily="2" charset="-122"/>
                </a:endParaRPr>
              </a:p>
              <a:p>
                <a:r>
                  <a:rPr lang="zh-CN" altLang="en-US" dirty="0">
                    <a:solidFill>
                      <a:schemeClr val="tx1"/>
                    </a:solidFill>
                    <a:latin typeface="+mj-lt"/>
                    <a:ea typeface="华文中宋" panose="02010600040101010101" pitchFamily="2" charset="-122"/>
                  </a:rPr>
                  <a:t>我们认为辅助行为内：</a:t>
                </a:r>
                <a:endParaRPr lang="en-US" altLang="zh-CN" dirty="0">
                  <a:solidFill>
                    <a:schemeClr val="tx1"/>
                  </a:solidFill>
                  <a:latin typeface="+mj-lt"/>
                  <a:ea typeface="华文中宋" panose="02010600040101010101" pitchFamily="2" charset="-122"/>
                </a:endParaRPr>
              </a:p>
              <a:p>
                <a:pPr lvl="1"/>
                <a:r>
                  <a:rPr lang="zh-CN" altLang="en-US" dirty="0">
                    <a:solidFill>
                      <a:schemeClr val="tx1"/>
                    </a:solidFill>
                    <a:latin typeface="+mj-lt"/>
                    <a:ea typeface="华文中宋" panose="02010600040101010101" pitchFamily="2" charset="-122"/>
                  </a:rPr>
                  <a:t>权重</a:t>
                </a:r>
                <a:r>
                  <a:rPr lang="zh-CN" altLang="en-US" dirty="0">
                    <a:solidFill>
                      <a:srgbClr val="FF0000"/>
                    </a:solidFill>
                    <a:latin typeface="+mj-lt"/>
                    <a:ea typeface="华文中宋" panose="02010600040101010101" pitchFamily="2" charset="-122"/>
                  </a:rPr>
                  <a:t>较大</a:t>
                </a:r>
                <a:r>
                  <a:rPr lang="zh-CN" altLang="en-US" dirty="0">
                    <a:solidFill>
                      <a:schemeClr val="tx1"/>
                    </a:solidFill>
                    <a:latin typeface="+mj-lt"/>
                    <a:ea typeface="华文中宋" panose="02010600040101010101" pitchFamily="2" charset="-122"/>
                  </a:rPr>
                  <a:t>的交互是反映了用户的</a:t>
                </a:r>
                <a:r>
                  <a:rPr lang="zh-CN" altLang="en-US" dirty="0">
                    <a:solidFill>
                      <a:srgbClr val="FF0000"/>
                    </a:solidFill>
                    <a:latin typeface="+mj-lt"/>
                    <a:ea typeface="华文中宋" panose="02010600040101010101" pitchFamily="2" charset="-122"/>
                  </a:rPr>
                  <a:t>真实偏好</a:t>
                </a:r>
                <a:endParaRPr lang="en-US" altLang="zh-CN" dirty="0">
                  <a:solidFill>
                    <a:srgbClr val="FF0000"/>
                  </a:solidFill>
                  <a:latin typeface="+mj-lt"/>
                  <a:ea typeface="华文中宋" panose="02010600040101010101" pitchFamily="2" charset="-122"/>
                </a:endParaRPr>
              </a:p>
              <a:p>
                <a:pPr lvl="1"/>
                <a:r>
                  <a:rPr lang="zh-CN" altLang="en-US" dirty="0">
                    <a:solidFill>
                      <a:schemeClr val="tx1"/>
                    </a:solidFill>
                    <a:latin typeface="+mj-lt"/>
                    <a:ea typeface="华文中宋" panose="02010600040101010101" pitchFamily="2" charset="-122"/>
                  </a:rPr>
                  <a:t>权重</a:t>
                </a:r>
                <a:r>
                  <a:rPr lang="zh-CN" altLang="en-US" dirty="0">
                    <a:solidFill>
                      <a:srgbClr val="FF0000"/>
                    </a:solidFill>
                    <a:latin typeface="+mj-lt"/>
                    <a:ea typeface="华文中宋" panose="02010600040101010101" pitchFamily="2" charset="-122"/>
                  </a:rPr>
                  <a:t>较小</a:t>
                </a:r>
                <a:r>
                  <a:rPr lang="zh-CN" altLang="en-US" dirty="0">
                    <a:solidFill>
                      <a:schemeClr val="tx1"/>
                    </a:solidFill>
                    <a:latin typeface="+mj-lt"/>
                    <a:ea typeface="华文中宋" panose="02010600040101010101" pitchFamily="2" charset="-122"/>
                  </a:rPr>
                  <a:t>的交互是辅助行为内的</a:t>
                </a:r>
                <a:r>
                  <a:rPr lang="zh-CN" altLang="en-US" dirty="0">
                    <a:solidFill>
                      <a:srgbClr val="FF0000"/>
                    </a:solidFill>
                    <a:latin typeface="+mj-lt"/>
                    <a:ea typeface="华文中宋" panose="02010600040101010101" pitchFamily="2" charset="-122"/>
                  </a:rPr>
                  <a:t>噪声</a:t>
                </a:r>
                <a:endParaRPr lang="en-US" altLang="zh-CN" dirty="0">
                  <a:solidFill>
                    <a:srgbClr val="FF0000"/>
                  </a:solidFill>
                  <a:latin typeface="+mj-lt"/>
                  <a:ea typeface="华文中宋" panose="02010600040101010101" pitchFamily="2" charset="-122"/>
                </a:endParaRPr>
              </a:p>
              <a:p>
                <a:pPr lvl="1"/>
                <a:r>
                  <a:rPr lang="zh-CN" altLang="en-US" dirty="0">
                    <a:solidFill>
                      <a:schemeClr val="tx1"/>
                    </a:solidFill>
                    <a:latin typeface="+mj-lt"/>
                    <a:ea typeface="华文中宋" panose="02010600040101010101" pitchFamily="2" charset="-122"/>
                  </a:rPr>
                  <a:t>去除噪声交互</a:t>
                </a:r>
                <a:endParaRPr lang="en-US" altLang="zh-CN" dirty="0">
                  <a:solidFill>
                    <a:schemeClr val="tx1"/>
                  </a:solidFill>
                  <a:latin typeface="+mj-lt"/>
                  <a:ea typeface="华文中宋" panose="02010600040101010101" pitchFamily="2" charset="-122"/>
                </a:endParaRPr>
              </a:p>
              <a:p>
                <a:pPr lvl="1"/>
                <a:r>
                  <a:rPr lang="zh-CN" altLang="en-US" dirty="0">
                    <a:solidFill>
                      <a:schemeClr val="tx1"/>
                    </a:solidFill>
                    <a:latin typeface="+mj-lt"/>
                    <a:ea typeface="华文中宋" panose="02010600040101010101" pitchFamily="2" charset="-122"/>
                  </a:rPr>
                  <a:t>根据</a:t>
                </a:r>
                <a:r>
                  <a:rPr lang="zh-CN" altLang="en-US" dirty="0">
                    <a:solidFill>
                      <a:srgbClr val="FF0000"/>
                    </a:solidFill>
                    <a:latin typeface="+mj-lt"/>
                    <a:ea typeface="华文中宋" panose="02010600040101010101" pitchFamily="2" charset="-122"/>
                  </a:rPr>
                  <a:t>去噪</a:t>
                </a:r>
                <a:r>
                  <a:rPr lang="zh-CN" altLang="en-US" dirty="0">
                    <a:solidFill>
                      <a:schemeClr val="tx1"/>
                    </a:solidFill>
                    <a:latin typeface="+mj-lt"/>
                    <a:ea typeface="华文中宋" panose="02010600040101010101" pitchFamily="2" charset="-122"/>
                  </a:rPr>
                  <a:t>后的多行为交互进一步得到</a:t>
                </a:r>
                <a:r>
                  <a:rPr lang="zh-CN" altLang="en-US" dirty="0">
                    <a:solidFill>
                      <a:srgbClr val="FF0000"/>
                    </a:solidFill>
                    <a:latin typeface="+mj-lt"/>
                    <a:ea typeface="华文中宋" panose="02010600040101010101" pitchFamily="2" charset="-122"/>
                  </a:rPr>
                  <a:t>去噪</a:t>
                </a:r>
                <a:r>
                  <a:rPr lang="zh-CN" altLang="en-US" dirty="0">
                    <a:solidFill>
                      <a:schemeClr val="tx1"/>
                    </a:solidFill>
                    <a:latin typeface="+mj-lt"/>
                    <a:ea typeface="华文中宋" panose="02010600040101010101" pitchFamily="2" charset="-122"/>
                  </a:rPr>
                  <a:t>的用户</a:t>
                </a:r>
                <a:r>
                  <a:rPr lang="en-US" altLang="zh-CN" dirty="0">
                    <a:solidFill>
                      <a:schemeClr val="tx1"/>
                    </a:solidFill>
                    <a:latin typeface="+mj-lt"/>
                    <a:ea typeface="华文中宋" panose="02010600040101010101" pitchFamily="2" charset="-122"/>
                  </a:rPr>
                  <a:t>/</a:t>
                </a:r>
                <a:r>
                  <a:rPr lang="zh-CN" altLang="en-US" dirty="0">
                    <a:solidFill>
                      <a:schemeClr val="tx1"/>
                    </a:solidFill>
                    <a:latin typeface="+mj-lt"/>
                    <a:ea typeface="华文中宋" panose="02010600040101010101" pitchFamily="2" charset="-122"/>
                  </a:rPr>
                  <a:t>物品</a:t>
                </a:r>
                <a:r>
                  <a:rPr lang="zh-CN" altLang="en-US" dirty="0">
                    <a:solidFill>
                      <a:srgbClr val="FF0000"/>
                    </a:solidFill>
                    <a:latin typeface="+mj-lt"/>
                    <a:ea typeface="华文中宋" panose="02010600040101010101" pitchFamily="2" charset="-122"/>
                  </a:rPr>
                  <a:t>交互相似</a:t>
                </a:r>
                <a:r>
                  <a:rPr lang="zh-CN" altLang="en-US" dirty="0">
                    <a:solidFill>
                      <a:schemeClr val="tx1"/>
                    </a:solidFill>
                    <a:latin typeface="+mj-lt"/>
                    <a:ea typeface="华文中宋" panose="02010600040101010101" pitchFamily="2" charset="-122"/>
                  </a:rPr>
                  <a:t>图</a:t>
                </a:r>
                <a:endParaRPr lang="en-US" altLang="zh-CN" dirty="0">
                  <a:solidFill>
                    <a:schemeClr val="tx1"/>
                  </a:solidFill>
                  <a:latin typeface="+mj-lt"/>
                  <a:ea typeface="华文中宋" panose="02010600040101010101" pitchFamily="2" charset="-122"/>
                </a:endParaRPr>
              </a:p>
              <a:p>
                <a:endParaRPr lang="en-US" altLang="zh-CN" dirty="0">
                  <a:solidFill>
                    <a:schemeClr val="tx1"/>
                  </a:solidFill>
                  <a:latin typeface="+mj-lt"/>
                  <a:ea typeface="华文中宋" panose="02010600040101010101" pitchFamily="2" charset="-122"/>
                </a:endParaRPr>
              </a:p>
              <a:p>
                <a:pPr marL="0" indent="0">
                  <a:buNone/>
                </a:pPr>
                <a:endParaRPr lang="en-US" altLang="zh-CN" dirty="0">
                  <a:solidFill>
                    <a:schemeClr val="tx1"/>
                  </a:solidFill>
                  <a:latin typeface="华文中宋" panose="02010600040101010101" pitchFamily="2" charset="-122"/>
                  <a:ea typeface="华文中宋" panose="02010600040101010101" pitchFamily="2" charset="-122"/>
                </a:endParaRPr>
              </a:p>
              <a:p>
                <a:endParaRPr lang="zh-CN" altLang="en-US" dirty="0">
                  <a:solidFill>
                    <a:schemeClr val="tx1"/>
                  </a:solidFill>
                  <a:latin typeface="华文中宋" panose="02010600040101010101" pitchFamily="2" charset="-122"/>
                  <a:ea typeface="华文中宋" panose="02010600040101010101" pitchFamily="2" charset="-122"/>
                </a:endParaRPr>
              </a:p>
            </p:txBody>
          </p:sp>
        </mc:Choice>
        <mc:Fallback xmlns="">
          <p:sp>
            <p:nvSpPr>
              <p:cNvPr id="12" name="内容占位符 1">
                <a:extLst>
                  <a:ext uri="{FF2B5EF4-FFF2-40B4-BE49-F238E27FC236}">
                    <a16:creationId xmlns:a16="http://schemas.microsoft.com/office/drawing/2014/main" id="{2105A8E6-9AC9-487A-9AE8-B48388599349}"/>
                  </a:ext>
                </a:extLst>
              </p:cNvPr>
              <p:cNvSpPr txBox="1">
                <a:spLocks noRot="1" noChangeAspect="1" noMove="1" noResize="1" noEditPoints="1" noAdjustHandles="1" noChangeArrowheads="1" noChangeShapeType="1" noTextEdit="1"/>
              </p:cNvSpPr>
              <p:nvPr/>
            </p:nvSpPr>
            <p:spPr>
              <a:xfrm>
                <a:off x="505214" y="1861192"/>
                <a:ext cx="10092465" cy="3957246"/>
              </a:xfrm>
              <a:prstGeom prst="rect">
                <a:avLst/>
              </a:prstGeom>
              <a:blipFill>
                <a:blip r:embed="rId4"/>
                <a:stretch>
                  <a:fillRect l="-242"/>
                </a:stretch>
              </a:blipFill>
            </p:spPr>
            <p:txBody>
              <a:bodyPr/>
              <a:lstStyle/>
              <a:p>
                <a:r>
                  <a:rPr lang="zh-CN" altLang="en-US">
                    <a:noFill/>
                  </a:rPr>
                  <a:t> </a:t>
                </a:r>
              </a:p>
            </p:txBody>
          </p:sp>
        </mc:Fallback>
      </mc:AlternateContent>
      <p:pic>
        <p:nvPicPr>
          <p:cNvPr id="13" name="图片 12">
            <a:extLst>
              <a:ext uri="{FF2B5EF4-FFF2-40B4-BE49-F238E27FC236}">
                <a16:creationId xmlns:a16="http://schemas.microsoft.com/office/drawing/2014/main" id="{E7D28367-2C01-4CA2-9605-67D5C8E19949}"/>
              </a:ext>
            </a:extLst>
          </p:cNvPr>
          <p:cNvPicPr>
            <a:picLocks noChangeAspect="1"/>
          </p:cNvPicPr>
          <p:nvPr/>
        </p:nvPicPr>
        <p:blipFill>
          <a:blip r:embed="rId5"/>
          <a:stretch>
            <a:fillRect/>
          </a:stretch>
        </p:blipFill>
        <p:spPr>
          <a:xfrm>
            <a:off x="7583164" y="1566155"/>
            <a:ext cx="3876019" cy="1569209"/>
          </a:xfrm>
          <a:prstGeom prst="rect">
            <a:avLst/>
          </a:prstGeom>
        </p:spPr>
      </p:pic>
      <p:pic>
        <p:nvPicPr>
          <p:cNvPr id="15" name="图片 14">
            <a:extLst>
              <a:ext uri="{FF2B5EF4-FFF2-40B4-BE49-F238E27FC236}">
                <a16:creationId xmlns:a16="http://schemas.microsoft.com/office/drawing/2014/main" id="{64B23873-F654-4E4B-9AF3-FD0779735A82}"/>
              </a:ext>
            </a:extLst>
          </p:cNvPr>
          <p:cNvPicPr>
            <a:picLocks noChangeAspect="1"/>
          </p:cNvPicPr>
          <p:nvPr/>
        </p:nvPicPr>
        <p:blipFill>
          <a:blip r:embed="rId6"/>
          <a:stretch>
            <a:fillRect/>
          </a:stretch>
        </p:blipFill>
        <p:spPr>
          <a:xfrm>
            <a:off x="7583163" y="3548022"/>
            <a:ext cx="3876019" cy="1570394"/>
          </a:xfrm>
          <a:prstGeom prst="rect">
            <a:avLst/>
          </a:prstGeom>
        </p:spPr>
      </p:pic>
      <p:sp>
        <p:nvSpPr>
          <p:cNvPr id="17" name="文本框 16">
            <a:extLst>
              <a:ext uri="{FF2B5EF4-FFF2-40B4-BE49-F238E27FC236}">
                <a16:creationId xmlns:a16="http://schemas.microsoft.com/office/drawing/2014/main" id="{3D769D1B-6C9D-442F-9BD9-239A1A21DAD7}"/>
              </a:ext>
            </a:extLst>
          </p:cNvPr>
          <p:cNvSpPr txBox="1"/>
          <p:nvPr>
            <p:custDataLst>
              <p:tags r:id="rId1"/>
            </p:custDataLst>
          </p:nvPr>
        </p:nvSpPr>
        <p:spPr>
          <a:xfrm>
            <a:off x="7209678" y="5259949"/>
            <a:ext cx="5045710" cy="307007"/>
          </a:xfrm>
          <a:prstGeom prst="rect">
            <a:avLst/>
          </a:prstGeom>
          <a:noFill/>
        </p:spPr>
        <p:txBody>
          <a:bodyPr wrap="square" rtlCol="0">
            <a:spAutoFit/>
          </a:bodyPr>
          <a:lstStyle/>
          <a:p>
            <a:pPr algn="ctr">
              <a:lnSpc>
                <a:spcPct val="130000"/>
              </a:lnSpc>
            </a:pPr>
            <a:r>
              <a:rPr lang="zh-CN" sz="1200" b="1" dirty="0">
                <a:solidFill>
                  <a:schemeClr val="tx1">
                    <a:lumMod val="75000"/>
                    <a:lumOff val="25000"/>
                  </a:schemeClr>
                </a:solidFill>
                <a:latin typeface="+mn-ea"/>
                <a:cs typeface="汉仪君黑-45简" panose="020B0604020202020204" charset="-122"/>
                <a:sym typeface="+mn-ea"/>
              </a:rPr>
              <a:t>图</a:t>
            </a:r>
            <a:r>
              <a:rPr lang="en-US" altLang="zh-CN" sz="1200" b="1" dirty="0">
                <a:solidFill>
                  <a:schemeClr val="tx1">
                    <a:lumMod val="75000"/>
                    <a:lumOff val="25000"/>
                  </a:schemeClr>
                </a:solidFill>
                <a:latin typeface="+mn-ea"/>
                <a:cs typeface="汉仪君黑-45简" panose="020B0604020202020204" charset="-122"/>
                <a:sym typeface="+mn-ea"/>
              </a:rPr>
              <a:t>3-3  </a:t>
            </a:r>
            <a:r>
              <a:rPr lang="zh-CN" altLang="en-US" sz="1200" b="1" dirty="0">
                <a:latin typeface="+mn-ea"/>
                <a:sym typeface="+mn-ea"/>
              </a:rPr>
              <a:t>原始购买交互图与增强交互图</a:t>
            </a:r>
          </a:p>
        </p:txBody>
      </p:sp>
    </p:spTree>
    <p:extLst>
      <p:ext uri="{BB962C8B-B14F-4D97-AF65-F5344CB8AC3E}">
        <p14:creationId xmlns:p14="http://schemas.microsoft.com/office/powerpoint/2010/main" val="11396924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23FF93AD-B291-5347-AC70-D7287ABA5C8E}"/>
              </a:ext>
            </a:extLst>
          </p:cNvPr>
          <p:cNvSpPr>
            <a:spLocks noGrp="1"/>
          </p:cNvSpPr>
          <p:nvPr>
            <p:ph type="title"/>
          </p:nvPr>
        </p:nvSpPr>
        <p:spPr/>
        <p:txBody>
          <a:bodyPr>
            <a:normAutofit/>
          </a:bodyPr>
          <a:lstStyle/>
          <a:p>
            <a:r>
              <a:rPr kumimoji="1" lang="en-US" altLang="zh-CN" sz="3200" b="1" dirty="0">
                <a:latin typeface="华文中宋" panose="02010600040101010101" pitchFamily="2" charset="-122"/>
                <a:ea typeface="华文中宋" panose="02010600040101010101" pitchFamily="2" charset="-122"/>
              </a:rPr>
              <a:t>3.</a:t>
            </a:r>
            <a:r>
              <a:rPr kumimoji="1" lang="zh-CN" altLang="en-US" sz="3200" b="1" dirty="0">
                <a:latin typeface="华文中宋" panose="02010600040101010101" pitchFamily="2" charset="-122"/>
                <a:ea typeface="华文中宋" panose="02010600040101010101" pitchFamily="2" charset="-122"/>
              </a:rPr>
              <a:t>噪声感知与偏好提取的多行为推荐方法</a:t>
            </a:r>
            <a:endParaRPr kumimoji="1" lang="en-US" altLang="zh-CN" sz="3200" b="1" dirty="0">
              <a:latin typeface="华文中宋" panose="02010600040101010101" pitchFamily="2" charset="-122"/>
              <a:ea typeface="华文中宋" panose="02010600040101010101" pitchFamily="2" charset="-122"/>
            </a:endParaRPr>
          </a:p>
        </p:txBody>
      </p:sp>
      <p:sp>
        <p:nvSpPr>
          <p:cNvPr id="14" name="文本框 13">
            <a:extLst>
              <a:ext uri="{FF2B5EF4-FFF2-40B4-BE49-F238E27FC236}">
                <a16:creationId xmlns:a16="http://schemas.microsoft.com/office/drawing/2014/main" id="{9820D2CA-E2D2-F56F-91D1-34DE3E999E0B}"/>
              </a:ext>
            </a:extLst>
          </p:cNvPr>
          <p:cNvSpPr txBox="1"/>
          <p:nvPr/>
        </p:nvSpPr>
        <p:spPr>
          <a:xfrm>
            <a:off x="561754" y="1366100"/>
            <a:ext cx="10601546" cy="400110"/>
          </a:xfrm>
          <a:prstGeom prst="rect">
            <a:avLst/>
          </a:prstGeom>
          <a:noFill/>
        </p:spPr>
        <p:txBody>
          <a:bodyPr wrap="square" rtlCol="0">
            <a:spAutoFit/>
          </a:bodyPr>
          <a:lstStyle/>
          <a:p>
            <a:r>
              <a:rPr lang="zh-CN" altLang="en-US" sz="2000" b="1" dirty="0">
                <a:solidFill>
                  <a:srgbClr val="000000"/>
                </a:solidFill>
                <a:latin typeface="华文中宋" panose="02010600040101010101" pitchFamily="2" charset="-122"/>
                <a:ea typeface="华文中宋" panose="02010600040101010101" pitchFamily="2" charset="-122"/>
              </a:rPr>
              <a:t>推荐模型：</a:t>
            </a:r>
            <a:endParaRPr lang="zh-CN" altLang="en-US" sz="2000" b="1" dirty="0">
              <a:latin typeface="华文中宋" panose="02010600040101010101" pitchFamily="2" charset="-122"/>
              <a:ea typeface="华文中宋" panose="02010600040101010101" pitchFamily="2" charset="-122"/>
            </a:endParaRPr>
          </a:p>
        </p:txBody>
      </p:sp>
      <p:sp>
        <p:nvSpPr>
          <p:cNvPr id="12" name="内容占位符 1">
            <a:extLst>
              <a:ext uri="{FF2B5EF4-FFF2-40B4-BE49-F238E27FC236}">
                <a16:creationId xmlns:a16="http://schemas.microsoft.com/office/drawing/2014/main" id="{720ECAA3-2A57-43F0-96CC-B3A11D8D75D7}"/>
              </a:ext>
            </a:extLst>
          </p:cNvPr>
          <p:cNvSpPr txBox="1">
            <a:spLocks/>
          </p:cNvSpPr>
          <p:nvPr/>
        </p:nvSpPr>
        <p:spPr>
          <a:xfrm>
            <a:off x="621946" y="2016834"/>
            <a:ext cx="10092465" cy="3957246"/>
          </a:xfrm>
          <a:prstGeom prst="rect">
            <a:avLst/>
          </a:prstGeom>
        </p:spPr>
        <p:txBody>
          <a:bodyPr vert="horz" lIns="91440" tIns="45720" rIns="91440" bIns="45720" rtlCol="0" anchor="t">
            <a:normAutofit/>
          </a:bodyPr>
          <a:lstStyle>
            <a:lvl1pPr marL="305992" indent="-305992"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29984" indent="-305992"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899978" indent="-269993"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1969" indent="-233994"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1960" indent="-233994"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899953"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199945"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38"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930"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zh-CN" altLang="en-US" dirty="0">
                <a:solidFill>
                  <a:schemeClr val="tx1"/>
                </a:solidFill>
                <a:latin typeface="华文中宋" panose="02010600040101010101" pitchFamily="2" charset="-122"/>
                <a:ea typeface="华文中宋" panose="02010600040101010101" pitchFamily="2" charset="-122"/>
              </a:rPr>
              <a:t>参考</a:t>
            </a:r>
            <a:r>
              <a:rPr lang="en-US" altLang="zh-CN" dirty="0">
                <a:solidFill>
                  <a:schemeClr val="tx1"/>
                </a:solidFill>
                <a:latin typeface="华文中宋" panose="02010600040101010101" pitchFamily="2" charset="-122"/>
                <a:ea typeface="华文中宋" panose="02010600040101010101" pitchFamily="2" charset="-122"/>
              </a:rPr>
              <a:t>GHCF</a:t>
            </a:r>
            <a:r>
              <a:rPr lang="en-US" altLang="zh-CN" baseline="30000" dirty="0">
                <a:solidFill>
                  <a:schemeClr val="tx1"/>
                </a:solidFill>
                <a:latin typeface="华文中宋" panose="02010600040101010101" pitchFamily="2" charset="-122"/>
                <a:ea typeface="华文中宋" panose="02010600040101010101" pitchFamily="2" charset="-122"/>
              </a:rPr>
              <a:t>[1]</a:t>
            </a:r>
            <a:r>
              <a:rPr lang="zh-CN" altLang="en-US" dirty="0">
                <a:solidFill>
                  <a:schemeClr val="tx1"/>
                </a:solidFill>
                <a:latin typeface="+mj-lt"/>
                <a:ea typeface="华文中宋" panose="02010600040101010101" pitchFamily="2" charset="-122"/>
              </a:rPr>
              <a:t>：它可以对行为类型建模</a:t>
            </a:r>
            <a:endParaRPr lang="en-US" altLang="zh-CN" dirty="0">
              <a:solidFill>
                <a:schemeClr val="tx1"/>
              </a:solidFill>
              <a:latin typeface="+mj-lt"/>
              <a:ea typeface="华文中宋" panose="02010600040101010101" pitchFamily="2" charset="-122"/>
            </a:endParaRPr>
          </a:p>
          <a:p>
            <a:r>
              <a:rPr lang="zh-CN" altLang="en-US" dirty="0">
                <a:solidFill>
                  <a:schemeClr val="tx1"/>
                </a:solidFill>
                <a:latin typeface="+mj-lt"/>
                <a:ea typeface="华文中宋" panose="02010600040101010101" pitchFamily="2" charset="-122"/>
              </a:rPr>
              <a:t>通过</a:t>
            </a:r>
            <a:r>
              <a:rPr lang="en-US" altLang="zh-CN" dirty="0">
                <a:solidFill>
                  <a:schemeClr val="tx1"/>
                </a:solidFill>
                <a:latin typeface="+mj-lt"/>
                <a:ea typeface="华文中宋" panose="02010600040101010101" pitchFamily="2" charset="-122"/>
              </a:rPr>
              <a:t>GHCF</a:t>
            </a:r>
            <a:r>
              <a:rPr lang="zh-CN" altLang="en-US" dirty="0">
                <a:solidFill>
                  <a:schemeClr val="tx1"/>
                </a:solidFill>
                <a:latin typeface="+mj-lt"/>
                <a:ea typeface="华文中宋" panose="02010600040101010101" pitchFamily="2" charset="-122"/>
              </a:rPr>
              <a:t>可以得到</a:t>
            </a:r>
            <a:r>
              <a:rPr lang="zh-CN" altLang="en-US" dirty="0">
                <a:solidFill>
                  <a:srgbClr val="FF0000"/>
                </a:solidFill>
                <a:latin typeface="+mj-lt"/>
                <a:ea typeface="华文中宋" panose="02010600040101010101" pitchFamily="2" charset="-122"/>
              </a:rPr>
              <a:t>用户</a:t>
            </a:r>
            <a:r>
              <a:rPr lang="zh-CN" altLang="en-US" dirty="0">
                <a:solidFill>
                  <a:schemeClr val="tx1"/>
                </a:solidFill>
                <a:latin typeface="+mj-lt"/>
                <a:ea typeface="华文中宋" panose="02010600040101010101" pitchFamily="2" charset="-122"/>
              </a:rPr>
              <a:t>的嵌入、</a:t>
            </a:r>
            <a:r>
              <a:rPr lang="zh-CN" altLang="en-US" dirty="0">
                <a:solidFill>
                  <a:srgbClr val="FF0000"/>
                </a:solidFill>
                <a:latin typeface="+mj-lt"/>
                <a:ea typeface="华文中宋" panose="02010600040101010101" pitchFamily="2" charset="-122"/>
              </a:rPr>
              <a:t>物品</a:t>
            </a:r>
            <a:r>
              <a:rPr lang="zh-CN" altLang="en-US" dirty="0">
                <a:solidFill>
                  <a:schemeClr val="tx1"/>
                </a:solidFill>
                <a:latin typeface="+mj-lt"/>
                <a:ea typeface="华文中宋" panose="02010600040101010101" pitchFamily="2" charset="-122"/>
              </a:rPr>
              <a:t>的嵌入和各种</a:t>
            </a:r>
            <a:r>
              <a:rPr lang="zh-CN" altLang="en-US" dirty="0">
                <a:solidFill>
                  <a:srgbClr val="FF0000"/>
                </a:solidFill>
                <a:latin typeface="+mj-lt"/>
                <a:ea typeface="华文中宋" panose="02010600040101010101" pitchFamily="2" charset="-122"/>
              </a:rPr>
              <a:t>行为</a:t>
            </a:r>
            <a:r>
              <a:rPr lang="zh-CN" altLang="en-US" dirty="0">
                <a:solidFill>
                  <a:schemeClr val="tx1"/>
                </a:solidFill>
                <a:latin typeface="+mj-lt"/>
                <a:ea typeface="华文中宋" panose="02010600040101010101" pitchFamily="2" charset="-122"/>
              </a:rPr>
              <a:t>的嵌入</a:t>
            </a:r>
            <a:endParaRPr lang="en-US" altLang="zh-CN" dirty="0">
              <a:solidFill>
                <a:schemeClr val="tx1"/>
              </a:solidFill>
              <a:latin typeface="+mj-lt"/>
              <a:ea typeface="华文中宋" panose="02010600040101010101" pitchFamily="2" charset="-122"/>
            </a:endParaRPr>
          </a:p>
          <a:p>
            <a:r>
              <a:rPr lang="zh-CN" altLang="en-US" dirty="0">
                <a:solidFill>
                  <a:schemeClr val="tx1"/>
                </a:solidFill>
                <a:latin typeface="+mj-lt"/>
                <a:ea typeface="华文中宋" panose="02010600040101010101" pitchFamily="2" charset="-122"/>
              </a:rPr>
              <a:t>消息传递公式：</a:t>
            </a:r>
            <a:endParaRPr lang="en-US" altLang="zh-CN" dirty="0">
              <a:solidFill>
                <a:schemeClr val="tx1"/>
              </a:solidFill>
              <a:latin typeface="+mj-lt"/>
              <a:ea typeface="华文中宋" panose="02010600040101010101" pitchFamily="2" charset="-122"/>
            </a:endParaRPr>
          </a:p>
          <a:p>
            <a:endParaRPr lang="en-US" altLang="zh-CN" dirty="0">
              <a:solidFill>
                <a:schemeClr val="tx1"/>
              </a:solidFill>
              <a:latin typeface="+mj-lt"/>
              <a:ea typeface="华文中宋" panose="02010600040101010101" pitchFamily="2" charset="-122"/>
            </a:endParaRPr>
          </a:p>
          <a:p>
            <a:endParaRPr lang="en-US" altLang="zh-CN" dirty="0">
              <a:solidFill>
                <a:schemeClr val="tx1"/>
              </a:solidFill>
              <a:latin typeface="+mj-lt"/>
              <a:ea typeface="华文中宋" panose="02010600040101010101" pitchFamily="2" charset="-122"/>
            </a:endParaRPr>
          </a:p>
          <a:p>
            <a:pPr marL="0" indent="0">
              <a:buNone/>
            </a:pPr>
            <a:endParaRPr lang="en-US" altLang="zh-CN" dirty="0">
              <a:solidFill>
                <a:schemeClr val="tx1"/>
              </a:solidFill>
              <a:latin typeface="华文中宋" panose="02010600040101010101" pitchFamily="2" charset="-122"/>
              <a:ea typeface="华文中宋" panose="02010600040101010101" pitchFamily="2" charset="-122"/>
            </a:endParaRPr>
          </a:p>
          <a:p>
            <a:endParaRPr lang="zh-CN" altLang="en-US" dirty="0">
              <a:solidFill>
                <a:schemeClr val="tx1"/>
              </a:solidFill>
              <a:latin typeface="华文中宋" panose="02010600040101010101" pitchFamily="2" charset="-122"/>
              <a:ea typeface="华文中宋" panose="02010600040101010101" pitchFamily="2" charset="-122"/>
            </a:endParaRPr>
          </a:p>
        </p:txBody>
      </p:sp>
      <p:pic>
        <p:nvPicPr>
          <p:cNvPr id="13" name="图片 12">
            <a:extLst>
              <a:ext uri="{FF2B5EF4-FFF2-40B4-BE49-F238E27FC236}">
                <a16:creationId xmlns:a16="http://schemas.microsoft.com/office/drawing/2014/main" id="{F879457E-92B9-4723-87CD-92B2BC6F08AE}"/>
              </a:ext>
            </a:extLst>
          </p:cNvPr>
          <p:cNvPicPr>
            <a:picLocks noChangeAspect="1"/>
          </p:cNvPicPr>
          <p:nvPr/>
        </p:nvPicPr>
        <p:blipFill>
          <a:blip r:embed="rId3"/>
          <a:stretch>
            <a:fillRect/>
          </a:stretch>
        </p:blipFill>
        <p:spPr>
          <a:xfrm>
            <a:off x="1909237" y="3429000"/>
            <a:ext cx="6639852" cy="847843"/>
          </a:xfrm>
          <a:prstGeom prst="rect">
            <a:avLst/>
          </a:prstGeom>
        </p:spPr>
      </p:pic>
    </p:spTree>
    <p:extLst>
      <p:ext uri="{BB962C8B-B14F-4D97-AF65-F5344CB8AC3E}">
        <p14:creationId xmlns:p14="http://schemas.microsoft.com/office/powerpoint/2010/main" val="15829005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23FF93AD-B291-5347-AC70-D7287ABA5C8E}"/>
              </a:ext>
            </a:extLst>
          </p:cNvPr>
          <p:cNvSpPr>
            <a:spLocks noGrp="1"/>
          </p:cNvSpPr>
          <p:nvPr>
            <p:ph type="title"/>
          </p:nvPr>
        </p:nvSpPr>
        <p:spPr/>
        <p:txBody>
          <a:bodyPr>
            <a:normAutofit/>
          </a:bodyPr>
          <a:lstStyle/>
          <a:p>
            <a:r>
              <a:rPr kumimoji="1" lang="en-US" altLang="zh-CN" sz="3200" b="1" dirty="0">
                <a:latin typeface="华文中宋" panose="02010600040101010101" pitchFamily="2" charset="-122"/>
                <a:ea typeface="华文中宋" panose="02010600040101010101" pitchFamily="2" charset="-122"/>
              </a:rPr>
              <a:t>3.</a:t>
            </a:r>
            <a:r>
              <a:rPr kumimoji="1" lang="zh-CN" altLang="en-US" sz="3200" b="1" dirty="0">
                <a:latin typeface="华文中宋" panose="02010600040101010101" pitchFamily="2" charset="-122"/>
                <a:ea typeface="华文中宋" panose="02010600040101010101" pitchFamily="2" charset="-122"/>
              </a:rPr>
              <a:t>噪声感知与偏好提取的多行为推荐方法</a:t>
            </a:r>
            <a:endParaRPr kumimoji="1" lang="en-US" altLang="zh-CN" sz="3200" b="1" dirty="0">
              <a:latin typeface="华文中宋" panose="02010600040101010101" pitchFamily="2" charset="-122"/>
              <a:ea typeface="华文中宋" panose="02010600040101010101" pitchFamily="2" charset="-122"/>
            </a:endParaRPr>
          </a:p>
        </p:txBody>
      </p:sp>
      <p:sp>
        <p:nvSpPr>
          <p:cNvPr id="14" name="文本框 13">
            <a:extLst>
              <a:ext uri="{FF2B5EF4-FFF2-40B4-BE49-F238E27FC236}">
                <a16:creationId xmlns:a16="http://schemas.microsoft.com/office/drawing/2014/main" id="{9820D2CA-E2D2-F56F-91D1-34DE3E999E0B}"/>
              </a:ext>
            </a:extLst>
          </p:cNvPr>
          <p:cNvSpPr txBox="1"/>
          <p:nvPr/>
        </p:nvSpPr>
        <p:spPr>
          <a:xfrm>
            <a:off x="467587" y="1852020"/>
            <a:ext cx="10601546" cy="400110"/>
          </a:xfrm>
          <a:prstGeom prst="rect">
            <a:avLst/>
          </a:prstGeom>
          <a:noFill/>
        </p:spPr>
        <p:txBody>
          <a:bodyPr wrap="square" rtlCol="0">
            <a:spAutoFit/>
          </a:bodyPr>
          <a:lstStyle/>
          <a:p>
            <a:r>
              <a:rPr lang="zh-CN" altLang="en-US" sz="2000" dirty="0">
                <a:solidFill>
                  <a:schemeClr val="tx1"/>
                </a:solidFill>
                <a:effectLst/>
                <a:latin typeface="华文中宋" panose="02010600040101010101" pitchFamily="2" charset="-122"/>
                <a:ea typeface="华文中宋" panose="02010600040101010101" pitchFamily="2" charset="-122"/>
              </a:rPr>
              <a:t>偏好感知的行为间对比学习</a:t>
            </a:r>
            <a:endParaRPr lang="zh-CN" altLang="en-US" sz="2000" b="1" dirty="0">
              <a:latin typeface="华文中宋" panose="02010600040101010101" pitchFamily="2" charset="-122"/>
              <a:ea typeface="华文中宋" panose="02010600040101010101" pitchFamily="2" charset="-122"/>
            </a:endParaRPr>
          </a:p>
        </p:txBody>
      </p:sp>
      <p:sp>
        <p:nvSpPr>
          <p:cNvPr id="9" name="内容占位符 1">
            <a:extLst>
              <a:ext uri="{FF2B5EF4-FFF2-40B4-BE49-F238E27FC236}">
                <a16:creationId xmlns:a16="http://schemas.microsoft.com/office/drawing/2014/main" id="{CB09A659-7813-B11C-3B47-80D43FE942AB}"/>
              </a:ext>
            </a:extLst>
          </p:cNvPr>
          <p:cNvSpPr txBox="1">
            <a:spLocks/>
          </p:cNvSpPr>
          <p:nvPr/>
        </p:nvSpPr>
        <p:spPr>
          <a:xfrm>
            <a:off x="270377" y="2502754"/>
            <a:ext cx="10092465" cy="3957246"/>
          </a:xfrm>
          <a:prstGeom prst="rect">
            <a:avLst/>
          </a:prstGeom>
        </p:spPr>
        <p:txBody>
          <a:bodyPr vert="horz" lIns="91440" tIns="45720" rIns="91440" bIns="45720" rtlCol="0" anchor="t">
            <a:normAutofit/>
          </a:bodyPr>
          <a:lstStyle>
            <a:lvl1pPr marL="305992" indent="-305992"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29984" indent="-305992"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899978" indent="-269993"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1969" indent="-233994"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1960" indent="-233994"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899953"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199945"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38"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930"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zh-CN" altLang="en-US" dirty="0">
                <a:solidFill>
                  <a:schemeClr val="tx1"/>
                </a:solidFill>
                <a:latin typeface="+mj-lt"/>
                <a:ea typeface="华文中宋" panose="02010600040101010101" pitchFamily="2" charset="-122"/>
              </a:rPr>
              <a:t>将具有</a:t>
            </a:r>
            <a:r>
              <a:rPr lang="zh-CN" altLang="en-US" dirty="0">
                <a:solidFill>
                  <a:srgbClr val="FF0000"/>
                </a:solidFill>
                <a:latin typeface="+mj-lt"/>
                <a:ea typeface="华文中宋" panose="02010600040101010101" pitchFamily="2" charset="-122"/>
              </a:rPr>
              <a:t>高权重</a:t>
            </a:r>
            <a:r>
              <a:rPr lang="zh-CN" altLang="en-US" dirty="0">
                <a:solidFill>
                  <a:schemeClr val="tx1"/>
                </a:solidFill>
                <a:latin typeface="+mj-lt"/>
                <a:ea typeface="华文中宋" panose="02010600040101010101" pitchFamily="2" charset="-122"/>
              </a:rPr>
              <a:t>的</a:t>
            </a:r>
            <a:r>
              <a:rPr lang="zh-CN" altLang="en-US" dirty="0">
                <a:solidFill>
                  <a:srgbClr val="FF0000"/>
                </a:solidFill>
                <a:latin typeface="+mj-lt"/>
                <a:ea typeface="华文中宋" panose="02010600040101010101" pitchFamily="2" charset="-122"/>
              </a:rPr>
              <a:t>辅助行为交互</a:t>
            </a:r>
            <a:r>
              <a:rPr lang="zh-CN" altLang="en-US" dirty="0">
                <a:solidFill>
                  <a:schemeClr val="tx1"/>
                </a:solidFill>
                <a:latin typeface="+mj-lt"/>
                <a:ea typeface="华文中宋" panose="02010600040101010101" pitchFamily="2" charset="-122"/>
              </a:rPr>
              <a:t>对</a:t>
            </a:r>
            <a:r>
              <a:rPr lang="zh-CN" altLang="en-US" dirty="0">
                <a:solidFill>
                  <a:srgbClr val="FF0000"/>
                </a:solidFill>
                <a:latin typeface="+mj-lt"/>
                <a:ea typeface="华文中宋" panose="02010600040101010101" pitchFamily="2" charset="-122"/>
              </a:rPr>
              <a:t>目标行为交互</a:t>
            </a:r>
            <a:r>
              <a:rPr lang="zh-CN" altLang="en-US" dirty="0">
                <a:solidFill>
                  <a:schemeClr val="tx1"/>
                </a:solidFill>
                <a:latin typeface="+mj-lt"/>
                <a:ea typeface="华文中宋" panose="02010600040101010101" pitchFamily="2" charset="-122"/>
              </a:rPr>
              <a:t>进行</a:t>
            </a:r>
            <a:r>
              <a:rPr lang="zh-CN" altLang="en-US" dirty="0">
                <a:solidFill>
                  <a:srgbClr val="FF0000"/>
                </a:solidFill>
                <a:latin typeface="+mj-lt"/>
                <a:ea typeface="华文中宋" panose="02010600040101010101" pitchFamily="2" charset="-122"/>
              </a:rPr>
              <a:t>数据增强</a:t>
            </a:r>
            <a:r>
              <a:rPr lang="zh-CN" altLang="en-US" dirty="0">
                <a:solidFill>
                  <a:schemeClr val="tx1"/>
                </a:solidFill>
                <a:latin typeface="+mj-lt"/>
                <a:ea typeface="华文中宋" panose="02010600040101010101" pitchFamily="2" charset="-122"/>
              </a:rPr>
              <a:t>：</a:t>
            </a:r>
            <a:endParaRPr lang="en-US" altLang="zh-CN" dirty="0">
              <a:solidFill>
                <a:schemeClr val="tx1"/>
              </a:solidFill>
              <a:latin typeface="+mj-lt"/>
              <a:ea typeface="华文中宋" panose="02010600040101010101" pitchFamily="2" charset="-122"/>
            </a:endParaRPr>
          </a:p>
          <a:p>
            <a:r>
              <a:rPr lang="zh-CN" altLang="en-US" dirty="0">
                <a:solidFill>
                  <a:schemeClr val="tx1"/>
                </a:solidFill>
                <a:latin typeface="+mj-lt"/>
                <a:ea typeface="华文中宋" panose="02010600040101010101" pitchFamily="2" charset="-122"/>
              </a:rPr>
              <a:t>将</a:t>
            </a:r>
            <a:r>
              <a:rPr lang="zh-CN" altLang="en-US" dirty="0">
                <a:solidFill>
                  <a:srgbClr val="FF0000"/>
                </a:solidFill>
                <a:latin typeface="+mj-lt"/>
                <a:ea typeface="华文中宋" panose="02010600040101010101" pitchFamily="2" charset="-122"/>
              </a:rPr>
              <a:t>高权重</a:t>
            </a:r>
            <a:r>
              <a:rPr lang="zh-CN" altLang="en-US" dirty="0">
                <a:solidFill>
                  <a:schemeClr val="tx1"/>
                </a:solidFill>
                <a:latin typeface="+mj-lt"/>
                <a:ea typeface="华文中宋" panose="02010600040101010101" pitchFamily="2" charset="-122"/>
              </a:rPr>
              <a:t>边加入到目标行为交互图中，生成目标行为</a:t>
            </a:r>
            <a:r>
              <a:rPr lang="zh-CN" altLang="en-US" dirty="0">
                <a:solidFill>
                  <a:srgbClr val="FF0000"/>
                </a:solidFill>
                <a:latin typeface="+mj-lt"/>
                <a:ea typeface="华文中宋" panose="02010600040101010101" pitchFamily="2" charset="-122"/>
              </a:rPr>
              <a:t>增强图</a:t>
            </a:r>
            <a:endParaRPr lang="en-US" altLang="zh-CN" dirty="0">
              <a:solidFill>
                <a:srgbClr val="FF0000"/>
              </a:solidFill>
              <a:latin typeface="+mj-lt"/>
              <a:ea typeface="华文中宋" panose="02010600040101010101" pitchFamily="2" charset="-122"/>
            </a:endParaRPr>
          </a:p>
          <a:p>
            <a:r>
              <a:rPr lang="zh-CN" altLang="en-US" dirty="0">
                <a:solidFill>
                  <a:schemeClr val="tx1"/>
                </a:solidFill>
                <a:latin typeface="+mj-lt"/>
                <a:ea typeface="华文中宋" panose="02010600040101010101" pitchFamily="2" charset="-122"/>
              </a:rPr>
              <a:t>利用对比学习将</a:t>
            </a:r>
            <a:r>
              <a:rPr lang="zh-CN" altLang="en-US" dirty="0">
                <a:solidFill>
                  <a:srgbClr val="FF0000"/>
                </a:solidFill>
                <a:latin typeface="+mj-lt"/>
                <a:ea typeface="华文中宋" panose="02010600040101010101" pitchFamily="2" charset="-122"/>
              </a:rPr>
              <a:t>原始目标行</a:t>
            </a:r>
            <a:r>
              <a:rPr lang="zh-CN" altLang="en-US" dirty="0">
                <a:solidFill>
                  <a:schemeClr val="tx1"/>
                </a:solidFill>
                <a:latin typeface="+mj-lt"/>
                <a:ea typeface="华文中宋" panose="02010600040101010101" pitchFamily="2" charset="-122"/>
              </a:rPr>
              <a:t>为交互图与</a:t>
            </a:r>
            <a:r>
              <a:rPr lang="zh-CN" altLang="en-US" dirty="0">
                <a:solidFill>
                  <a:srgbClr val="FF0000"/>
                </a:solidFill>
                <a:latin typeface="+mj-lt"/>
                <a:ea typeface="华文中宋" panose="02010600040101010101" pitchFamily="2" charset="-122"/>
              </a:rPr>
              <a:t>目标行为增强</a:t>
            </a:r>
            <a:r>
              <a:rPr lang="zh-CN" altLang="en-US" dirty="0">
                <a:solidFill>
                  <a:schemeClr val="tx1"/>
                </a:solidFill>
                <a:latin typeface="+mj-lt"/>
                <a:ea typeface="华文中宋" panose="02010600040101010101" pitchFamily="2" charset="-122"/>
              </a:rPr>
              <a:t>图进行对比</a:t>
            </a:r>
            <a:endParaRPr lang="en-US" altLang="zh-CN" dirty="0">
              <a:solidFill>
                <a:schemeClr val="tx1"/>
              </a:solidFill>
              <a:latin typeface="+mj-lt"/>
              <a:ea typeface="华文中宋" panose="02010600040101010101" pitchFamily="2" charset="-122"/>
            </a:endParaRPr>
          </a:p>
          <a:p>
            <a:r>
              <a:rPr lang="zh-CN" altLang="en-US" dirty="0">
                <a:solidFill>
                  <a:srgbClr val="FF0000"/>
                </a:solidFill>
                <a:latin typeface="+mj-lt"/>
                <a:ea typeface="华文中宋" panose="02010600040101010101" pitchFamily="2" charset="-122"/>
              </a:rPr>
              <a:t>拉近同一</a:t>
            </a:r>
            <a:r>
              <a:rPr lang="zh-CN" altLang="en-US" dirty="0">
                <a:solidFill>
                  <a:schemeClr val="tx1"/>
                </a:solidFill>
                <a:latin typeface="+mj-lt"/>
                <a:ea typeface="华文中宋" panose="02010600040101010101" pitchFamily="2" charset="-122"/>
              </a:rPr>
              <a:t>用户、物品的嵌入，</a:t>
            </a:r>
            <a:r>
              <a:rPr lang="zh-CN" altLang="en-US" dirty="0">
                <a:solidFill>
                  <a:srgbClr val="FF0000"/>
                </a:solidFill>
                <a:latin typeface="+mj-lt"/>
                <a:ea typeface="华文中宋" panose="02010600040101010101" pitchFamily="2" charset="-122"/>
              </a:rPr>
              <a:t>远离不同</a:t>
            </a:r>
            <a:r>
              <a:rPr lang="zh-CN" altLang="en-US" dirty="0">
                <a:solidFill>
                  <a:schemeClr val="tx1"/>
                </a:solidFill>
                <a:latin typeface="+mj-lt"/>
                <a:ea typeface="华文中宋" panose="02010600040101010101" pitchFamily="2" charset="-122"/>
              </a:rPr>
              <a:t>用户、物品的嵌入</a:t>
            </a:r>
            <a:endParaRPr lang="en-US" altLang="zh-CN" dirty="0">
              <a:solidFill>
                <a:schemeClr val="tx1"/>
              </a:solidFill>
              <a:latin typeface="华文中宋" panose="02010600040101010101" pitchFamily="2" charset="-122"/>
              <a:ea typeface="华文中宋" panose="02010600040101010101" pitchFamily="2" charset="-122"/>
            </a:endParaRPr>
          </a:p>
          <a:p>
            <a:endParaRPr lang="zh-CN" altLang="en-US" dirty="0">
              <a:solidFill>
                <a:schemeClr val="tx1"/>
              </a:solidFill>
              <a:latin typeface="华文中宋" panose="02010600040101010101" pitchFamily="2" charset="-122"/>
              <a:ea typeface="华文中宋" panose="02010600040101010101" pitchFamily="2" charset="-122"/>
            </a:endParaRPr>
          </a:p>
        </p:txBody>
      </p:sp>
      <p:pic>
        <p:nvPicPr>
          <p:cNvPr id="5" name="图片 4">
            <a:extLst>
              <a:ext uri="{FF2B5EF4-FFF2-40B4-BE49-F238E27FC236}">
                <a16:creationId xmlns:a16="http://schemas.microsoft.com/office/drawing/2014/main" id="{8BCA994D-F9C4-46C3-8D8C-E3FC50CB9327}"/>
              </a:ext>
            </a:extLst>
          </p:cNvPr>
          <p:cNvPicPr>
            <a:picLocks noChangeAspect="1"/>
          </p:cNvPicPr>
          <p:nvPr/>
        </p:nvPicPr>
        <p:blipFill>
          <a:blip r:embed="rId4"/>
          <a:stretch>
            <a:fillRect/>
          </a:stretch>
        </p:blipFill>
        <p:spPr>
          <a:xfrm>
            <a:off x="1297113" y="5061282"/>
            <a:ext cx="6649378" cy="1171739"/>
          </a:xfrm>
          <a:prstGeom prst="rect">
            <a:avLst/>
          </a:prstGeom>
        </p:spPr>
      </p:pic>
      <p:pic>
        <p:nvPicPr>
          <p:cNvPr id="6" name="图片 5">
            <a:extLst>
              <a:ext uri="{FF2B5EF4-FFF2-40B4-BE49-F238E27FC236}">
                <a16:creationId xmlns:a16="http://schemas.microsoft.com/office/drawing/2014/main" id="{ED99F2F9-8399-128E-7785-86B0D13CB311}"/>
              </a:ext>
            </a:extLst>
          </p:cNvPr>
          <p:cNvPicPr>
            <a:picLocks noChangeAspect="1"/>
          </p:cNvPicPr>
          <p:nvPr/>
        </p:nvPicPr>
        <p:blipFill>
          <a:blip r:embed="rId5"/>
          <a:stretch>
            <a:fillRect/>
          </a:stretch>
        </p:blipFill>
        <p:spPr>
          <a:xfrm>
            <a:off x="7335834" y="2204763"/>
            <a:ext cx="4518968" cy="2448474"/>
          </a:xfrm>
          <a:prstGeom prst="rect">
            <a:avLst/>
          </a:prstGeom>
        </p:spPr>
      </p:pic>
      <p:sp>
        <p:nvSpPr>
          <p:cNvPr id="7" name="文本框 6">
            <a:extLst>
              <a:ext uri="{FF2B5EF4-FFF2-40B4-BE49-F238E27FC236}">
                <a16:creationId xmlns:a16="http://schemas.microsoft.com/office/drawing/2014/main" id="{BE9947B8-BB51-D8DB-BF18-24F49EA7ED8B}"/>
              </a:ext>
            </a:extLst>
          </p:cNvPr>
          <p:cNvSpPr txBox="1"/>
          <p:nvPr>
            <p:custDataLst>
              <p:tags r:id="rId1"/>
            </p:custDataLst>
          </p:nvPr>
        </p:nvSpPr>
        <p:spPr>
          <a:xfrm>
            <a:off x="7387394" y="4703756"/>
            <a:ext cx="5045710" cy="307007"/>
          </a:xfrm>
          <a:prstGeom prst="rect">
            <a:avLst/>
          </a:prstGeom>
          <a:noFill/>
        </p:spPr>
        <p:txBody>
          <a:bodyPr wrap="square" rtlCol="0">
            <a:spAutoFit/>
          </a:bodyPr>
          <a:lstStyle/>
          <a:p>
            <a:pPr algn="ctr">
              <a:lnSpc>
                <a:spcPct val="130000"/>
              </a:lnSpc>
            </a:pPr>
            <a:r>
              <a:rPr lang="zh-CN" sz="1200" b="1" dirty="0">
                <a:solidFill>
                  <a:schemeClr val="tx1">
                    <a:lumMod val="75000"/>
                    <a:lumOff val="25000"/>
                  </a:schemeClr>
                </a:solidFill>
                <a:latin typeface="+mn-ea"/>
                <a:cs typeface="汉仪君黑-45简" panose="020B0604020202020204" charset="-122"/>
                <a:sym typeface="+mn-ea"/>
              </a:rPr>
              <a:t>图</a:t>
            </a:r>
            <a:r>
              <a:rPr lang="en-US" altLang="zh-CN" sz="1200" b="1" dirty="0">
                <a:solidFill>
                  <a:schemeClr val="tx1">
                    <a:lumMod val="75000"/>
                    <a:lumOff val="25000"/>
                  </a:schemeClr>
                </a:solidFill>
                <a:latin typeface="+mn-ea"/>
                <a:cs typeface="汉仪君黑-45简" panose="020B0604020202020204" charset="-122"/>
                <a:sym typeface="+mn-ea"/>
              </a:rPr>
              <a:t>3-4  </a:t>
            </a:r>
            <a:r>
              <a:rPr lang="zh-CN" altLang="en-US" sz="1200" b="1" dirty="0">
                <a:latin typeface="+mn-ea"/>
                <a:sym typeface="+mn-ea"/>
              </a:rPr>
              <a:t>偏好感知的行为间对比学习</a:t>
            </a:r>
          </a:p>
        </p:txBody>
      </p:sp>
      <p:sp>
        <p:nvSpPr>
          <p:cNvPr id="10" name="文本框 9">
            <a:extLst>
              <a:ext uri="{FF2B5EF4-FFF2-40B4-BE49-F238E27FC236}">
                <a16:creationId xmlns:a16="http://schemas.microsoft.com/office/drawing/2014/main" id="{1AA31F5A-992B-4253-9B41-139BDF63C81B}"/>
              </a:ext>
            </a:extLst>
          </p:cNvPr>
          <p:cNvSpPr txBox="1"/>
          <p:nvPr/>
        </p:nvSpPr>
        <p:spPr>
          <a:xfrm>
            <a:off x="467587" y="1255637"/>
            <a:ext cx="10601546" cy="400110"/>
          </a:xfrm>
          <a:prstGeom prst="rect">
            <a:avLst/>
          </a:prstGeom>
          <a:noFill/>
        </p:spPr>
        <p:txBody>
          <a:bodyPr wrap="square" rtlCol="0">
            <a:spAutoFit/>
          </a:bodyPr>
          <a:lstStyle/>
          <a:p>
            <a:r>
              <a:rPr lang="zh-CN" altLang="en-US" sz="2000" b="1" dirty="0">
                <a:solidFill>
                  <a:srgbClr val="000000"/>
                </a:solidFill>
                <a:latin typeface="华文中宋" panose="02010600040101010101" pitchFamily="2" charset="-122"/>
                <a:ea typeface="华文中宋" panose="02010600040101010101" pitchFamily="2" charset="-122"/>
              </a:rPr>
              <a:t>推荐模型：多行为有效信息融合</a:t>
            </a:r>
            <a:endParaRPr lang="zh-CN" altLang="en-US" sz="2000" b="1" dirty="0">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10115695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23FF93AD-B291-5347-AC70-D7287ABA5C8E}"/>
              </a:ext>
            </a:extLst>
          </p:cNvPr>
          <p:cNvSpPr>
            <a:spLocks noGrp="1"/>
          </p:cNvSpPr>
          <p:nvPr>
            <p:ph type="title"/>
          </p:nvPr>
        </p:nvSpPr>
        <p:spPr/>
        <p:txBody>
          <a:bodyPr>
            <a:normAutofit/>
          </a:bodyPr>
          <a:lstStyle/>
          <a:p>
            <a:r>
              <a:rPr kumimoji="1" lang="en-US" altLang="zh-CN" sz="3200" b="1" dirty="0">
                <a:latin typeface="华文中宋" panose="02010600040101010101" pitchFamily="2" charset="-122"/>
                <a:ea typeface="华文中宋" panose="02010600040101010101" pitchFamily="2" charset="-122"/>
              </a:rPr>
              <a:t>3.</a:t>
            </a:r>
            <a:r>
              <a:rPr kumimoji="1" lang="zh-CN" altLang="en-US" sz="3200" b="1" dirty="0">
                <a:latin typeface="华文中宋" panose="02010600040101010101" pitchFamily="2" charset="-122"/>
                <a:ea typeface="华文中宋" panose="02010600040101010101" pitchFamily="2" charset="-122"/>
              </a:rPr>
              <a:t>噪声感知与偏好提取的多行为推荐方法</a:t>
            </a:r>
            <a:endParaRPr kumimoji="1" lang="en-US" altLang="zh-CN" sz="3200" b="1" dirty="0">
              <a:latin typeface="华文中宋" panose="02010600040101010101" pitchFamily="2" charset="-122"/>
              <a:ea typeface="华文中宋" panose="02010600040101010101" pitchFamily="2" charset="-122"/>
            </a:endParaRPr>
          </a:p>
        </p:txBody>
      </p:sp>
      <p:sp>
        <p:nvSpPr>
          <p:cNvPr id="14" name="文本框 13">
            <a:extLst>
              <a:ext uri="{FF2B5EF4-FFF2-40B4-BE49-F238E27FC236}">
                <a16:creationId xmlns:a16="http://schemas.microsoft.com/office/drawing/2014/main" id="{9820D2CA-E2D2-F56F-91D1-34DE3E999E0B}"/>
              </a:ext>
            </a:extLst>
          </p:cNvPr>
          <p:cNvSpPr txBox="1"/>
          <p:nvPr/>
        </p:nvSpPr>
        <p:spPr>
          <a:xfrm>
            <a:off x="512937" y="2101832"/>
            <a:ext cx="10601546" cy="400110"/>
          </a:xfrm>
          <a:prstGeom prst="rect">
            <a:avLst/>
          </a:prstGeom>
          <a:noFill/>
        </p:spPr>
        <p:txBody>
          <a:bodyPr wrap="square" rtlCol="0">
            <a:spAutoFit/>
          </a:bodyPr>
          <a:lstStyle/>
          <a:p>
            <a:r>
              <a:rPr lang="zh-CN" altLang="en-US" sz="2000" b="1" dirty="0">
                <a:latin typeface="华文中宋" panose="02010600040101010101" pitchFamily="2" charset="-122"/>
                <a:ea typeface="华文中宋" panose="02010600040101010101" pitchFamily="2" charset="-122"/>
              </a:rPr>
              <a:t>偏好感知的行为内对比学习</a:t>
            </a:r>
          </a:p>
        </p:txBody>
      </p:sp>
      <p:sp>
        <p:nvSpPr>
          <p:cNvPr id="9" name="内容占位符 1">
            <a:extLst>
              <a:ext uri="{FF2B5EF4-FFF2-40B4-BE49-F238E27FC236}">
                <a16:creationId xmlns:a16="http://schemas.microsoft.com/office/drawing/2014/main" id="{CB09A659-7813-B11C-3B47-80D43FE942AB}"/>
              </a:ext>
            </a:extLst>
          </p:cNvPr>
          <p:cNvSpPr txBox="1">
            <a:spLocks/>
          </p:cNvSpPr>
          <p:nvPr/>
        </p:nvSpPr>
        <p:spPr>
          <a:xfrm>
            <a:off x="512937" y="2582601"/>
            <a:ext cx="10092465" cy="3957246"/>
          </a:xfrm>
          <a:prstGeom prst="rect">
            <a:avLst/>
          </a:prstGeom>
        </p:spPr>
        <p:txBody>
          <a:bodyPr vert="horz" lIns="91440" tIns="45720" rIns="91440" bIns="45720" rtlCol="0" anchor="t">
            <a:normAutofit/>
          </a:bodyPr>
          <a:lstStyle>
            <a:lvl1pPr marL="305992" indent="-305992"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29984" indent="-305992"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899978" indent="-269993"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1969" indent="-233994"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1960" indent="-233994"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899953"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199945"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38"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930"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zh-CN" altLang="en-US" dirty="0">
                <a:solidFill>
                  <a:schemeClr val="tx1"/>
                </a:solidFill>
                <a:latin typeface="+mj-lt"/>
                <a:ea typeface="华文中宋" panose="02010600040101010101" pitchFamily="2" charset="-122"/>
              </a:rPr>
              <a:t>具有</a:t>
            </a:r>
            <a:r>
              <a:rPr lang="zh-CN" altLang="en-US" dirty="0">
                <a:solidFill>
                  <a:srgbClr val="FF0000"/>
                </a:solidFill>
                <a:latin typeface="+mj-lt"/>
                <a:ea typeface="华文中宋" panose="02010600040101010101" pitchFamily="2" charset="-122"/>
              </a:rPr>
              <a:t>相似交互</a:t>
            </a:r>
            <a:r>
              <a:rPr lang="zh-CN" altLang="en-US" dirty="0">
                <a:solidFill>
                  <a:schemeClr val="tx1"/>
                </a:solidFill>
                <a:latin typeface="+mj-lt"/>
                <a:ea typeface="华文中宋" panose="02010600040101010101" pitchFamily="2" charset="-122"/>
              </a:rPr>
              <a:t>的用户</a:t>
            </a:r>
            <a:r>
              <a:rPr lang="en-US" altLang="zh-CN" dirty="0">
                <a:solidFill>
                  <a:schemeClr val="tx1"/>
                </a:solidFill>
                <a:latin typeface="+mj-lt"/>
                <a:ea typeface="华文中宋" panose="02010600040101010101" pitchFamily="2" charset="-122"/>
              </a:rPr>
              <a:t>/</a:t>
            </a:r>
            <a:r>
              <a:rPr lang="zh-CN" altLang="en-US" dirty="0">
                <a:solidFill>
                  <a:schemeClr val="tx1"/>
                </a:solidFill>
                <a:latin typeface="+mj-lt"/>
                <a:ea typeface="华文中宋" panose="02010600040101010101" pitchFamily="2" charset="-122"/>
              </a:rPr>
              <a:t>物品的嵌入也应该</a:t>
            </a:r>
            <a:r>
              <a:rPr lang="zh-CN" altLang="en-US" dirty="0">
                <a:solidFill>
                  <a:srgbClr val="FF0000"/>
                </a:solidFill>
                <a:latin typeface="+mj-lt"/>
                <a:ea typeface="华文中宋" panose="02010600040101010101" pitchFamily="2" charset="-122"/>
              </a:rPr>
              <a:t>相似</a:t>
            </a:r>
            <a:r>
              <a:rPr lang="zh-CN" altLang="en-US" dirty="0">
                <a:solidFill>
                  <a:schemeClr val="tx1"/>
                </a:solidFill>
                <a:latin typeface="+mj-lt"/>
                <a:ea typeface="华文中宋" panose="02010600040101010101" pitchFamily="2" charset="-122"/>
              </a:rPr>
              <a:t>：</a:t>
            </a:r>
            <a:endParaRPr lang="en-US" altLang="zh-CN" dirty="0">
              <a:solidFill>
                <a:schemeClr val="tx1"/>
              </a:solidFill>
              <a:latin typeface="+mj-lt"/>
              <a:ea typeface="华文中宋" panose="02010600040101010101" pitchFamily="2" charset="-122"/>
            </a:endParaRPr>
          </a:p>
          <a:p>
            <a:r>
              <a:rPr lang="zh-CN" altLang="en-US" dirty="0">
                <a:solidFill>
                  <a:srgbClr val="FF0000"/>
                </a:solidFill>
                <a:latin typeface="+mj-lt"/>
                <a:ea typeface="华文中宋" panose="02010600040101010101" pitchFamily="2" charset="-122"/>
              </a:rPr>
              <a:t>拉近具有相似交互</a:t>
            </a:r>
            <a:r>
              <a:rPr lang="zh-CN" altLang="en-US" dirty="0">
                <a:solidFill>
                  <a:schemeClr val="tx1"/>
                </a:solidFill>
                <a:latin typeface="+mj-lt"/>
                <a:ea typeface="华文中宋" panose="02010600040101010101" pitchFamily="2" charset="-122"/>
              </a:rPr>
              <a:t>用户</a:t>
            </a:r>
            <a:r>
              <a:rPr lang="en-US" altLang="zh-CN" dirty="0">
                <a:solidFill>
                  <a:schemeClr val="tx1"/>
                </a:solidFill>
                <a:latin typeface="+mj-lt"/>
                <a:ea typeface="华文中宋" panose="02010600040101010101" pitchFamily="2" charset="-122"/>
              </a:rPr>
              <a:t>/</a:t>
            </a:r>
            <a:r>
              <a:rPr lang="zh-CN" altLang="en-US" dirty="0">
                <a:solidFill>
                  <a:schemeClr val="tx1"/>
                </a:solidFill>
                <a:latin typeface="+mj-lt"/>
                <a:ea typeface="华文中宋" panose="02010600040101010101" pitchFamily="2" charset="-122"/>
              </a:rPr>
              <a:t>物品的嵌入</a:t>
            </a:r>
            <a:endParaRPr lang="en-US" altLang="zh-CN" dirty="0">
              <a:solidFill>
                <a:schemeClr val="tx1"/>
              </a:solidFill>
              <a:latin typeface="+mj-lt"/>
              <a:ea typeface="华文中宋" panose="02010600040101010101" pitchFamily="2" charset="-122"/>
            </a:endParaRPr>
          </a:p>
          <a:p>
            <a:r>
              <a:rPr lang="zh-CN" altLang="en-US" dirty="0">
                <a:solidFill>
                  <a:srgbClr val="FF0000"/>
                </a:solidFill>
                <a:latin typeface="+mj-lt"/>
                <a:ea typeface="华文中宋" panose="02010600040101010101" pitchFamily="2" charset="-122"/>
              </a:rPr>
              <a:t>远离不具有相似交互</a:t>
            </a:r>
            <a:r>
              <a:rPr lang="zh-CN" altLang="en-US" dirty="0">
                <a:solidFill>
                  <a:schemeClr val="tx1"/>
                </a:solidFill>
                <a:latin typeface="+mj-lt"/>
                <a:ea typeface="华文中宋" panose="02010600040101010101" pitchFamily="2" charset="-122"/>
              </a:rPr>
              <a:t>用户</a:t>
            </a:r>
            <a:r>
              <a:rPr lang="en-US" altLang="zh-CN" dirty="0">
                <a:solidFill>
                  <a:schemeClr val="tx1"/>
                </a:solidFill>
                <a:latin typeface="+mj-lt"/>
                <a:ea typeface="华文中宋" panose="02010600040101010101" pitchFamily="2" charset="-122"/>
              </a:rPr>
              <a:t>/</a:t>
            </a:r>
            <a:r>
              <a:rPr lang="zh-CN" altLang="en-US" dirty="0">
                <a:solidFill>
                  <a:schemeClr val="tx1"/>
                </a:solidFill>
                <a:latin typeface="+mj-lt"/>
                <a:ea typeface="华文中宋" panose="02010600040101010101" pitchFamily="2" charset="-122"/>
              </a:rPr>
              <a:t>物品的嵌入</a:t>
            </a:r>
            <a:endParaRPr lang="en-US" altLang="zh-CN" dirty="0">
              <a:solidFill>
                <a:schemeClr val="tx1"/>
              </a:solidFill>
              <a:latin typeface="华文中宋" panose="02010600040101010101" pitchFamily="2" charset="-122"/>
              <a:ea typeface="华文中宋" panose="02010600040101010101" pitchFamily="2" charset="-122"/>
            </a:endParaRPr>
          </a:p>
          <a:p>
            <a:endParaRPr lang="zh-CN" altLang="en-US" dirty="0">
              <a:solidFill>
                <a:schemeClr val="tx1"/>
              </a:solidFill>
              <a:latin typeface="华文中宋" panose="02010600040101010101" pitchFamily="2" charset="-122"/>
              <a:ea typeface="华文中宋" panose="02010600040101010101" pitchFamily="2" charset="-122"/>
            </a:endParaRPr>
          </a:p>
        </p:txBody>
      </p:sp>
      <p:pic>
        <p:nvPicPr>
          <p:cNvPr id="4" name="图片 3">
            <a:extLst>
              <a:ext uri="{FF2B5EF4-FFF2-40B4-BE49-F238E27FC236}">
                <a16:creationId xmlns:a16="http://schemas.microsoft.com/office/drawing/2014/main" id="{FA6F653F-717B-46E1-8010-50992E36EA7E}"/>
              </a:ext>
            </a:extLst>
          </p:cNvPr>
          <p:cNvPicPr>
            <a:picLocks noChangeAspect="1"/>
          </p:cNvPicPr>
          <p:nvPr/>
        </p:nvPicPr>
        <p:blipFill>
          <a:blip r:embed="rId4"/>
          <a:stretch>
            <a:fillRect/>
          </a:stretch>
        </p:blipFill>
        <p:spPr>
          <a:xfrm>
            <a:off x="464436" y="4852736"/>
            <a:ext cx="7602011" cy="1190791"/>
          </a:xfrm>
          <a:prstGeom prst="rect">
            <a:avLst/>
          </a:prstGeom>
        </p:spPr>
      </p:pic>
      <p:pic>
        <p:nvPicPr>
          <p:cNvPr id="6" name="图片 5">
            <a:extLst>
              <a:ext uri="{FF2B5EF4-FFF2-40B4-BE49-F238E27FC236}">
                <a16:creationId xmlns:a16="http://schemas.microsoft.com/office/drawing/2014/main" id="{B12A11EC-D130-666E-5EDE-102A801D1561}"/>
              </a:ext>
            </a:extLst>
          </p:cNvPr>
          <p:cNvPicPr>
            <a:picLocks noChangeAspect="1"/>
          </p:cNvPicPr>
          <p:nvPr/>
        </p:nvPicPr>
        <p:blipFill>
          <a:blip r:embed="rId5"/>
          <a:stretch>
            <a:fillRect/>
          </a:stretch>
        </p:blipFill>
        <p:spPr>
          <a:xfrm>
            <a:off x="7719259" y="2406646"/>
            <a:ext cx="3710586" cy="1987572"/>
          </a:xfrm>
          <a:prstGeom prst="rect">
            <a:avLst/>
          </a:prstGeom>
        </p:spPr>
      </p:pic>
      <p:sp>
        <p:nvSpPr>
          <p:cNvPr id="7" name="文本框 6">
            <a:extLst>
              <a:ext uri="{FF2B5EF4-FFF2-40B4-BE49-F238E27FC236}">
                <a16:creationId xmlns:a16="http://schemas.microsoft.com/office/drawing/2014/main" id="{B743580A-F30E-CE68-837B-37CCF4B7DE71}"/>
              </a:ext>
            </a:extLst>
          </p:cNvPr>
          <p:cNvSpPr txBox="1"/>
          <p:nvPr>
            <p:custDataLst>
              <p:tags r:id="rId1"/>
            </p:custDataLst>
          </p:nvPr>
        </p:nvSpPr>
        <p:spPr>
          <a:xfrm>
            <a:off x="7323999" y="4440216"/>
            <a:ext cx="5045710" cy="307007"/>
          </a:xfrm>
          <a:prstGeom prst="rect">
            <a:avLst/>
          </a:prstGeom>
          <a:noFill/>
        </p:spPr>
        <p:txBody>
          <a:bodyPr wrap="square" rtlCol="0">
            <a:spAutoFit/>
          </a:bodyPr>
          <a:lstStyle/>
          <a:p>
            <a:pPr algn="ctr">
              <a:lnSpc>
                <a:spcPct val="130000"/>
              </a:lnSpc>
            </a:pPr>
            <a:r>
              <a:rPr lang="zh-CN" sz="1200" b="1" dirty="0">
                <a:solidFill>
                  <a:schemeClr val="tx1">
                    <a:lumMod val="75000"/>
                    <a:lumOff val="25000"/>
                  </a:schemeClr>
                </a:solidFill>
                <a:latin typeface="+mn-ea"/>
                <a:cs typeface="汉仪君黑-45简" panose="020B0604020202020204" charset="-122"/>
                <a:sym typeface="+mn-ea"/>
              </a:rPr>
              <a:t>图</a:t>
            </a:r>
            <a:r>
              <a:rPr lang="en-US" altLang="zh-CN" sz="1200" b="1" dirty="0">
                <a:solidFill>
                  <a:schemeClr val="tx1">
                    <a:lumMod val="75000"/>
                    <a:lumOff val="25000"/>
                  </a:schemeClr>
                </a:solidFill>
                <a:latin typeface="+mn-ea"/>
                <a:cs typeface="汉仪君黑-45简" panose="020B0604020202020204" charset="-122"/>
                <a:sym typeface="+mn-ea"/>
              </a:rPr>
              <a:t>3-5  </a:t>
            </a:r>
            <a:r>
              <a:rPr lang="zh-CN" altLang="en-US" sz="1200" b="1" dirty="0">
                <a:latin typeface="+mn-ea"/>
                <a:sym typeface="+mn-ea"/>
              </a:rPr>
              <a:t>偏好感知的行为内对比学习</a:t>
            </a:r>
          </a:p>
        </p:txBody>
      </p:sp>
      <p:sp>
        <p:nvSpPr>
          <p:cNvPr id="8" name="文本框 7">
            <a:extLst>
              <a:ext uri="{FF2B5EF4-FFF2-40B4-BE49-F238E27FC236}">
                <a16:creationId xmlns:a16="http://schemas.microsoft.com/office/drawing/2014/main" id="{9F82CE8D-5795-4239-9587-C5B1C484A94F}"/>
              </a:ext>
            </a:extLst>
          </p:cNvPr>
          <p:cNvSpPr txBox="1"/>
          <p:nvPr/>
        </p:nvSpPr>
        <p:spPr>
          <a:xfrm>
            <a:off x="464436" y="1409868"/>
            <a:ext cx="10601546" cy="400110"/>
          </a:xfrm>
          <a:prstGeom prst="rect">
            <a:avLst/>
          </a:prstGeom>
          <a:noFill/>
        </p:spPr>
        <p:txBody>
          <a:bodyPr wrap="square" rtlCol="0">
            <a:spAutoFit/>
          </a:bodyPr>
          <a:lstStyle/>
          <a:p>
            <a:r>
              <a:rPr lang="zh-CN" altLang="en-US" sz="2000" b="1" dirty="0">
                <a:solidFill>
                  <a:srgbClr val="000000"/>
                </a:solidFill>
                <a:latin typeface="华文中宋" panose="02010600040101010101" pitchFamily="2" charset="-122"/>
                <a:ea typeface="华文中宋" panose="02010600040101010101" pitchFamily="2" charset="-122"/>
              </a:rPr>
              <a:t>推荐模型：多行为有效信息融合</a:t>
            </a:r>
            <a:endParaRPr lang="zh-CN" altLang="en-US" sz="2000" b="1" dirty="0">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3306294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23FF93AD-B291-5347-AC70-D7287ABA5C8E}"/>
              </a:ext>
            </a:extLst>
          </p:cNvPr>
          <p:cNvSpPr>
            <a:spLocks noGrp="1"/>
          </p:cNvSpPr>
          <p:nvPr>
            <p:ph type="title"/>
          </p:nvPr>
        </p:nvSpPr>
        <p:spPr/>
        <p:txBody>
          <a:bodyPr>
            <a:normAutofit/>
          </a:bodyPr>
          <a:lstStyle/>
          <a:p>
            <a:r>
              <a:rPr kumimoji="1" lang="en-US" altLang="zh-CN" sz="3200" b="1" dirty="0">
                <a:latin typeface="华文中宋" panose="02010600040101010101" pitchFamily="2" charset="-122"/>
                <a:ea typeface="华文中宋" panose="02010600040101010101" pitchFamily="2" charset="-122"/>
              </a:rPr>
              <a:t>3.</a:t>
            </a:r>
            <a:r>
              <a:rPr kumimoji="1" lang="zh-CN" altLang="en-US" sz="3200" b="1" dirty="0">
                <a:latin typeface="华文中宋" panose="02010600040101010101" pitchFamily="2" charset="-122"/>
                <a:ea typeface="华文中宋" panose="02010600040101010101" pitchFamily="2" charset="-122"/>
              </a:rPr>
              <a:t>噪声感知与偏好提取的多行为推荐方法</a:t>
            </a:r>
            <a:endParaRPr kumimoji="1" lang="en-US" altLang="zh-CN" sz="3200" b="1" dirty="0">
              <a:latin typeface="华文中宋" panose="02010600040101010101" pitchFamily="2" charset="-122"/>
              <a:ea typeface="华文中宋" panose="02010600040101010101" pitchFamily="2" charset="-122"/>
            </a:endParaRPr>
          </a:p>
        </p:txBody>
      </p:sp>
      <p:sp>
        <p:nvSpPr>
          <p:cNvPr id="10" name="文本框 9">
            <a:extLst>
              <a:ext uri="{FF2B5EF4-FFF2-40B4-BE49-F238E27FC236}">
                <a16:creationId xmlns:a16="http://schemas.microsoft.com/office/drawing/2014/main" id="{50A4CD4F-4B29-4731-817E-69AB639A715D}"/>
              </a:ext>
            </a:extLst>
          </p:cNvPr>
          <p:cNvSpPr txBox="1"/>
          <p:nvPr/>
        </p:nvSpPr>
        <p:spPr>
          <a:xfrm>
            <a:off x="367406" y="1263430"/>
            <a:ext cx="10601546" cy="400110"/>
          </a:xfrm>
          <a:prstGeom prst="rect">
            <a:avLst/>
          </a:prstGeom>
          <a:noFill/>
        </p:spPr>
        <p:txBody>
          <a:bodyPr wrap="square" rtlCol="0">
            <a:spAutoFit/>
          </a:bodyPr>
          <a:lstStyle/>
          <a:p>
            <a:r>
              <a:rPr lang="zh-CN" altLang="en-US" sz="2000" b="1" dirty="0">
                <a:solidFill>
                  <a:srgbClr val="000000"/>
                </a:solidFill>
                <a:latin typeface="华文中宋" panose="02010600040101010101" pitchFamily="2" charset="-122"/>
                <a:ea typeface="华文中宋" panose="02010600040101010101" pitchFamily="2" charset="-122"/>
              </a:rPr>
              <a:t>实验与讨论</a:t>
            </a:r>
            <a:endParaRPr lang="zh-CN" altLang="en-US" sz="2000" b="1" dirty="0">
              <a:latin typeface="华文中宋" panose="02010600040101010101" pitchFamily="2" charset="-122"/>
              <a:ea typeface="华文中宋" panose="02010600040101010101" pitchFamily="2" charset="-122"/>
            </a:endParaRPr>
          </a:p>
        </p:txBody>
      </p:sp>
      <p:sp>
        <p:nvSpPr>
          <p:cNvPr id="11" name="内容占位符 1">
            <a:extLst>
              <a:ext uri="{FF2B5EF4-FFF2-40B4-BE49-F238E27FC236}">
                <a16:creationId xmlns:a16="http://schemas.microsoft.com/office/drawing/2014/main" id="{69410237-7B58-43DA-B608-B0A7F653E021}"/>
              </a:ext>
            </a:extLst>
          </p:cNvPr>
          <p:cNvSpPr>
            <a:spLocks noGrp="1"/>
          </p:cNvSpPr>
          <p:nvPr>
            <p:ph idx="1"/>
          </p:nvPr>
        </p:nvSpPr>
        <p:spPr>
          <a:xfrm>
            <a:off x="270377" y="1584971"/>
            <a:ext cx="9913385" cy="1860550"/>
          </a:xfrm>
        </p:spPr>
        <p:txBody>
          <a:bodyPr>
            <a:normAutofit/>
          </a:bodyPr>
          <a:lstStyle/>
          <a:p>
            <a:r>
              <a:rPr lang="zh-CN" altLang="en-US" dirty="0">
                <a:solidFill>
                  <a:schemeClr val="tx1"/>
                </a:solidFill>
                <a:effectLst/>
                <a:latin typeface="华文中宋" panose="02010600040101010101" pitchFamily="2" charset="-122"/>
                <a:ea typeface="华文中宋" panose="02010600040101010101" pitchFamily="2" charset="-122"/>
              </a:rPr>
              <a:t>数据集：</a:t>
            </a:r>
            <a:r>
              <a:rPr lang="zh-CN" altLang="en-US" dirty="0">
                <a:latin typeface="华文中宋" panose="02010600040101010101" pitchFamily="2" charset="-122"/>
                <a:ea typeface="华文中宋" panose="02010600040101010101" pitchFamily="2" charset="-122"/>
              </a:rPr>
              <a:t>使用了三个公开的数据集</a:t>
            </a:r>
            <a:r>
              <a:rPr lang="zh-CN" altLang="en-US" dirty="0">
                <a:solidFill>
                  <a:schemeClr val="tx1"/>
                </a:solidFill>
                <a:effectLst/>
                <a:latin typeface="华文中宋" panose="02010600040101010101" pitchFamily="2" charset="-122"/>
                <a:ea typeface="华文中宋" panose="02010600040101010101" pitchFamily="2" charset="-122"/>
              </a:rPr>
              <a:t>：</a:t>
            </a:r>
            <a:endParaRPr lang="en-US" altLang="zh-CN" dirty="0">
              <a:solidFill>
                <a:schemeClr val="tx1"/>
              </a:solidFill>
              <a:effectLst/>
              <a:latin typeface="华文中宋" panose="02010600040101010101" pitchFamily="2" charset="-122"/>
              <a:ea typeface="华文中宋" panose="02010600040101010101" pitchFamily="2" charset="-122"/>
            </a:endParaRPr>
          </a:p>
        </p:txBody>
      </p:sp>
      <p:sp>
        <p:nvSpPr>
          <p:cNvPr id="12" name="内容占位符 1">
            <a:extLst>
              <a:ext uri="{FF2B5EF4-FFF2-40B4-BE49-F238E27FC236}">
                <a16:creationId xmlns:a16="http://schemas.microsoft.com/office/drawing/2014/main" id="{D5BDD07D-3070-4EC1-BE7C-B9CB4EE86089}"/>
              </a:ext>
            </a:extLst>
          </p:cNvPr>
          <p:cNvSpPr txBox="1">
            <a:spLocks/>
          </p:cNvSpPr>
          <p:nvPr/>
        </p:nvSpPr>
        <p:spPr>
          <a:xfrm>
            <a:off x="270377" y="4179875"/>
            <a:ext cx="11480636" cy="2408993"/>
          </a:xfrm>
          <a:prstGeom prst="rect">
            <a:avLst/>
          </a:prstGeom>
        </p:spPr>
        <p:txBody>
          <a:bodyPr vert="horz" lIns="91440" tIns="45720" rIns="91440" bIns="45720" rtlCol="0" anchor="t">
            <a:normAutofit fontScale="92500"/>
          </a:bodyPr>
          <a:lstStyle>
            <a:lvl1pPr marL="305992" indent="-305992"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29984" indent="-305992"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899978" indent="-269993"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1969" indent="-233994"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1960" indent="-233994"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899953"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199945"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38"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930"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zh-CN" altLang="en-US" b="1" dirty="0">
                <a:solidFill>
                  <a:schemeClr val="tx1"/>
                </a:solidFill>
                <a:latin typeface="华文中宋" panose="02010600040101010101" pitchFamily="2" charset="-122"/>
                <a:ea typeface="华文中宋" panose="02010600040101010101" pitchFamily="2" charset="-122"/>
              </a:rPr>
              <a:t>对比方法：</a:t>
            </a:r>
            <a:endParaRPr lang="en-US" altLang="zh-CN" b="1" dirty="0">
              <a:solidFill>
                <a:schemeClr val="tx1"/>
              </a:solidFill>
              <a:latin typeface="华文中宋" panose="02010600040101010101" pitchFamily="2" charset="-122"/>
              <a:ea typeface="华文中宋" panose="02010600040101010101" pitchFamily="2" charset="-122"/>
            </a:endParaRPr>
          </a:p>
          <a:p>
            <a:r>
              <a:rPr lang="zh-CN" altLang="en-US" b="1" dirty="0">
                <a:latin typeface="华文中宋" panose="02010600040101010101" pitchFamily="2" charset="-122"/>
                <a:ea typeface="华文中宋" panose="02010600040101010101" pitchFamily="2" charset="-122"/>
              </a:rPr>
              <a:t>单行为推荐模型：仅使用目标行为进行训练，包括</a:t>
            </a:r>
            <a:r>
              <a:rPr lang="en-US" altLang="zh-CN" b="1" dirty="0">
                <a:latin typeface="+mj-lt"/>
                <a:ea typeface="华文中宋" panose="02010600040101010101" pitchFamily="2" charset="-122"/>
              </a:rPr>
              <a:t>NGCF[2]</a:t>
            </a:r>
            <a:r>
              <a:rPr lang="zh-CN" altLang="en-US" b="1" dirty="0">
                <a:latin typeface="华文中宋" panose="02010600040101010101" pitchFamily="2" charset="-122"/>
                <a:ea typeface="华文中宋" panose="02010600040101010101" pitchFamily="2" charset="-122"/>
              </a:rPr>
              <a:t>和</a:t>
            </a:r>
            <a:r>
              <a:rPr lang="en-US" altLang="zh-CN" b="1" dirty="0" err="1">
                <a:latin typeface="+mj-lt"/>
                <a:ea typeface="华文中宋" panose="02010600040101010101" pitchFamily="2" charset="-122"/>
              </a:rPr>
              <a:t>LightGCN</a:t>
            </a:r>
            <a:r>
              <a:rPr lang="en-US" altLang="zh-CN" b="1" dirty="0">
                <a:latin typeface="+mj-lt"/>
                <a:ea typeface="华文中宋" panose="02010600040101010101" pitchFamily="2" charset="-122"/>
              </a:rPr>
              <a:t>[3]</a:t>
            </a:r>
            <a:r>
              <a:rPr lang="zh-CN" altLang="en-US" b="1" dirty="0">
                <a:latin typeface="华文中宋" panose="02010600040101010101" pitchFamily="2" charset="-122"/>
                <a:ea typeface="华文中宋" panose="02010600040101010101" pitchFamily="2" charset="-122"/>
              </a:rPr>
              <a:t>。本课题还进行了额外的单行为推荐实验。为了缓解目标行为数据不足的影响，我们融合了所有行为的数据来构建单行为模型，分别命名为</a:t>
            </a:r>
            <a:r>
              <a:rPr lang="en-US" altLang="zh-CN" b="1" dirty="0" err="1">
                <a:latin typeface="+mj-lt"/>
                <a:ea typeface="华文中宋" panose="02010600040101010101" pitchFamily="2" charset="-122"/>
              </a:rPr>
              <a:t>NGCF_all</a:t>
            </a:r>
            <a:r>
              <a:rPr lang="zh-CN" altLang="en-US" b="1" dirty="0">
                <a:latin typeface="华文中宋" panose="02010600040101010101" pitchFamily="2" charset="-122"/>
                <a:ea typeface="华文中宋" panose="02010600040101010101" pitchFamily="2" charset="-122"/>
              </a:rPr>
              <a:t>和</a:t>
            </a:r>
            <a:r>
              <a:rPr lang="en-US" altLang="zh-CN" b="1" dirty="0" err="1">
                <a:latin typeface="+mj-lt"/>
                <a:ea typeface="华文中宋" panose="02010600040101010101" pitchFamily="2" charset="-122"/>
              </a:rPr>
              <a:t>LightGCN_all</a:t>
            </a:r>
            <a:r>
              <a:rPr lang="zh-CN" altLang="en-US" b="1" dirty="0">
                <a:latin typeface="华文中宋" panose="02010600040101010101" pitchFamily="2" charset="-122"/>
                <a:ea typeface="华文中宋" panose="02010600040101010101" pitchFamily="2" charset="-122"/>
              </a:rPr>
              <a:t>。 </a:t>
            </a:r>
            <a:endParaRPr lang="en-US" altLang="zh-CN" b="1" dirty="0">
              <a:latin typeface="华文中宋" panose="02010600040101010101" pitchFamily="2" charset="-122"/>
              <a:ea typeface="华文中宋" panose="02010600040101010101" pitchFamily="2" charset="-122"/>
            </a:endParaRPr>
          </a:p>
          <a:p>
            <a:r>
              <a:rPr lang="zh-CN" altLang="en-US" b="1" dirty="0">
                <a:latin typeface="华文中宋" panose="02010600040101010101" pitchFamily="2" charset="-122"/>
                <a:ea typeface="华文中宋" panose="02010600040101010101" pitchFamily="2" charset="-122"/>
              </a:rPr>
              <a:t>去噪推荐模型：包括一种面向单行为推荐的去噪方法</a:t>
            </a:r>
            <a:r>
              <a:rPr lang="en-US" altLang="zh-CN" b="1" dirty="0" err="1">
                <a:latin typeface="+mj-lt"/>
                <a:ea typeface="华文中宋" panose="02010600040101010101" pitchFamily="2" charset="-122"/>
              </a:rPr>
              <a:t>GraphDA</a:t>
            </a:r>
            <a:r>
              <a:rPr lang="en-US" altLang="zh-CN" b="1" dirty="0">
                <a:latin typeface="+mj-lt"/>
                <a:ea typeface="华文中宋" panose="02010600040101010101" pitchFamily="2" charset="-122"/>
              </a:rPr>
              <a:t>[4]</a:t>
            </a:r>
            <a:r>
              <a:rPr lang="zh-CN" altLang="en-US" b="1" dirty="0">
                <a:latin typeface="华文中宋" panose="02010600040101010101" pitchFamily="2" charset="-122"/>
                <a:ea typeface="华文中宋" panose="02010600040101010101" pitchFamily="2" charset="-122"/>
              </a:rPr>
              <a:t>，以及一种面向多行为推荐的去噪方法</a:t>
            </a:r>
            <a:r>
              <a:rPr lang="en-US" altLang="zh-CN" b="1" dirty="0">
                <a:latin typeface="+mj-lt"/>
                <a:ea typeface="华文中宋" panose="02010600040101010101" pitchFamily="2" charset="-122"/>
              </a:rPr>
              <a:t>DPT[5]</a:t>
            </a:r>
            <a:r>
              <a:rPr lang="zh-CN" altLang="en-US" b="1" dirty="0">
                <a:latin typeface="华文中宋" panose="02010600040101010101" pitchFamily="2" charset="-122"/>
                <a:ea typeface="华文中宋" panose="02010600040101010101" pitchFamily="2" charset="-122"/>
              </a:rPr>
              <a:t>。 </a:t>
            </a:r>
            <a:endParaRPr lang="en-US" altLang="zh-CN" b="1" dirty="0">
              <a:latin typeface="华文中宋" panose="02010600040101010101" pitchFamily="2" charset="-122"/>
              <a:ea typeface="华文中宋" panose="02010600040101010101" pitchFamily="2" charset="-122"/>
            </a:endParaRPr>
          </a:p>
          <a:p>
            <a:r>
              <a:rPr lang="zh-CN" altLang="en-US" b="1" dirty="0">
                <a:latin typeface="华文中宋" panose="02010600040101010101" pitchFamily="2" charset="-122"/>
                <a:ea typeface="华文中宋" panose="02010600040101010101" pitchFamily="2" charset="-122"/>
              </a:rPr>
              <a:t>多行为推荐模型 ：包括 </a:t>
            </a:r>
            <a:r>
              <a:rPr lang="en-US" altLang="zh-CN" b="1" dirty="0">
                <a:latin typeface="+mj-lt"/>
                <a:ea typeface="华文中宋" panose="02010600040101010101" pitchFamily="2" charset="-122"/>
              </a:rPr>
              <a:t>S-</a:t>
            </a:r>
            <a:r>
              <a:rPr lang="en-US" altLang="zh-CN" b="1" dirty="0" err="1">
                <a:latin typeface="+mj-lt"/>
                <a:ea typeface="华文中宋" panose="02010600040101010101" pitchFamily="2" charset="-122"/>
              </a:rPr>
              <a:t>MBRec</a:t>
            </a:r>
            <a:r>
              <a:rPr lang="en-US" altLang="zh-CN" b="1" dirty="0">
                <a:latin typeface="+mj-lt"/>
                <a:ea typeface="华文中宋" panose="02010600040101010101" pitchFamily="2" charset="-122"/>
              </a:rPr>
              <a:t>[6]</a:t>
            </a:r>
            <a:r>
              <a:rPr lang="zh-CN" altLang="en-US" b="1" dirty="0">
                <a:latin typeface="+mj-lt"/>
                <a:ea typeface="华文中宋" panose="02010600040101010101" pitchFamily="2" charset="-122"/>
              </a:rPr>
              <a:t>、</a:t>
            </a:r>
            <a:r>
              <a:rPr lang="en-US" altLang="zh-CN" b="1" dirty="0">
                <a:latin typeface="+mj-lt"/>
                <a:ea typeface="华文中宋" panose="02010600040101010101" pitchFamily="2" charset="-122"/>
              </a:rPr>
              <a:t>GHCF[7]</a:t>
            </a:r>
            <a:r>
              <a:rPr lang="zh-CN" altLang="en-US" b="1" dirty="0">
                <a:latin typeface="+mj-lt"/>
                <a:ea typeface="华文中宋" panose="02010600040101010101" pitchFamily="2" charset="-122"/>
              </a:rPr>
              <a:t>、</a:t>
            </a:r>
            <a:r>
              <a:rPr lang="en-US" altLang="zh-CN" b="1" dirty="0">
                <a:latin typeface="+mj-lt"/>
                <a:ea typeface="华文中宋" panose="02010600040101010101" pitchFamily="2" charset="-122"/>
              </a:rPr>
              <a:t>MBSSL[8] </a:t>
            </a:r>
            <a:r>
              <a:rPr lang="zh-CN" altLang="en-US" b="1" dirty="0">
                <a:latin typeface="华文中宋" panose="02010600040101010101" pitchFamily="2" charset="-122"/>
                <a:ea typeface="华文中宋" panose="02010600040101010101" pitchFamily="2" charset="-122"/>
              </a:rPr>
              <a:t>和 </a:t>
            </a:r>
            <a:r>
              <a:rPr lang="en-US" altLang="zh-CN" b="1" dirty="0">
                <a:latin typeface="+mj-lt"/>
                <a:ea typeface="华文中宋" panose="02010600040101010101" pitchFamily="2" charset="-122"/>
              </a:rPr>
              <a:t>POGCN[9]</a:t>
            </a:r>
            <a:r>
              <a:rPr lang="zh-CN" altLang="en-US" b="1" dirty="0">
                <a:latin typeface="华文中宋" panose="02010600040101010101" pitchFamily="2" charset="-122"/>
                <a:ea typeface="华文中宋" panose="02010600040101010101" pitchFamily="2" charset="-122"/>
              </a:rPr>
              <a:t>。</a:t>
            </a:r>
            <a:endParaRPr lang="en-US" altLang="zh-CN" b="1" dirty="0">
              <a:latin typeface="华文中宋" panose="02010600040101010101" pitchFamily="2" charset="-122"/>
              <a:ea typeface="华文中宋" panose="02010600040101010101" pitchFamily="2" charset="-122"/>
            </a:endParaRPr>
          </a:p>
        </p:txBody>
      </p:sp>
      <p:pic>
        <p:nvPicPr>
          <p:cNvPr id="13" name="图片 12">
            <a:extLst>
              <a:ext uri="{FF2B5EF4-FFF2-40B4-BE49-F238E27FC236}">
                <a16:creationId xmlns:a16="http://schemas.microsoft.com/office/drawing/2014/main" id="{1523DE25-83E9-48B6-9C90-FB9E212575E6}"/>
              </a:ext>
            </a:extLst>
          </p:cNvPr>
          <p:cNvPicPr>
            <a:picLocks noChangeAspect="1"/>
          </p:cNvPicPr>
          <p:nvPr/>
        </p:nvPicPr>
        <p:blipFill>
          <a:blip r:embed="rId3"/>
          <a:stretch>
            <a:fillRect/>
          </a:stretch>
        </p:blipFill>
        <p:spPr>
          <a:xfrm>
            <a:off x="1683442" y="1951457"/>
            <a:ext cx="7792537" cy="2429214"/>
          </a:xfrm>
          <a:prstGeom prst="rect">
            <a:avLst/>
          </a:prstGeom>
        </p:spPr>
      </p:pic>
    </p:spTree>
    <p:extLst>
      <p:ext uri="{BB962C8B-B14F-4D97-AF65-F5344CB8AC3E}">
        <p14:creationId xmlns:p14="http://schemas.microsoft.com/office/powerpoint/2010/main" val="19953222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23FF93AD-B291-5347-AC70-D7287ABA5C8E}"/>
              </a:ext>
            </a:extLst>
          </p:cNvPr>
          <p:cNvSpPr>
            <a:spLocks noGrp="1"/>
          </p:cNvSpPr>
          <p:nvPr>
            <p:ph type="title"/>
          </p:nvPr>
        </p:nvSpPr>
        <p:spPr/>
        <p:txBody>
          <a:bodyPr>
            <a:normAutofit/>
          </a:bodyPr>
          <a:lstStyle/>
          <a:p>
            <a:r>
              <a:rPr kumimoji="1" lang="en-US" altLang="zh-CN" sz="3200" b="1" dirty="0">
                <a:latin typeface="华文中宋" panose="02010600040101010101" pitchFamily="2" charset="-122"/>
                <a:ea typeface="华文中宋" panose="02010600040101010101" pitchFamily="2" charset="-122"/>
              </a:rPr>
              <a:t>3.</a:t>
            </a:r>
            <a:r>
              <a:rPr kumimoji="1" lang="zh-CN" altLang="en-US" sz="3200" b="1" dirty="0">
                <a:latin typeface="华文中宋" panose="02010600040101010101" pitchFamily="2" charset="-122"/>
                <a:ea typeface="华文中宋" panose="02010600040101010101" pitchFamily="2" charset="-122"/>
              </a:rPr>
              <a:t>噪声感知与偏好提取的多行为推荐方法</a:t>
            </a:r>
            <a:endParaRPr kumimoji="1" lang="en-US" altLang="zh-CN" sz="3200" b="1" dirty="0">
              <a:latin typeface="华文中宋" panose="02010600040101010101" pitchFamily="2" charset="-122"/>
              <a:ea typeface="华文中宋" panose="02010600040101010101" pitchFamily="2" charset="-122"/>
            </a:endParaRPr>
          </a:p>
        </p:txBody>
      </p:sp>
      <p:sp>
        <p:nvSpPr>
          <p:cNvPr id="14" name="文本框 13">
            <a:extLst>
              <a:ext uri="{FF2B5EF4-FFF2-40B4-BE49-F238E27FC236}">
                <a16:creationId xmlns:a16="http://schemas.microsoft.com/office/drawing/2014/main" id="{9820D2CA-E2D2-F56F-91D1-34DE3E999E0B}"/>
              </a:ext>
            </a:extLst>
          </p:cNvPr>
          <p:cNvSpPr txBox="1"/>
          <p:nvPr/>
        </p:nvSpPr>
        <p:spPr>
          <a:xfrm>
            <a:off x="561754" y="1366100"/>
            <a:ext cx="10601546" cy="400110"/>
          </a:xfrm>
          <a:prstGeom prst="rect">
            <a:avLst/>
          </a:prstGeom>
          <a:noFill/>
        </p:spPr>
        <p:txBody>
          <a:bodyPr wrap="square" rtlCol="0">
            <a:spAutoFit/>
          </a:bodyPr>
          <a:lstStyle/>
          <a:p>
            <a:r>
              <a:rPr lang="zh-CN" altLang="en-US" sz="2000" b="1" dirty="0">
                <a:solidFill>
                  <a:srgbClr val="000000"/>
                </a:solidFill>
                <a:latin typeface="华文中宋" panose="02010600040101010101" pitchFamily="2" charset="-122"/>
                <a:ea typeface="华文中宋" panose="02010600040101010101" pitchFamily="2" charset="-122"/>
              </a:rPr>
              <a:t>性能表现</a:t>
            </a:r>
            <a:endParaRPr lang="zh-CN" altLang="en-US" sz="2000" b="1" dirty="0">
              <a:latin typeface="华文中宋" panose="02010600040101010101" pitchFamily="2" charset="-122"/>
              <a:ea typeface="华文中宋" panose="02010600040101010101" pitchFamily="2" charset="-122"/>
            </a:endParaRPr>
          </a:p>
        </p:txBody>
      </p:sp>
      <p:pic>
        <p:nvPicPr>
          <p:cNvPr id="6" name="图片 5">
            <a:extLst>
              <a:ext uri="{FF2B5EF4-FFF2-40B4-BE49-F238E27FC236}">
                <a16:creationId xmlns:a16="http://schemas.microsoft.com/office/drawing/2014/main" id="{D0BA031A-ED8B-4652-81EF-2FA2161965B7}"/>
              </a:ext>
            </a:extLst>
          </p:cNvPr>
          <p:cNvPicPr>
            <a:picLocks noChangeAspect="1"/>
          </p:cNvPicPr>
          <p:nvPr/>
        </p:nvPicPr>
        <p:blipFill>
          <a:blip r:embed="rId2"/>
          <a:stretch>
            <a:fillRect/>
          </a:stretch>
        </p:blipFill>
        <p:spPr>
          <a:xfrm>
            <a:off x="1732921" y="396044"/>
            <a:ext cx="9623898" cy="4695747"/>
          </a:xfrm>
          <a:prstGeom prst="rect">
            <a:avLst/>
          </a:prstGeom>
        </p:spPr>
      </p:pic>
      <p:sp>
        <p:nvSpPr>
          <p:cNvPr id="8" name="内容占位符 1">
            <a:extLst>
              <a:ext uri="{FF2B5EF4-FFF2-40B4-BE49-F238E27FC236}">
                <a16:creationId xmlns:a16="http://schemas.microsoft.com/office/drawing/2014/main" id="{D4B5A1F2-2E62-4C1A-967F-31ABBBE8156E}"/>
              </a:ext>
            </a:extLst>
          </p:cNvPr>
          <p:cNvSpPr txBox="1">
            <a:spLocks/>
          </p:cNvSpPr>
          <p:nvPr/>
        </p:nvSpPr>
        <p:spPr>
          <a:xfrm>
            <a:off x="835181" y="5091791"/>
            <a:ext cx="9913385" cy="1282265"/>
          </a:xfrm>
          <a:prstGeom prst="rect">
            <a:avLst/>
          </a:prstGeom>
        </p:spPr>
        <p:txBody>
          <a:bodyPr vert="horz" lIns="91440" tIns="45720" rIns="91440" bIns="45720" rtlCol="0" anchor="t">
            <a:normAutofit lnSpcReduction="10000"/>
          </a:bodyPr>
          <a:lstStyle>
            <a:lvl1pPr marL="305992" indent="-305992"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29984" indent="-305992"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899978" indent="-269993"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1969" indent="-233994"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1960" indent="-233994"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899953"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199945"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38"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930"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zh-CN" altLang="en-US" dirty="0">
                <a:latin typeface="华文中宋" panose="02010600040101010101" pitchFamily="2" charset="-122"/>
                <a:ea typeface="华文中宋" panose="02010600040101010101" pitchFamily="2" charset="-122"/>
              </a:rPr>
              <a:t>我们提出的方法在</a:t>
            </a:r>
            <a:r>
              <a:rPr lang="en-US" altLang="zh-CN" dirty="0">
                <a:latin typeface="+mj-lt"/>
                <a:ea typeface="华文中宋" panose="02010600040101010101" pitchFamily="2" charset="-122"/>
              </a:rPr>
              <a:t>HR</a:t>
            </a:r>
            <a:r>
              <a:rPr lang="zh-CN" altLang="en-US" dirty="0">
                <a:latin typeface="华文中宋" panose="02010600040101010101" pitchFamily="2" charset="-122"/>
                <a:ea typeface="华文中宋" panose="02010600040101010101" pitchFamily="2" charset="-122"/>
              </a:rPr>
              <a:t>与</a:t>
            </a:r>
            <a:r>
              <a:rPr lang="en-US" altLang="zh-CN" dirty="0">
                <a:latin typeface="+mj-lt"/>
                <a:ea typeface="华文中宋" panose="02010600040101010101" pitchFamily="2" charset="-122"/>
              </a:rPr>
              <a:t>NDCG</a:t>
            </a:r>
            <a:r>
              <a:rPr lang="zh-CN" altLang="en-US" dirty="0">
                <a:latin typeface="华文中宋" panose="02010600040101010101" pitchFamily="2" charset="-122"/>
                <a:ea typeface="华文中宋" panose="02010600040101010101" pitchFamily="2" charset="-122"/>
              </a:rPr>
              <a:t>指标中都表现优异，展示了其在多行为推荐上的领先性能。 </a:t>
            </a:r>
            <a:endParaRPr lang="en-US" altLang="zh-CN" dirty="0">
              <a:latin typeface="华文中宋" panose="02010600040101010101" pitchFamily="2" charset="-122"/>
              <a:ea typeface="华文中宋" panose="02010600040101010101" pitchFamily="2" charset="-122"/>
            </a:endParaRPr>
          </a:p>
          <a:p>
            <a:r>
              <a:rPr lang="zh-CN" altLang="en-US" dirty="0">
                <a:latin typeface="华文中宋" panose="02010600040101010101" pitchFamily="2" charset="-122"/>
                <a:ea typeface="华文中宋" panose="02010600040101010101" pitchFamily="2" charset="-122"/>
              </a:rPr>
              <a:t>单行为推荐模型面对多行为数据的推荐效果远不如专为多行为数据设计的推荐系统。</a:t>
            </a:r>
            <a:endParaRPr lang="en-US" altLang="zh-CN" dirty="0">
              <a:solidFill>
                <a:schemeClr val="tx1"/>
              </a:solidFill>
              <a:latin typeface="华文中宋" panose="02010600040101010101" pitchFamily="2" charset="-122"/>
              <a:ea typeface="华文中宋" panose="02010600040101010101" pitchFamily="2" charset="-122"/>
            </a:endParaRPr>
          </a:p>
          <a:p>
            <a:r>
              <a:rPr lang="zh-CN" altLang="en-US" dirty="0">
                <a:solidFill>
                  <a:schemeClr val="tx1"/>
                </a:solidFill>
                <a:latin typeface="华文中宋" panose="02010600040101010101" pitchFamily="2" charset="-122"/>
                <a:ea typeface="华文中宋" panose="02010600040101010101" pitchFamily="2" charset="-122"/>
              </a:rPr>
              <a:t>我们的模型效果好于只使用了单行为推荐去噪方法对多行为的辅助行为独立地去噪的</a:t>
            </a:r>
            <a:r>
              <a:rPr lang="en-US" altLang="zh-CN" dirty="0">
                <a:solidFill>
                  <a:schemeClr val="tx1"/>
                </a:solidFill>
                <a:latin typeface="+mj-lt"/>
                <a:ea typeface="华文中宋" panose="02010600040101010101" pitchFamily="2" charset="-122"/>
              </a:rPr>
              <a:t>DPT</a:t>
            </a:r>
            <a:endParaRPr lang="zh-CN" altLang="en-US" dirty="0">
              <a:solidFill>
                <a:schemeClr val="tx1"/>
              </a:solidFill>
              <a:latin typeface="+mj-lt"/>
              <a:ea typeface="华文中宋" panose="02010600040101010101" pitchFamily="2" charset="-122"/>
            </a:endParaRPr>
          </a:p>
        </p:txBody>
      </p:sp>
    </p:spTree>
    <p:extLst>
      <p:ext uri="{BB962C8B-B14F-4D97-AF65-F5344CB8AC3E}">
        <p14:creationId xmlns:p14="http://schemas.microsoft.com/office/powerpoint/2010/main" val="37085266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23FF93AD-B291-5347-AC70-D7287ABA5C8E}"/>
              </a:ext>
            </a:extLst>
          </p:cNvPr>
          <p:cNvSpPr>
            <a:spLocks noGrp="1"/>
          </p:cNvSpPr>
          <p:nvPr>
            <p:ph type="title"/>
          </p:nvPr>
        </p:nvSpPr>
        <p:spPr/>
        <p:txBody>
          <a:bodyPr>
            <a:normAutofit/>
          </a:bodyPr>
          <a:lstStyle/>
          <a:p>
            <a:r>
              <a:rPr kumimoji="1" lang="en-US" altLang="zh-CN" sz="3200" b="1" dirty="0">
                <a:latin typeface="华文中宋" panose="02010600040101010101" pitchFamily="2" charset="-122"/>
                <a:ea typeface="华文中宋" panose="02010600040101010101" pitchFamily="2" charset="-122"/>
              </a:rPr>
              <a:t>3.</a:t>
            </a:r>
            <a:r>
              <a:rPr kumimoji="1" lang="zh-CN" altLang="en-US" sz="3200" b="1" dirty="0">
                <a:latin typeface="华文中宋" panose="02010600040101010101" pitchFamily="2" charset="-122"/>
                <a:ea typeface="华文中宋" panose="02010600040101010101" pitchFamily="2" charset="-122"/>
              </a:rPr>
              <a:t>噪声感知与偏好提取的多行为推荐方法</a:t>
            </a:r>
            <a:endParaRPr kumimoji="1" lang="en-US" altLang="zh-CN" sz="3200" b="1" dirty="0">
              <a:latin typeface="华文中宋" panose="02010600040101010101" pitchFamily="2" charset="-122"/>
              <a:ea typeface="华文中宋" panose="02010600040101010101" pitchFamily="2" charset="-122"/>
            </a:endParaRPr>
          </a:p>
        </p:txBody>
      </p:sp>
      <p:sp>
        <p:nvSpPr>
          <p:cNvPr id="14" name="文本框 13">
            <a:extLst>
              <a:ext uri="{FF2B5EF4-FFF2-40B4-BE49-F238E27FC236}">
                <a16:creationId xmlns:a16="http://schemas.microsoft.com/office/drawing/2014/main" id="{9820D2CA-E2D2-F56F-91D1-34DE3E999E0B}"/>
              </a:ext>
            </a:extLst>
          </p:cNvPr>
          <p:cNvSpPr txBox="1"/>
          <p:nvPr/>
        </p:nvSpPr>
        <p:spPr>
          <a:xfrm>
            <a:off x="561754" y="1366100"/>
            <a:ext cx="10601546" cy="400110"/>
          </a:xfrm>
          <a:prstGeom prst="rect">
            <a:avLst/>
          </a:prstGeom>
          <a:noFill/>
        </p:spPr>
        <p:txBody>
          <a:bodyPr wrap="square" rtlCol="0">
            <a:spAutoFit/>
          </a:bodyPr>
          <a:lstStyle/>
          <a:p>
            <a:r>
              <a:rPr lang="zh-CN" altLang="en-US" sz="2000" b="1" dirty="0">
                <a:solidFill>
                  <a:srgbClr val="000000"/>
                </a:solidFill>
                <a:latin typeface="华文中宋" panose="02010600040101010101" pitchFamily="2" charset="-122"/>
                <a:ea typeface="华文中宋" panose="02010600040101010101" pitchFamily="2" charset="-122"/>
              </a:rPr>
              <a:t>消融实验：</a:t>
            </a:r>
            <a:endParaRPr lang="zh-CN" altLang="en-US" sz="2000" b="1" dirty="0">
              <a:latin typeface="华文中宋" panose="02010600040101010101" pitchFamily="2" charset="-122"/>
              <a:ea typeface="华文中宋" panose="02010600040101010101" pitchFamily="2" charset="-122"/>
            </a:endParaRPr>
          </a:p>
        </p:txBody>
      </p:sp>
      <mc:AlternateContent xmlns:mc="http://schemas.openxmlformats.org/markup-compatibility/2006" xmlns:a14="http://schemas.microsoft.com/office/drawing/2010/main">
        <mc:Choice Requires="a14">
          <p:sp>
            <p:nvSpPr>
              <p:cNvPr id="5" name="内容占位符 1">
                <a:extLst>
                  <a:ext uri="{FF2B5EF4-FFF2-40B4-BE49-F238E27FC236}">
                    <a16:creationId xmlns:a16="http://schemas.microsoft.com/office/drawing/2014/main" id="{D8A79CC3-CAEA-4305-0F69-EECB7DB878A1}"/>
                  </a:ext>
                </a:extLst>
              </p:cNvPr>
              <p:cNvSpPr txBox="1">
                <a:spLocks/>
              </p:cNvSpPr>
              <p:nvPr/>
            </p:nvSpPr>
            <p:spPr>
              <a:xfrm>
                <a:off x="192555" y="3825661"/>
                <a:ext cx="12603168" cy="2503650"/>
              </a:xfrm>
              <a:prstGeom prst="rect">
                <a:avLst/>
              </a:prstGeom>
            </p:spPr>
            <p:txBody>
              <a:bodyPr vert="horz" lIns="91440" tIns="45720" rIns="91440" bIns="45720" rtlCol="0" anchor="t">
                <a:normAutofit fontScale="92500" lnSpcReduction="20000"/>
              </a:bodyPr>
              <a:lstStyle>
                <a:lvl1pPr marL="305992" indent="-305992"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29984" indent="-305992"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899978" indent="-269993"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1969" indent="-233994"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1960" indent="-233994"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899953"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199945"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38"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930"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zh-CN" altLang="en-US" dirty="0">
                    <a:solidFill>
                      <a:schemeClr val="tx1"/>
                    </a:solidFill>
                    <a:latin typeface="华文中宋" panose="02010600040101010101" pitchFamily="2" charset="-122"/>
                    <a:ea typeface="华文中宋" panose="02010600040101010101" pitchFamily="2" charset="-122"/>
                  </a:rPr>
                  <a:t>去除行为内加权</a:t>
                </a:r>
                <a:r>
                  <a:rPr lang="en-US" altLang="zh-CN" dirty="0">
                    <a:solidFill>
                      <a:schemeClr val="tx1"/>
                    </a:solidFill>
                    <a:latin typeface="+mj-lt"/>
                    <a:ea typeface="华文中宋" panose="02010600040101010101" pitchFamily="2" charset="-122"/>
                  </a:rPr>
                  <a:t>(w/o Inter-Weighting)</a:t>
                </a:r>
              </a:p>
              <a:p>
                <a:r>
                  <a:rPr lang="zh-CN" altLang="en-US" dirty="0">
                    <a:solidFill>
                      <a:schemeClr val="tx1"/>
                    </a:solidFill>
                    <a:latin typeface="华文中宋" panose="02010600040101010101" pitchFamily="2" charset="-122"/>
                    <a:ea typeface="华文中宋" panose="02010600040101010101" pitchFamily="2" charset="-122"/>
                  </a:rPr>
                  <a:t>去除因果推断模型计算行为强度，而是人工设定</a:t>
                </a:r>
                <a:r>
                  <a:rPr lang="en-US" altLang="zh-CN" dirty="0">
                    <a:solidFill>
                      <a:schemeClr val="tx1"/>
                    </a:solidFill>
                    <a:latin typeface="+mj-lt"/>
                    <a:ea typeface="华文中宋" panose="02010600040101010101" pitchFamily="2" charset="-122"/>
                  </a:rPr>
                  <a:t>(w/o Casual Inference)</a:t>
                </a:r>
              </a:p>
              <a:p>
                <a:r>
                  <a:rPr lang="zh-CN" altLang="en-US" dirty="0">
                    <a:solidFill>
                      <a:schemeClr val="tx1"/>
                    </a:solidFill>
                    <a:latin typeface="华文中宋" panose="02010600040101010101" pitchFamily="2" charset="-122"/>
                    <a:ea typeface="华文中宋" panose="02010600040101010101" pitchFamily="2" charset="-122"/>
                  </a:rPr>
                  <a:t>去除行为间加权</a:t>
                </a:r>
                <a:r>
                  <a:rPr lang="en-US" altLang="zh-CN" dirty="0">
                    <a:solidFill>
                      <a:schemeClr val="tx1"/>
                    </a:solidFill>
                    <a:latin typeface="+mj-lt"/>
                    <a:ea typeface="华文中宋" panose="02010600040101010101" pitchFamily="2" charset="-122"/>
                  </a:rPr>
                  <a:t>(w/o Intra-Weighting)</a:t>
                </a:r>
              </a:p>
              <a:p>
                <a:r>
                  <a:rPr lang="zh-CN" altLang="en-US" dirty="0">
                    <a:solidFill>
                      <a:schemeClr val="tx1"/>
                    </a:solidFill>
                    <a:latin typeface="华文中宋" panose="02010600040101010101" pitchFamily="2" charset="-122"/>
                    <a:ea typeface="华文中宋" panose="02010600040101010101" pitchFamily="2" charset="-122"/>
                  </a:rPr>
                  <a:t>去除辅助行为去噪</a:t>
                </a:r>
                <a:r>
                  <a:rPr lang="en-US" altLang="zh-CN" dirty="0">
                    <a:solidFill>
                      <a:schemeClr val="tx1"/>
                    </a:solidFill>
                    <a:latin typeface="+mj-lt"/>
                    <a:ea typeface="华文中宋" panose="02010600040101010101" pitchFamily="2" charset="-122"/>
                  </a:rPr>
                  <a:t>(w/o Denoising)</a:t>
                </a:r>
              </a:p>
              <a:p>
                <a:r>
                  <a:rPr lang="zh-CN" altLang="en-US" dirty="0">
                    <a:solidFill>
                      <a:schemeClr val="tx1"/>
                    </a:solidFill>
                    <a:latin typeface="华文中宋" panose="02010600040101010101" pitchFamily="2" charset="-122"/>
                    <a:ea typeface="华文中宋" panose="02010600040101010101" pitchFamily="2" charset="-122"/>
                  </a:rPr>
                  <a:t>去除行为间对比学习</a:t>
                </a:r>
                <a:r>
                  <a:rPr lang="en-US" altLang="zh-CN" dirty="0">
                    <a:solidFill>
                      <a:schemeClr val="tx1"/>
                    </a:solidFill>
                    <a:latin typeface="+mj-lt"/>
                    <a:ea typeface="华文中宋" panose="02010600040101010101" pitchFamily="2" charset="-122"/>
                  </a:rPr>
                  <a:t>(w/o </a:t>
                </a:r>
                <a14:m>
                  <m:oMath xmlns:m="http://schemas.openxmlformats.org/officeDocument/2006/math">
                    <m:sSub>
                      <m:sSubPr>
                        <m:ctrlPr>
                          <a:rPr lang="en-US" altLang="zh-CN" i="1" smtClean="0">
                            <a:solidFill>
                              <a:schemeClr val="tx1"/>
                            </a:solidFill>
                            <a:latin typeface="Cambria Math" panose="02040503050406030204" pitchFamily="18" charset="0"/>
                            <a:ea typeface="华文中宋" panose="02010600040101010101" pitchFamily="2" charset="-122"/>
                          </a:rPr>
                        </m:ctrlPr>
                      </m:sSubPr>
                      <m:e>
                        <m:r>
                          <a:rPr lang="en-US" altLang="zh-CN" b="0" i="1" smtClean="0">
                            <a:solidFill>
                              <a:schemeClr val="tx1"/>
                            </a:solidFill>
                            <a:latin typeface="Cambria Math" panose="02040503050406030204" pitchFamily="18" charset="0"/>
                            <a:ea typeface="华文中宋" panose="02010600040101010101" pitchFamily="2" charset="-122"/>
                          </a:rPr>
                          <m:t>𝑆𝑆𝐿</m:t>
                        </m:r>
                      </m:e>
                      <m:sub>
                        <m:r>
                          <a:rPr lang="en-US" altLang="zh-CN" b="0" i="1" smtClean="0">
                            <a:solidFill>
                              <a:schemeClr val="tx1"/>
                            </a:solidFill>
                            <a:latin typeface="Cambria Math" panose="02040503050406030204" pitchFamily="18" charset="0"/>
                            <a:ea typeface="华文中宋" panose="02010600040101010101" pitchFamily="2" charset="-122"/>
                          </a:rPr>
                          <m:t>𝑖𝑛𝑡𝑒𝑟</m:t>
                        </m:r>
                      </m:sub>
                    </m:sSub>
                  </m:oMath>
                </a14:m>
                <a:r>
                  <a:rPr lang="en-US" altLang="zh-CN" dirty="0">
                    <a:solidFill>
                      <a:schemeClr val="tx1"/>
                    </a:solidFill>
                    <a:latin typeface="+mj-lt"/>
                    <a:ea typeface="华文中宋" panose="02010600040101010101" pitchFamily="2" charset="-122"/>
                  </a:rPr>
                  <a:t>)</a:t>
                </a:r>
              </a:p>
              <a:p>
                <a:r>
                  <a:rPr lang="zh-CN" altLang="en-US" dirty="0">
                    <a:solidFill>
                      <a:schemeClr val="tx1"/>
                    </a:solidFill>
                    <a:latin typeface="华文中宋" panose="02010600040101010101" pitchFamily="2" charset="-122"/>
                    <a:ea typeface="华文中宋" panose="02010600040101010101" pitchFamily="2" charset="-122"/>
                  </a:rPr>
                  <a:t>去除行为内对比学习</a:t>
                </a:r>
                <a:r>
                  <a:rPr lang="en-US" altLang="zh-CN" dirty="0">
                    <a:solidFill>
                      <a:schemeClr val="tx1"/>
                    </a:solidFill>
                    <a:latin typeface="+mj-lt"/>
                    <a:ea typeface="华文中宋" panose="02010600040101010101" pitchFamily="2" charset="-122"/>
                  </a:rPr>
                  <a:t>(w/o </a:t>
                </a:r>
                <a14:m>
                  <m:oMath xmlns:m="http://schemas.openxmlformats.org/officeDocument/2006/math">
                    <m:sSub>
                      <m:sSubPr>
                        <m:ctrlPr>
                          <a:rPr lang="en-US" altLang="zh-CN" i="1" smtClean="0">
                            <a:solidFill>
                              <a:schemeClr val="tx1"/>
                            </a:solidFill>
                            <a:latin typeface="Cambria Math" panose="02040503050406030204" pitchFamily="18" charset="0"/>
                            <a:ea typeface="华文中宋" panose="02010600040101010101" pitchFamily="2" charset="-122"/>
                          </a:rPr>
                        </m:ctrlPr>
                      </m:sSubPr>
                      <m:e>
                        <m:r>
                          <a:rPr lang="en-US" altLang="zh-CN" b="0" i="1" smtClean="0">
                            <a:solidFill>
                              <a:schemeClr val="tx1"/>
                            </a:solidFill>
                            <a:latin typeface="Cambria Math" panose="02040503050406030204" pitchFamily="18" charset="0"/>
                            <a:ea typeface="华文中宋" panose="02010600040101010101" pitchFamily="2" charset="-122"/>
                          </a:rPr>
                          <m:t>𝑆𝑆𝐿</m:t>
                        </m:r>
                      </m:e>
                      <m:sub>
                        <m:r>
                          <a:rPr lang="en-US" altLang="zh-CN" b="0" i="1" smtClean="0">
                            <a:solidFill>
                              <a:schemeClr val="tx1"/>
                            </a:solidFill>
                            <a:latin typeface="Cambria Math" panose="02040503050406030204" pitchFamily="18" charset="0"/>
                            <a:ea typeface="华文中宋" panose="02010600040101010101" pitchFamily="2" charset="-122"/>
                          </a:rPr>
                          <m:t>𝑖𝑛𝑡𝑟𝑎</m:t>
                        </m:r>
                      </m:sub>
                    </m:sSub>
                  </m:oMath>
                </a14:m>
                <a:r>
                  <a:rPr lang="en-US" altLang="zh-CN" dirty="0">
                    <a:solidFill>
                      <a:schemeClr val="tx1"/>
                    </a:solidFill>
                    <a:latin typeface="+mj-lt"/>
                    <a:ea typeface="华文中宋" panose="02010600040101010101" pitchFamily="2" charset="-122"/>
                  </a:rPr>
                  <a:t>)</a:t>
                </a:r>
              </a:p>
              <a:p>
                <a:pPr marL="0" indent="0">
                  <a:buNone/>
                </a:pPr>
                <a:endParaRPr lang="zh-CN" altLang="en-US" dirty="0">
                  <a:solidFill>
                    <a:schemeClr val="tx1"/>
                  </a:solidFill>
                  <a:latin typeface="华文中宋" panose="02010600040101010101" pitchFamily="2" charset="-122"/>
                  <a:ea typeface="华文中宋" panose="02010600040101010101" pitchFamily="2" charset="-122"/>
                </a:endParaRPr>
              </a:p>
            </p:txBody>
          </p:sp>
        </mc:Choice>
        <mc:Fallback xmlns="">
          <p:sp>
            <p:nvSpPr>
              <p:cNvPr id="5" name="内容占位符 1">
                <a:extLst>
                  <a:ext uri="{FF2B5EF4-FFF2-40B4-BE49-F238E27FC236}">
                    <a16:creationId xmlns:a16="http://schemas.microsoft.com/office/drawing/2014/main" id="{D8A79CC3-CAEA-4305-0F69-EECB7DB878A1}"/>
                  </a:ext>
                </a:extLst>
              </p:cNvPr>
              <p:cNvSpPr txBox="1">
                <a:spLocks noRot="1" noChangeAspect="1" noMove="1" noResize="1" noEditPoints="1" noAdjustHandles="1" noChangeArrowheads="1" noChangeShapeType="1" noTextEdit="1"/>
              </p:cNvSpPr>
              <p:nvPr/>
            </p:nvSpPr>
            <p:spPr>
              <a:xfrm>
                <a:off x="192555" y="3825661"/>
                <a:ext cx="12603168" cy="2503650"/>
              </a:xfrm>
              <a:prstGeom prst="rect">
                <a:avLst/>
              </a:prstGeom>
              <a:blipFill>
                <a:blip r:embed="rId3"/>
                <a:stretch>
                  <a:fillRect l="-145" t="-976"/>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61EBFB12-A446-F6C4-2767-54CCA319EEDC}"/>
              </a:ext>
            </a:extLst>
          </p:cNvPr>
          <p:cNvPicPr>
            <a:picLocks noChangeAspect="1"/>
          </p:cNvPicPr>
          <p:nvPr/>
        </p:nvPicPr>
        <p:blipFill>
          <a:blip r:embed="rId4"/>
          <a:stretch>
            <a:fillRect/>
          </a:stretch>
        </p:blipFill>
        <p:spPr>
          <a:xfrm>
            <a:off x="2181349" y="789892"/>
            <a:ext cx="7829301" cy="3015499"/>
          </a:xfrm>
          <a:prstGeom prst="rect">
            <a:avLst/>
          </a:prstGeom>
        </p:spPr>
      </p:pic>
    </p:spTree>
    <p:extLst>
      <p:ext uri="{BB962C8B-B14F-4D97-AF65-F5344CB8AC3E}">
        <p14:creationId xmlns:p14="http://schemas.microsoft.com/office/powerpoint/2010/main" val="15464421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23FF93AD-B291-5347-AC70-D7287ABA5C8E}"/>
              </a:ext>
            </a:extLst>
          </p:cNvPr>
          <p:cNvSpPr>
            <a:spLocks noGrp="1"/>
          </p:cNvSpPr>
          <p:nvPr>
            <p:ph type="title"/>
          </p:nvPr>
        </p:nvSpPr>
        <p:spPr/>
        <p:txBody>
          <a:bodyPr>
            <a:normAutofit/>
          </a:bodyPr>
          <a:lstStyle/>
          <a:p>
            <a:r>
              <a:rPr kumimoji="1" lang="en-US" altLang="zh-CN" sz="3200" b="1" dirty="0">
                <a:latin typeface="华文中宋" panose="02010600040101010101" pitchFamily="2" charset="-122"/>
                <a:ea typeface="华文中宋" panose="02010600040101010101" pitchFamily="2" charset="-122"/>
              </a:rPr>
              <a:t>3.</a:t>
            </a:r>
            <a:r>
              <a:rPr kumimoji="1" lang="zh-CN" altLang="en-US" sz="3200" b="1" dirty="0">
                <a:latin typeface="华文中宋" panose="02010600040101010101" pitchFamily="2" charset="-122"/>
                <a:ea typeface="华文中宋" panose="02010600040101010101" pitchFamily="2" charset="-122"/>
              </a:rPr>
              <a:t>噪声感知与偏好提取的多行为推荐方法</a:t>
            </a:r>
            <a:endParaRPr kumimoji="1" lang="en-US" altLang="zh-CN" sz="3200" b="1" dirty="0">
              <a:latin typeface="华文中宋" panose="02010600040101010101" pitchFamily="2" charset="-122"/>
              <a:ea typeface="华文中宋" panose="02010600040101010101" pitchFamily="2" charset="-122"/>
            </a:endParaRPr>
          </a:p>
        </p:txBody>
      </p:sp>
      <p:sp>
        <p:nvSpPr>
          <p:cNvPr id="14" name="文本框 13">
            <a:extLst>
              <a:ext uri="{FF2B5EF4-FFF2-40B4-BE49-F238E27FC236}">
                <a16:creationId xmlns:a16="http://schemas.microsoft.com/office/drawing/2014/main" id="{9820D2CA-E2D2-F56F-91D1-34DE3E999E0B}"/>
              </a:ext>
            </a:extLst>
          </p:cNvPr>
          <p:cNvSpPr txBox="1"/>
          <p:nvPr/>
        </p:nvSpPr>
        <p:spPr>
          <a:xfrm>
            <a:off x="561754" y="1366100"/>
            <a:ext cx="10601546" cy="400110"/>
          </a:xfrm>
          <a:prstGeom prst="rect">
            <a:avLst/>
          </a:prstGeom>
          <a:noFill/>
        </p:spPr>
        <p:txBody>
          <a:bodyPr wrap="square" rtlCol="0">
            <a:spAutoFit/>
          </a:bodyPr>
          <a:lstStyle/>
          <a:p>
            <a:r>
              <a:rPr lang="zh-CN" altLang="en-US" sz="2000" b="1" dirty="0">
                <a:solidFill>
                  <a:srgbClr val="000000"/>
                </a:solidFill>
                <a:latin typeface="华文中宋" panose="02010600040101010101" pitchFamily="2" charset="-122"/>
                <a:ea typeface="华文中宋" panose="02010600040101010101" pitchFamily="2" charset="-122"/>
              </a:rPr>
              <a:t>参数分析：</a:t>
            </a:r>
            <a:endParaRPr lang="zh-CN" altLang="en-US" sz="2000" b="1" dirty="0">
              <a:latin typeface="华文中宋" panose="02010600040101010101" pitchFamily="2" charset="-122"/>
              <a:ea typeface="华文中宋" panose="02010600040101010101" pitchFamily="2" charset="-122"/>
            </a:endParaRPr>
          </a:p>
        </p:txBody>
      </p:sp>
      <p:pic>
        <p:nvPicPr>
          <p:cNvPr id="10" name="图片 9">
            <a:extLst>
              <a:ext uri="{FF2B5EF4-FFF2-40B4-BE49-F238E27FC236}">
                <a16:creationId xmlns:a16="http://schemas.microsoft.com/office/drawing/2014/main" id="{CD451EC6-8BD5-5E2D-591B-09375FCB7E65}"/>
              </a:ext>
            </a:extLst>
          </p:cNvPr>
          <p:cNvPicPr>
            <a:picLocks noChangeAspect="1"/>
          </p:cNvPicPr>
          <p:nvPr/>
        </p:nvPicPr>
        <p:blipFill>
          <a:blip r:embed="rId2"/>
          <a:stretch>
            <a:fillRect/>
          </a:stretch>
        </p:blipFill>
        <p:spPr>
          <a:xfrm>
            <a:off x="-80594" y="1908882"/>
            <a:ext cx="5943121" cy="4480052"/>
          </a:xfrm>
          <a:prstGeom prst="rect">
            <a:avLst/>
          </a:prstGeom>
        </p:spPr>
      </p:pic>
      <mc:AlternateContent xmlns:mc="http://schemas.openxmlformats.org/markup-compatibility/2006" xmlns:a14="http://schemas.microsoft.com/office/drawing/2010/main">
        <mc:Choice Requires="a14">
          <p:sp>
            <p:nvSpPr>
              <p:cNvPr id="12" name="内容占位符 1">
                <a:extLst>
                  <a:ext uri="{FF2B5EF4-FFF2-40B4-BE49-F238E27FC236}">
                    <a16:creationId xmlns:a16="http://schemas.microsoft.com/office/drawing/2014/main" id="{AAD72812-3F8F-ED67-A715-33EA549FB19A}"/>
                  </a:ext>
                </a:extLst>
              </p:cNvPr>
              <p:cNvSpPr txBox="1">
                <a:spLocks/>
              </p:cNvSpPr>
              <p:nvPr/>
            </p:nvSpPr>
            <p:spPr>
              <a:xfrm>
                <a:off x="5615170" y="2011261"/>
                <a:ext cx="12603168" cy="4480051"/>
              </a:xfrm>
              <a:prstGeom prst="rect">
                <a:avLst/>
              </a:prstGeom>
            </p:spPr>
            <p:txBody>
              <a:bodyPr vert="horz" lIns="91440" tIns="45720" rIns="91440" bIns="45720" rtlCol="0" anchor="t">
                <a:normAutofit/>
              </a:bodyPr>
              <a:lstStyle>
                <a:lvl1pPr marL="305992" indent="-305992"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29984" indent="-305992"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899978" indent="-269993"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1969" indent="-233994"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1960" indent="-233994"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899953"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199945"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38"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930"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14:m>
                  <m:oMath xmlns:m="http://schemas.openxmlformats.org/officeDocument/2006/math">
                    <m:sSub>
                      <m:sSubPr>
                        <m:ctrlPr>
                          <a:rPr lang="en-US" altLang="zh-CN" i="1" smtClean="0">
                            <a:solidFill>
                              <a:schemeClr val="tx1"/>
                            </a:solidFill>
                            <a:latin typeface="Cambria Math" panose="02040503050406030204" pitchFamily="18" charset="0"/>
                            <a:ea typeface="华文中宋" panose="02010600040101010101" pitchFamily="2" charset="-122"/>
                          </a:rPr>
                        </m:ctrlPr>
                      </m:sSubPr>
                      <m:e>
                        <m:r>
                          <m:rPr>
                            <m:sty m:val="p"/>
                          </m:rPr>
                          <a:rPr lang="en-US" altLang="zh-CN" i="1">
                            <a:solidFill>
                              <a:schemeClr val="tx1"/>
                            </a:solidFill>
                            <a:latin typeface="Cambria Math" panose="02040503050406030204" pitchFamily="18" charset="0"/>
                            <a:ea typeface="华文中宋" panose="02010600040101010101" pitchFamily="2" charset="-122"/>
                          </a:rPr>
                          <m:t>β</m:t>
                        </m:r>
                      </m:e>
                      <m:sub>
                        <m:r>
                          <m:rPr>
                            <m:sty m:val="p"/>
                          </m:rPr>
                          <a:rPr lang="en-US" altLang="zh-CN" i="1">
                            <a:solidFill>
                              <a:schemeClr val="tx1"/>
                            </a:solidFill>
                            <a:latin typeface="Cambria Math" panose="02040503050406030204" pitchFamily="18" charset="0"/>
                            <a:ea typeface="华文中宋" panose="02010600040101010101" pitchFamily="2" charset="-122"/>
                          </a:rPr>
                          <m:t>low</m:t>
                        </m:r>
                      </m:sub>
                    </m:sSub>
                    <m:r>
                      <a:rPr lang="zh-CN" altLang="en-US" i="1">
                        <a:solidFill>
                          <a:schemeClr val="tx1"/>
                        </a:solidFill>
                        <a:latin typeface="Cambria Math" panose="02040503050406030204" pitchFamily="18" charset="0"/>
                        <a:ea typeface="华文中宋" panose="02010600040101010101" pitchFamily="2" charset="-122"/>
                      </a:rPr>
                      <m:t>表示</m:t>
                    </m:r>
                  </m:oMath>
                </a14:m>
                <a:r>
                  <a:rPr lang="zh-CN" altLang="en-US" dirty="0">
                    <a:solidFill>
                      <a:schemeClr val="tx1"/>
                    </a:solidFill>
                    <a:latin typeface="华文中宋" panose="02010600040101010101" pitchFamily="2" charset="-122"/>
                    <a:ea typeface="华文中宋" panose="02010600040101010101" pitchFamily="2" charset="-122"/>
                  </a:rPr>
                  <a:t>去除噪声的比例：总体呈现先上升后下降的趋势</a:t>
                </a:r>
                <a:endParaRPr lang="en-US" altLang="zh-CN" dirty="0">
                  <a:solidFill>
                    <a:schemeClr val="tx1"/>
                  </a:solidFill>
                  <a:latin typeface="华文中宋" panose="02010600040101010101" pitchFamily="2" charset="-122"/>
                  <a:ea typeface="华文中宋" panose="02010600040101010101" pitchFamily="2" charset="-122"/>
                </a:endParaRPr>
              </a:p>
              <a:p>
                <a:pPr marL="0" indent="0">
                  <a:buNone/>
                </a:pPr>
                <a:r>
                  <a:rPr lang="en-US" altLang="zh-CN" dirty="0">
                    <a:solidFill>
                      <a:schemeClr val="tx1"/>
                    </a:solidFill>
                    <a:latin typeface="华文中宋" panose="02010600040101010101" pitchFamily="2" charset="-122"/>
                    <a:ea typeface="华文中宋" panose="02010600040101010101" pitchFamily="2" charset="-122"/>
                  </a:rPr>
                  <a:t>    </a:t>
                </a:r>
                <a:r>
                  <a:rPr lang="zh-CN" altLang="en-US" dirty="0">
                    <a:solidFill>
                      <a:schemeClr val="tx1"/>
                    </a:solidFill>
                    <a:latin typeface="华文中宋" panose="02010600040101010101" pitchFamily="2" charset="-122"/>
                    <a:ea typeface="华文中宋" panose="02010600040101010101" pitchFamily="2" charset="-122"/>
                  </a:rPr>
                  <a:t>表明去除噪声较少时，模型仍受到噪声影响，</a:t>
                </a:r>
                <a:endParaRPr lang="en-US" altLang="zh-CN" dirty="0">
                  <a:solidFill>
                    <a:schemeClr val="tx1"/>
                  </a:solidFill>
                  <a:latin typeface="华文中宋" panose="02010600040101010101" pitchFamily="2" charset="-122"/>
                  <a:ea typeface="华文中宋" panose="02010600040101010101" pitchFamily="2" charset="-122"/>
                </a:endParaRPr>
              </a:p>
              <a:p>
                <a:pPr marL="0" indent="0">
                  <a:buNone/>
                </a:pPr>
                <a:r>
                  <a:rPr lang="zh-CN" altLang="en-US" dirty="0">
                    <a:solidFill>
                      <a:schemeClr val="tx1"/>
                    </a:solidFill>
                    <a:latin typeface="华文中宋" panose="02010600040101010101" pitchFamily="2" charset="-122"/>
                    <a:ea typeface="华文中宋" panose="02010600040101010101" pitchFamily="2" charset="-122"/>
                  </a:rPr>
                  <a:t>    去除噪声较多，模型可能将非噪声交互删除，造成负面影响</a:t>
                </a:r>
                <a:endParaRPr lang="en-US" altLang="zh-CN" dirty="0">
                  <a:solidFill>
                    <a:schemeClr val="tx1"/>
                  </a:solidFill>
                  <a:latin typeface="华文中宋" panose="02010600040101010101" pitchFamily="2" charset="-122"/>
                  <a:ea typeface="华文中宋" panose="02010600040101010101" pitchFamily="2" charset="-122"/>
                </a:endParaRPr>
              </a:p>
              <a:p>
                <a14:m>
                  <m:oMath xmlns:m="http://schemas.openxmlformats.org/officeDocument/2006/math">
                    <m:sSub>
                      <m:sSubPr>
                        <m:ctrlPr>
                          <a:rPr lang="en-US" altLang="zh-CN" i="1" smtClean="0">
                            <a:solidFill>
                              <a:schemeClr val="tx1"/>
                            </a:solidFill>
                            <a:latin typeface="Cambria Math" panose="02040503050406030204" pitchFamily="18" charset="0"/>
                            <a:ea typeface="华文中宋" panose="02010600040101010101" pitchFamily="2" charset="-122"/>
                          </a:rPr>
                        </m:ctrlPr>
                      </m:sSubPr>
                      <m:e>
                        <m:r>
                          <m:rPr>
                            <m:sty m:val="p"/>
                          </m:rPr>
                          <a:rPr lang="en-US" altLang="zh-CN" i="1">
                            <a:solidFill>
                              <a:schemeClr val="tx1"/>
                            </a:solidFill>
                            <a:latin typeface="Cambria Math" panose="02040503050406030204" pitchFamily="18" charset="0"/>
                            <a:ea typeface="华文中宋" panose="02010600040101010101" pitchFamily="2" charset="-122"/>
                          </a:rPr>
                          <m:t>β</m:t>
                        </m:r>
                      </m:e>
                      <m:sub>
                        <m:r>
                          <m:rPr>
                            <m:sty m:val="p"/>
                          </m:rPr>
                          <a:rPr lang="en-US" altLang="zh-CN" i="1">
                            <a:solidFill>
                              <a:schemeClr val="tx1"/>
                            </a:solidFill>
                            <a:latin typeface="Cambria Math" panose="02040503050406030204" pitchFamily="18" charset="0"/>
                            <a:ea typeface="华文中宋" panose="02010600040101010101" pitchFamily="2" charset="-122"/>
                          </a:rPr>
                          <m:t>high</m:t>
                        </m:r>
                      </m:sub>
                    </m:sSub>
                    <m:r>
                      <a:rPr lang="zh-CN" altLang="en-US" i="1">
                        <a:solidFill>
                          <a:schemeClr val="tx1"/>
                        </a:solidFill>
                        <a:latin typeface="Cambria Math" panose="02040503050406030204" pitchFamily="18" charset="0"/>
                        <a:ea typeface="华文中宋" panose="02010600040101010101" pitchFamily="2" charset="-122"/>
                      </a:rPr>
                      <m:t>表示</m:t>
                    </m:r>
                  </m:oMath>
                </a14:m>
                <a:r>
                  <a:rPr lang="zh-CN" altLang="en-US" dirty="0">
                    <a:solidFill>
                      <a:schemeClr val="tx1"/>
                    </a:solidFill>
                    <a:latin typeface="+mj-lt"/>
                    <a:ea typeface="华文中宋" panose="02010600040101010101" pitchFamily="2" charset="-122"/>
                  </a:rPr>
                  <a:t>辅助行为到目标行为的增强比例：</a:t>
                </a:r>
                <a:endParaRPr lang="en-US" altLang="zh-CN" dirty="0">
                  <a:solidFill>
                    <a:schemeClr val="tx1"/>
                  </a:solidFill>
                  <a:latin typeface="+mj-lt"/>
                  <a:ea typeface="华文中宋" panose="02010600040101010101" pitchFamily="2" charset="-122"/>
                </a:endParaRPr>
              </a:p>
              <a:p>
                <a:pPr marL="0" indent="0">
                  <a:buNone/>
                </a:pPr>
                <a:r>
                  <a:rPr lang="zh-CN" altLang="en-US" dirty="0">
                    <a:solidFill>
                      <a:schemeClr val="tx1"/>
                    </a:solidFill>
                    <a:latin typeface="+mj-lt"/>
                    <a:ea typeface="华文中宋" panose="02010600040101010101" pitchFamily="2" charset="-122"/>
                  </a:rPr>
                  <a:t>     增强较少时，部分辅助行为实现了数据补充，性能提升</a:t>
                </a:r>
                <a:endParaRPr lang="en-US" altLang="zh-CN" dirty="0">
                  <a:solidFill>
                    <a:schemeClr val="tx1"/>
                  </a:solidFill>
                  <a:latin typeface="+mj-lt"/>
                  <a:ea typeface="华文中宋" panose="02010600040101010101" pitchFamily="2" charset="-122"/>
                </a:endParaRPr>
              </a:p>
              <a:p>
                <a:pPr marL="0" indent="0">
                  <a:buNone/>
                </a:pPr>
                <a:r>
                  <a:rPr lang="zh-CN" altLang="en-US" dirty="0">
                    <a:solidFill>
                      <a:schemeClr val="tx1"/>
                    </a:solidFill>
                    <a:latin typeface="+mj-lt"/>
                    <a:ea typeface="华文中宋" panose="02010600040101010101" pitchFamily="2" charset="-122"/>
                  </a:rPr>
                  <a:t>     增强比例较大时，部分非真实偏好被错误地补充，性能下降</a:t>
                </a:r>
              </a:p>
              <a:p>
                <a14:m>
                  <m:oMath xmlns:m="http://schemas.openxmlformats.org/officeDocument/2006/math">
                    <m:r>
                      <a:rPr lang="zh-CN" altLang="en-US" i="1" smtClean="0">
                        <a:solidFill>
                          <a:schemeClr val="tx1"/>
                        </a:solidFill>
                        <a:latin typeface="Cambria Math" panose="02040503050406030204" pitchFamily="18" charset="0"/>
                        <a:ea typeface="华文中宋" panose="02010600040101010101" pitchFamily="2" charset="-122"/>
                      </a:rPr>
                      <m:t>𝛼</m:t>
                    </m:r>
                  </m:oMath>
                </a14:m>
                <a:r>
                  <a:rPr lang="zh-CN" altLang="en-US" dirty="0">
                    <a:solidFill>
                      <a:schemeClr val="tx1"/>
                    </a:solidFill>
                    <a:latin typeface="华文中宋" panose="02010600040101010101" pitchFamily="2" charset="-122"/>
                    <a:ea typeface="华文中宋" panose="02010600040101010101" pitchFamily="2" charset="-122"/>
                  </a:rPr>
                  <a:t>表示行为内权重与行为间权重的聚合因子</a:t>
                </a:r>
              </a:p>
            </p:txBody>
          </p:sp>
        </mc:Choice>
        <mc:Fallback xmlns="">
          <p:sp>
            <p:nvSpPr>
              <p:cNvPr id="12" name="内容占位符 1">
                <a:extLst>
                  <a:ext uri="{FF2B5EF4-FFF2-40B4-BE49-F238E27FC236}">
                    <a16:creationId xmlns:a16="http://schemas.microsoft.com/office/drawing/2014/main" id="{AAD72812-3F8F-ED67-A715-33EA549FB19A}"/>
                  </a:ext>
                </a:extLst>
              </p:cNvPr>
              <p:cNvSpPr txBox="1">
                <a:spLocks noRot="1" noChangeAspect="1" noMove="1" noResize="1" noEditPoints="1" noAdjustHandles="1" noChangeArrowheads="1" noChangeShapeType="1" noTextEdit="1"/>
              </p:cNvSpPr>
              <p:nvPr/>
            </p:nvSpPr>
            <p:spPr>
              <a:xfrm>
                <a:off x="5615170" y="2011261"/>
                <a:ext cx="12603168" cy="4480051"/>
              </a:xfrm>
              <a:prstGeom prst="rect">
                <a:avLst/>
              </a:prstGeom>
              <a:blipFill>
                <a:blip r:embed="rId3"/>
                <a:stretch>
                  <a:fillRect l="-193" t="-13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252650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23FF93AD-B291-5347-AC70-D7287ABA5C8E}"/>
              </a:ext>
            </a:extLst>
          </p:cNvPr>
          <p:cNvSpPr>
            <a:spLocks noGrp="1"/>
          </p:cNvSpPr>
          <p:nvPr>
            <p:ph type="title"/>
          </p:nvPr>
        </p:nvSpPr>
        <p:spPr/>
        <p:txBody>
          <a:bodyPr>
            <a:normAutofit/>
          </a:bodyPr>
          <a:lstStyle/>
          <a:p>
            <a:r>
              <a:rPr kumimoji="1" lang="en-US" altLang="zh-CN" sz="3200" b="1" dirty="0">
                <a:latin typeface="华文中宋" panose="02010600040101010101" pitchFamily="2" charset="-122"/>
                <a:ea typeface="华文中宋" panose="02010600040101010101" pitchFamily="2" charset="-122"/>
              </a:rPr>
              <a:t>4.</a:t>
            </a:r>
            <a:r>
              <a:rPr kumimoji="1" lang="zh-CN" altLang="en-US" sz="3200" b="1" dirty="0">
                <a:latin typeface="华文中宋" panose="02010600040101010101" pitchFamily="2" charset="-122"/>
                <a:ea typeface="华文中宋" panose="02010600040101010101" pitchFamily="2" charset="-122"/>
              </a:rPr>
              <a:t>噪声感知与偏好提取的多模态多行为推荐方法</a:t>
            </a:r>
            <a:endParaRPr kumimoji="1" lang="en-US" altLang="zh-CN" sz="3200" b="1" dirty="0">
              <a:latin typeface="华文中宋" panose="02010600040101010101" pitchFamily="2" charset="-122"/>
              <a:ea typeface="华文中宋" panose="02010600040101010101" pitchFamily="2" charset="-122"/>
            </a:endParaRPr>
          </a:p>
        </p:txBody>
      </p:sp>
      <p:sp>
        <p:nvSpPr>
          <p:cNvPr id="2" name="文本框 1">
            <a:extLst>
              <a:ext uri="{FF2B5EF4-FFF2-40B4-BE49-F238E27FC236}">
                <a16:creationId xmlns:a16="http://schemas.microsoft.com/office/drawing/2014/main" id="{557A3C94-2980-26FB-782C-FB84F13D7FB6}"/>
              </a:ext>
            </a:extLst>
          </p:cNvPr>
          <p:cNvSpPr txBox="1"/>
          <p:nvPr/>
        </p:nvSpPr>
        <p:spPr>
          <a:xfrm>
            <a:off x="3978058" y="5585774"/>
            <a:ext cx="5149758" cy="338554"/>
          </a:xfrm>
          <a:prstGeom prst="rect">
            <a:avLst/>
          </a:prstGeom>
          <a:noFill/>
        </p:spPr>
        <p:txBody>
          <a:bodyPr wrap="square" rtlCol="0">
            <a:spAutoFit/>
          </a:bodyPr>
          <a:lstStyle/>
          <a:p>
            <a:r>
              <a:rPr lang="zh-CN" altLang="en-US" sz="1600" dirty="0">
                <a:solidFill>
                  <a:srgbClr val="000000"/>
                </a:solidFill>
                <a:effectLst/>
                <a:latin typeface="华文中宋" panose="02010600040101010101" pitchFamily="2" charset="-122"/>
                <a:ea typeface="华文中宋" panose="02010600040101010101" pitchFamily="2" charset="-122"/>
              </a:rPr>
              <a:t>图</a:t>
            </a:r>
            <a:r>
              <a:rPr lang="en-US" altLang="zh-CN" sz="1600" dirty="0">
                <a:solidFill>
                  <a:srgbClr val="000000"/>
                </a:solidFill>
                <a:latin typeface="华文中宋" panose="02010600040101010101" pitchFamily="2" charset="-122"/>
                <a:ea typeface="华文中宋" panose="02010600040101010101" pitchFamily="2" charset="-122"/>
              </a:rPr>
              <a:t>4</a:t>
            </a:r>
            <a:r>
              <a:rPr lang="en-US" altLang="zh-CN" sz="1600" dirty="0">
                <a:solidFill>
                  <a:srgbClr val="000000"/>
                </a:solidFill>
                <a:effectLst/>
                <a:latin typeface="华文中宋" panose="02010600040101010101" pitchFamily="2" charset="-122"/>
                <a:ea typeface="华文中宋" panose="02010600040101010101" pitchFamily="2" charset="-122"/>
              </a:rPr>
              <a:t>-1</a:t>
            </a:r>
            <a:r>
              <a:rPr lang="zh-CN" altLang="en-US" sz="1600" dirty="0">
                <a:latin typeface="华文中宋" panose="02010600040101010101" pitchFamily="2" charset="-122"/>
                <a:ea typeface="华文中宋" panose="02010600040101010101" pitchFamily="2" charset="-122"/>
              </a:rPr>
              <a:t>噪声感知与偏好提取的多模态多行为推荐方法</a:t>
            </a:r>
            <a:endParaRPr lang="zh-CN" altLang="en-US" sz="1600" b="1" baseline="30000" dirty="0">
              <a:latin typeface="华文中宋" panose="02010600040101010101" pitchFamily="2" charset="-122"/>
              <a:ea typeface="华文中宋" panose="02010600040101010101" pitchFamily="2" charset="-122"/>
            </a:endParaRPr>
          </a:p>
        </p:txBody>
      </p:sp>
      <p:pic>
        <p:nvPicPr>
          <p:cNvPr id="16" name="图片 15">
            <a:extLst>
              <a:ext uri="{FF2B5EF4-FFF2-40B4-BE49-F238E27FC236}">
                <a16:creationId xmlns:a16="http://schemas.microsoft.com/office/drawing/2014/main" id="{BC3C72FF-C970-428D-83FD-FDEA382352C0}"/>
              </a:ext>
            </a:extLst>
          </p:cNvPr>
          <p:cNvPicPr>
            <a:picLocks noChangeAspect="1"/>
          </p:cNvPicPr>
          <p:nvPr/>
        </p:nvPicPr>
        <p:blipFill>
          <a:blip r:embed="rId3"/>
          <a:stretch>
            <a:fillRect/>
          </a:stretch>
        </p:blipFill>
        <p:spPr>
          <a:xfrm>
            <a:off x="1247399" y="1102949"/>
            <a:ext cx="9282578" cy="4329983"/>
          </a:xfrm>
          <a:prstGeom prst="rect">
            <a:avLst/>
          </a:prstGeom>
        </p:spPr>
      </p:pic>
    </p:spTree>
    <p:extLst>
      <p:ext uri="{BB962C8B-B14F-4D97-AF65-F5344CB8AC3E}">
        <p14:creationId xmlns:p14="http://schemas.microsoft.com/office/powerpoint/2010/main" val="22831820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23FF93AD-B291-5347-AC70-D7287ABA5C8E}"/>
              </a:ext>
            </a:extLst>
          </p:cNvPr>
          <p:cNvSpPr>
            <a:spLocks noGrp="1"/>
          </p:cNvSpPr>
          <p:nvPr>
            <p:ph type="title"/>
          </p:nvPr>
        </p:nvSpPr>
        <p:spPr/>
        <p:txBody>
          <a:bodyPr>
            <a:normAutofit/>
          </a:bodyPr>
          <a:lstStyle/>
          <a:p>
            <a:r>
              <a:rPr kumimoji="1" lang="en-US" altLang="zh-CN" sz="3200" b="1" dirty="0">
                <a:latin typeface="华文中宋" panose="02010600040101010101" pitchFamily="2" charset="-122"/>
                <a:ea typeface="华文中宋" panose="02010600040101010101" pitchFamily="2" charset="-122"/>
              </a:rPr>
              <a:t>4.</a:t>
            </a:r>
            <a:r>
              <a:rPr kumimoji="1" lang="zh-CN" altLang="en-US" sz="3200" b="1" dirty="0">
                <a:latin typeface="华文中宋" panose="02010600040101010101" pitchFamily="2" charset="-122"/>
                <a:ea typeface="华文中宋" panose="02010600040101010101" pitchFamily="2" charset="-122"/>
              </a:rPr>
              <a:t>噪声感知与偏好提取的多模态多行为推荐方法</a:t>
            </a:r>
            <a:endParaRPr kumimoji="1" lang="en-US" altLang="zh-CN" sz="3200" b="1" dirty="0">
              <a:latin typeface="华文中宋" panose="02010600040101010101" pitchFamily="2" charset="-122"/>
              <a:ea typeface="华文中宋" panose="02010600040101010101" pitchFamily="2" charset="-122"/>
            </a:endParaRPr>
          </a:p>
        </p:txBody>
      </p:sp>
      <p:sp>
        <p:nvSpPr>
          <p:cNvPr id="18" name="文本框 17">
            <a:extLst>
              <a:ext uri="{FF2B5EF4-FFF2-40B4-BE49-F238E27FC236}">
                <a16:creationId xmlns:a16="http://schemas.microsoft.com/office/drawing/2014/main" id="{E934082B-8E39-4D07-B146-19A97A589A69}"/>
              </a:ext>
            </a:extLst>
          </p:cNvPr>
          <p:cNvSpPr txBox="1"/>
          <p:nvPr/>
        </p:nvSpPr>
        <p:spPr>
          <a:xfrm>
            <a:off x="561754" y="1366100"/>
            <a:ext cx="10601546" cy="400110"/>
          </a:xfrm>
          <a:prstGeom prst="rect">
            <a:avLst/>
          </a:prstGeom>
          <a:noFill/>
        </p:spPr>
        <p:txBody>
          <a:bodyPr wrap="square" rtlCol="0">
            <a:spAutoFit/>
          </a:bodyPr>
          <a:lstStyle/>
          <a:p>
            <a:r>
              <a:rPr lang="zh-CN" altLang="en-US" sz="2000" b="1" dirty="0">
                <a:latin typeface="华文中宋" panose="02010600040101010101" pitchFamily="2" charset="-122"/>
                <a:ea typeface="华文中宋" panose="02010600040101010101" pitchFamily="2" charset="-122"/>
              </a:rPr>
              <a:t>多模态辅助偏好建模</a:t>
            </a:r>
          </a:p>
        </p:txBody>
      </p:sp>
      <p:pic>
        <p:nvPicPr>
          <p:cNvPr id="20" name="图片 19">
            <a:extLst>
              <a:ext uri="{FF2B5EF4-FFF2-40B4-BE49-F238E27FC236}">
                <a16:creationId xmlns:a16="http://schemas.microsoft.com/office/drawing/2014/main" id="{D8A99F8A-277A-4CFE-B899-8C6482E0D363}"/>
              </a:ext>
            </a:extLst>
          </p:cNvPr>
          <p:cNvPicPr>
            <a:picLocks noChangeAspect="1"/>
          </p:cNvPicPr>
          <p:nvPr/>
        </p:nvPicPr>
        <p:blipFill>
          <a:blip r:embed="rId3"/>
          <a:stretch>
            <a:fillRect/>
          </a:stretch>
        </p:blipFill>
        <p:spPr>
          <a:xfrm>
            <a:off x="7505560" y="1692135"/>
            <a:ext cx="3914713" cy="3975642"/>
          </a:xfrm>
          <a:prstGeom prst="rect">
            <a:avLst/>
          </a:prstGeom>
        </p:spPr>
      </p:pic>
      <p:sp>
        <p:nvSpPr>
          <p:cNvPr id="22" name="内容占位符 1">
            <a:extLst>
              <a:ext uri="{FF2B5EF4-FFF2-40B4-BE49-F238E27FC236}">
                <a16:creationId xmlns:a16="http://schemas.microsoft.com/office/drawing/2014/main" id="{2D4A0332-302C-49B8-B8FD-46C7D8FD98C1}"/>
              </a:ext>
            </a:extLst>
          </p:cNvPr>
          <p:cNvSpPr>
            <a:spLocks noGrp="1"/>
          </p:cNvSpPr>
          <p:nvPr>
            <p:ph idx="1"/>
          </p:nvPr>
        </p:nvSpPr>
        <p:spPr>
          <a:xfrm>
            <a:off x="215207" y="1830231"/>
            <a:ext cx="7689521" cy="2210171"/>
          </a:xfrm>
        </p:spPr>
        <p:txBody>
          <a:bodyPr>
            <a:normAutofit/>
          </a:bodyPr>
          <a:lstStyle/>
          <a:p>
            <a:r>
              <a:rPr lang="zh-CN" altLang="en-US" dirty="0">
                <a:solidFill>
                  <a:schemeClr val="tx1"/>
                </a:solidFill>
                <a:latin typeface="华文中宋" panose="02010600040101010101" pitchFamily="2" charset="-122"/>
                <a:ea typeface="华文中宋" panose="02010600040101010101" pitchFamily="2" charset="-122"/>
              </a:rPr>
              <a:t>利用大模型融合物品多模态特征</a:t>
            </a:r>
            <a:r>
              <a:rPr lang="zh-CN" altLang="en-US" dirty="0">
                <a:solidFill>
                  <a:schemeClr val="tx1"/>
                </a:solidFill>
                <a:effectLst/>
                <a:latin typeface="华文中宋" panose="02010600040101010101" pitchFamily="2" charset="-122"/>
                <a:ea typeface="华文中宋" panose="02010600040101010101" pitchFamily="2" charset="-122"/>
              </a:rPr>
              <a:t>：</a:t>
            </a:r>
            <a:endParaRPr lang="en-US" altLang="zh-CN" dirty="0">
              <a:solidFill>
                <a:schemeClr val="tx1"/>
              </a:solidFill>
              <a:effectLst/>
              <a:latin typeface="华文中宋" panose="02010600040101010101" pitchFamily="2" charset="-122"/>
              <a:ea typeface="华文中宋" panose="02010600040101010101" pitchFamily="2" charset="-122"/>
            </a:endParaRPr>
          </a:p>
          <a:p>
            <a:pPr lvl="1"/>
            <a:r>
              <a:rPr lang="zh-CN" altLang="en-US" dirty="0">
                <a:solidFill>
                  <a:schemeClr val="tx1"/>
                </a:solidFill>
                <a:latin typeface="华文中宋" panose="02010600040101010101" pitchFamily="2" charset="-122"/>
                <a:ea typeface="华文中宋" panose="02010600040101010101" pitchFamily="2" charset="-122"/>
              </a:rPr>
              <a:t>视觉信息可能包含</a:t>
            </a:r>
            <a:r>
              <a:rPr lang="zh-CN" altLang="en-US" dirty="0">
                <a:solidFill>
                  <a:srgbClr val="FF0000"/>
                </a:solidFill>
                <a:latin typeface="华文中宋" panose="02010600040101010101" pitchFamily="2" charset="-122"/>
                <a:ea typeface="华文中宋" panose="02010600040101010101" pitchFamily="2" charset="-122"/>
              </a:rPr>
              <a:t>非商品信息</a:t>
            </a:r>
            <a:r>
              <a:rPr lang="zh-CN" altLang="en-US" dirty="0">
                <a:solidFill>
                  <a:schemeClr val="tx1"/>
                </a:solidFill>
                <a:latin typeface="华文中宋" panose="02010600040101010101" pitchFamily="2" charset="-122"/>
                <a:ea typeface="华文中宋" panose="02010600040101010101" pitchFamily="2" charset="-122"/>
              </a:rPr>
              <a:t>，直接提取会受到</a:t>
            </a:r>
            <a:r>
              <a:rPr lang="zh-CN" altLang="en-US" dirty="0">
                <a:solidFill>
                  <a:srgbClr val="FF0000"/>
                </a:solidFill>
                <a:latin typeface="华文中宋" panose="02010600040101010101" pitchFamily="2" charset="-122"/>
                <a:ea typeface="华文中宋" panose="02010600040101010101" pitchFamily="2" charset="-122"/>
              </a:rPr>
              <a:t>背景</a:t>
            </a:r>
            <a:r>
              <a:rPr lang="zh-CN" altLang="en-US" dirty="0">
                <a:solidFill>
                  <a:schemeClr val="tx1"/>
                </a:solidFill>
                <a:latin typeface="华文中宋" panose="02010600040101010101" pitchFamily="2" charset="-122"/>
                <a:ea typeface="华文中宋" panose="02010600040101010101" pitchFamily="2" charset="-122"/>
              </a:rPr>
              <a:t>等因素</a:t>
            </a:r>
            <a:r>
              <a:rPr lang="zh-CN" altLang="en-US" dirty="0">
                <a:solidFill>
                  <a:srgbClr val="FF0000"/>
                </a:solidFill>
                <a:latin typeface="华文中宋" panose="02010600040101010101" pitchFamily="2" charset="-122"/>
                <a:ea typeface="华文中宋" panose="02010600040101010101" pitchFamily="2" charset="-122"/>
              </a:rPr>
              <a:t>影响</a:t>
            </a:r>
            <a:r>
              <a:rPr lang="zh-CN" altLang="en-US" dirty="0">
                <a:solidFill>
                  <a:schemeClr val="tx1"/>
                </a:solidFill>
                <a:latin typeface="华文中宋" panose="02010600040101010101" pitchFamily="2" charset="-122"/>
                <a:ea typeface="华文中宋" panose="02010600040101010101" pitchFamily="2" charset="-122"/>
              </a:rPr>
              <a:t>。</a:t>
            </a:r>
            <a:endParaRPr lang="en-US" altLang="zh-CN" dirty="0">
              <a:solidFill>
                <a:schemeClr val="tx1"/>
              </a:solidFill>
              <a:latin typeface="华文中宋" panose="02010600040101010101" pitchFamily="2" charset="-122"/>
              <a:ea typeface="华文中宋" panose="02010600040101010101" pitchFamily="2" charset="-122"/>
            </a:endParaRPr>
          </a:p>
          <a:p>
            <a:pPr lvl="1"/>
            <a:r>
              <a:rPr lang="zh-CN" altLang="en-US" dirty="0">
                <a:solidFill>
                  <a:schemeClr val="tx1"/>
                </a:solidFill>
                <a:latin typeface="华文中宋" panose="02010600040101010101" pitchFamily="2" charset="-122"/>
                <a:ea typeface="华文中宋" panose="02010600040101010101" pitchFamily="2" charset="-122"/>
              </a:rPr>
              <a:t>文本信息可能存在</a:t>
            </a:r>
            <a:r>
              <a:rPr lang="zh-CN" altLang="en-US" dirty="0">
                <a:solidFill>
                  <a:srgbClr val="FF0000"/>
                </a:solidFill>
                <a:latin typeface="华文中宋" panose="02010600040101010101" pitchFamily="2" charset="-122"/>
                <a:ea typeface="华文中宋" panose="02010600040101010101" pitchFamily="2" charset="-122"/>
              </a:rPr>
              <a:t>冗余信息</a:t>
            </a:r>
            <a:r>
              <a:rPr lang="zh-CN" altLang="en-US" dirty="0">
                <a:solidFill>
                  <a:schemeClr val="tx1"/>
                </a:solidFill>
                <a:latin typeface="华文中宋" panose="02010600040101010101" pitchFamily="2" charset="-122"/>
                <a:ea typeface="华文中宋" panose="02010600040101010101" pitchFamily="2" charset="-122"/>
              </a:rPr>
              <a:t>，</a:t>
            </a:r>
            <a:r>
              <a:rPr lang="zh-CN" altLang="en-US" dirty="0">
                <a:solidFill>
                  <a:srgbClr val="FF0000"/>
                </a:solidFill>
                <a:latin typeface="华文中宋" panose="02010600040101010101" pitchFamily="2" charset="-122"/>
                <a:ea typeface="华文中宋" panose="02010600040101010101" pitchFamily="2" charset="-122"/>
              </a:rPr>
              <a:t>无法</a:t>
            </a:r>
            <a:r>
              <a:rPr lang="zh-CN" altLang="en-US" dirty="0">
                <a:solidFill>
                  <a:schemeClr val="tx1"/>
                </a:solidFill>
                <a:latin typeface="华文中宋" panose="02010600040101010101" pitchFamily="2" charset="-122"/>
                <a:ea typeface="华文中宋" panose="02010600040101010101" pitchFamily="2" charset="-122"/>
              </a:rPr>
              <a:t>精准</a:t>
            </a:r>
            <a:r>
              <a:rPr lang="zh-CN" altLang="en-US" dirty="0">
                <a:solidFill>
                  <a:srgbClr val="FF0000"/>
                </a:solidFill>
                <a:latin typeface="华文中宋" panose="02010600040101010101" pitchFamily="2" charset="-122"/>
                <a:ea typeface="华文中宋" panose="02010600040101010101" pitchFamily="2" charset="-122"/>
              </a:rPr>
              <a:t>反映</a:t>
            </a:r>
            <a:r>
              <a:rPr lang="zh-CN" altLang="en-US" dirty="0">
                <a:solidFill>
                  <a:schemeClr val="tx1"/>
                </a:solidFill>
                <a:latin typeface="华文中宋" panose="02010600040101010101" pitchFamily="2" charset="-122"/>
                <a:ea typeface="华文中宋" panose="02010600040101010101" pitchFamily="2" charset="-122"/>
              </a:rPr>
              <a:t>物品的</a:t>
            </a:r>
            <a:r>
              <a:rPr lang="zh-CN" altLang="en-US" dirty="0">
                <a:solidFill>
                  <a:srgbClr val="FF0000"/>
                </a:solidFill>
                <a:latin typeface="华文中宋" panose="02010600040101010101" pitchFamily="2" charset="-122"/>
                <a:ea typeface="华文中宋" panose="02010600040101010101" pitchFamily="2" charset="-122"/>
              </a:rPr>
              <a:t>具体特征</a:t>
            </a:r>
            <a:r>
              <a:rPr lang="zh-CN" altLang="en-US" dirty="0">
                <a:solidFill>
                  <a:schemeClr val="tx1"/>
                </a:solidFill>
                <a:latin typeface="华文中宋" panose="02010600040101010101" pitchFamily="2" charset="-122"/>
                <a:ea typeface="华文中宋" panose="02010600040101010101" pitchFamily="2" charset="-122"/>
              </a:rPr>
              <a:t>。</a:t>
            </a:r>
            <a:endParaRPr lang="en-US" altLang="zh-CN" dirty="0">
              <a:solidFill>
                <a:schemeClr val="tx1"/>
              </a:solidFill>
              <a:latin typeface="华文中宋" panose="02010600040101010101" pitchFamily="2" charset="-122"/>
              <a:ea typeface="华文中宋" panose="02010600040101010101" pitchFamily="2" charset="-122"/>
            </a:endParaRPr>
          </a:p>
          <a:p>
            <a:pPr lvl="1"/>
            <a:r>
              <a:rPr lang="zh-CN" altLang="en-US" dirty="0">
                <a:solidFill>
                  <a:schemeClr val="tx1"/>
                </a:solidFill>
                <a:effectLst/>
                <a:latin typeface="华文中宋" panose="02010600040101010101" pitchFamily="2" charset="-122"/>
                <a:ea typeface="华文中宋" panose="02010600040101010101" pitchFamily="2" charset="-122"/>
              </a:rPr>
              <a:t>利用大模型的推理能力，结合视觉与文本信息，生成描述物品特征的摘要。</a:t>
            </a:r>
            <a:endParaRPr lang="en-US" altLang="zh-CN" dirty="0">
              <a:solidFill>
                <a:schemeClr val="tx1"/>
              </a:solidFill>
              <a:effectLst/>
              <a:latin typeface="华文中宋" panose="02010600040101010101" pitchFamily="2" charset="-122"/>
              <a:ea typeface="华文中宋" panose="02010600040101010101" pitchFamily="2" charset="-122"/>
            </a:endParaRPr>
          </a:p>
        </p:txBody>
      </p:sp>
      <p:sp>
        <p:nvSpPr>
          <p:cNvPr id="23" name="内容占位符 1">
            <a:extLst>
              <a:ext uri="{FF2B5EF4-FFF2-40B4-BE49-F238E27FC236}">
                <a16:creationId xmlns:a16="http://schemas.microsoft.com/office/drawing/2014/main" id="{FFE77627-E2AD-4B29-BDD8-042A8E874725}"/>
              </a:ext>
            </a:extLst>
          </p:cNvPr>
          <p:cNvSpPr txBox="1">
            <a:spLocks/>
          </p:cNvSpPr>
          <p:nvPr/>
        </p:nvSpPr>
        <p:spPr>
          <a:xfrm>
            <a:off x="215206" y="4038591"/>
            <a:ext cx="7689521" cy="1895282"/>
          </a:xfrm>
          <a:prstGeom prst="rect">
            <a:avLst/>
          </a:prstGeom>
        </p:spPr>
        <p:txBody>
          <a:bodyPr vert="horz" lIns="91440" tIns="45720" rIns="91440" bIns="45720" rtlCol="0" anchor="t">
            <a:normAutofit/>
          </a:bodyPr>
          <a:lstStyle>
            <a:lvl1pPr marL="305992" indent="-305992"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29984" indent="-305992"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899978" indent="-269993"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1969" indent="-233994"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1960" indent="-233994"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899953"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199945"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38"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930"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zh-CN" altLang="en-US" dirty="0">
                <a:solidFill>
                  <a:schemeClr val="tx1"/>
                </a:solidFill>
                <a:latin typeface="华文中宋" panose="02010600040101010101" pitchFamily="2" charset="-122"/>
                <a:ea typeface="华文中宋" panose="02010600040101010101" pitchFamily="2" charset="-122"/>
              </a:rPr>
              <a:t>结合协同信息与模态信息，生成用户的真实偏好：</a:t>
            </a:r>
            <a:endParaRPr lang="en-US" altLang="zh-CN" dirty="0">
              <a:solidFill>
                <a:schemeClr val="tx1"/>
              </a:solidFill>
              <a:latin typeface="华文中宋" panose="02010600040101010101" pitchFamily="2" charset="-122"/>
              <a:ea typeface="华文中宋" panose="02010600040101010101" pitchFamily="2" charset="-122"/>
            </a:endParaRPr>
          </a:p>
          <a:p>
            <a:pPr lvl="1"/>
            <a:r>
              <a:rPr lang="zh-CN" altLang="en-US" dirty="0">
                <a:solidFill>
                  <a:schemeClr val="tx1"/>
                </a:solidFill>
                <a:latin typeface="华文中宋" panose="02010600040101010101" pitchFamily="2" charset="-122"/>
                <a:ea typeface="华文中宋" panose="02010600040101010101" pitchFamily="2" charset="-122"/>
              </a:rPr>
              <a:t>结合</a:t>
            </a:r>
            <a:r>
              <a:rPr lang="en-US" altLang="zh-CN" dirty="0">
                <a:solidFill>
                  <a:schemeClr val="tx1"/>
                </a:solidFill>
                <a:latin typeface="+mj-lt"/>
                <a:ea typeface="华文中宋" panose="02010600040101010101" pitchFamily="2" charset="-122"/>
              </a:rPr>
              <a:t>NIPER</a:t>
            </a:r>
            <a:r>
              <a:rPr lang="zh-CN" altLang="en-US" dirty="0">
                <a:solidFill>
                  <a:schemeClr val="tx1"/>
                </a:solidFill>
                <a:latin typeface="+mj-lt"/>
                <a:ea typeface="华文中宋" panose="02010600040101010101" pitchFamily="2" charset="-122"/>
              </a:rPr>
              <a:t>中行为间与行为内加权方法，为每对用户</a:t>
            </a:r>
            <a:r>
              <a:rPr lang="en-US" altLang="zh-CN" dirty="0">
                <a:solidFill>
                  <a:schemeClr val="tx1"/>
                </a:solidFill>
                <a:latin typeface="+mj-lt"/>
                <a:ea typeface="华文中宋" panose="02010600040101010101" pitchFamily="2" charset="-122"/>
              </a:rPr>
              <a:t>-</a:t>
            </a:r>
            <a:r>
              <a:rPr lang="zh-CN" altLang="en-US" dirty="0">
                <a:solidFill>
                  <a:schemeClr val="tx1"/>
                </a:solidFill>
                <a:latin typeface="+mj-lt"/>
                <a:ea typeface="华文中宋" panose="02010600040101010101" pitchFamily="2" charset="-122"/>
              </a:rPr>
              <a:t>物品交互进行打分</a:t>
            </a:r>
            <a:r>
              <a:rPr lang="zh-CN" altLang="en-US" dirty="0">
                <a:solidFill>
                  <a:schemeClr val="tx1"/>
                </a:solidFill>
                <a:latin typeface="华文中宋" panose="02010600040101010101" pitchFamily="2" charset="-122"/>
                <a:ea typeface="华文中宋" panose="02010600040101010101" pitchFamily="2" charset="-122"/>
              </a:rPr>
              <a:t>。</a:t>
            </a:r>
            <a:endParaRPr lang="en-US" altLang="zh-CN" dirty="0">
              <a:solidFill>
                <a:schemeClr val="tx1"/>
              </a:solidFill>
              <a:latin typeface="华文中宋" panose="02010600040101010101" pitchFamily="2" charset="-122"/>
              <a:ea typeface="华文中宋" panose="02010600040101010101" pitchFamily="2" charset="-122"/>
            </a:endParaRPr>
          </a:p>
          <a:p>
            <a:pPr lvl="1"/>
            <a:r>
              <a:rPr lang="zh-CN" altLang="en-US" dirty="0">
                <a:solidFill>
                  <a:schemeClr val="tx1"/>
                </a:solidFill>
                <a:latin typeface="华文中宋" panose="02010600040101010101" pitchFamily="2" charset="-122"/>
                <a:ea typeface="华文中宋" panose="02010600040101010101" pitchFamily="2" charset="-122"/>
              </a:rPr>
              <a:t>结合协同交互分数与物品的文本摘要信息，生成用户的偏好文本。</a:t>
            </a:r>
            <a:endParaRPr lang="en-US" altLang="zh-CN" dirty="0">
              <a:solidFill>
                <a:schemeClr val="tx1"/>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36397018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23FF93AD-B291-5347-AC70-D7287ABA5C8E}"/>
              </a:ext>
            </a:extLst>
          </p:cNvPr>
          <p:cNvSpPr>
            <a:spLocks noGrp="1"/>
          </p:cNvSpPr>
          <p:nvPr>
            <p:ph type="title"/>
          </p:nvPr>
        </p:nvSpPr>
        <p:spPr/>
        <p:txBody>
          <a:bodyPr>
            <a:normAutofit/>
          </a:bodyPr>
          <a:lstStyle/>
          <a:p>
            <a:r>
              <a:rPr kumimoji="1" lang="en-US" altLang="zh-CN" sz="3200" b="1" dirty="0">
                <a:latin typeface="华文中宋" panose="02010600040101010101" pitchFamily="2" charset="-122"/>
                <a:ea typeface="华文中宋" panose="02010600040101010101" pitchFamily="2" charset="-122"/>
              </a:rPr>
              <a:t>4.</a:t>
            </a:r>
            <a:r>
              <a:rPr kumimoji="1" lang="zh-CN" altLang="en-US" sz="3200" b="1" dirty="0">
                <a:latin typeface="华文中宋" panose="02010600040101010101" pitchFamily="2" charset="-122"/>
                <a:ea typeface="华文中宋" panose="02010600040101010101" pitchFamily="2" charset="-122"/>
              </a:rPr>
              <a:t>噪声感知与偏好提取的多模态多行为推荐方法</a:t>
            </a:r>
            <a:endParaRPr kumimoji="1" lang="en-US" altLang="zh-CN" sz="3200" b="1" dirty="0">
              <a:latin typeface="华文中宋" panose="02010600040101010101" pitchFamily="2" charset="-122"/>
              <a:ea typeface="华文中宋" panose="02010600040101010101" pitchFamily="2" charset="-122"/>
            </a:endParaRPr>
          </a:p>
        </p:txBody>
      </p:sp>
      <p:sp>
        <p:nvSpPr>
          <p:cNvPr id="14" name="文本框 13">
            <a:extLst>
              <a:ext uri="{FF2B5EF4-FFF2-40B4-BE49-F238E27FC236}">
                <a16:creationId xmlns:a16="http://schemas.microsoft.com/office/drawing/2014/main" id="{D3A89502-5948-4340-B1E2-6B0C672F47CE}"/>
              </a:ext>
            </a:extLst>
          </p:cNvPr>
          <p:cNvSpPr txBox="1"/>
          <p:nvPr/>
        </p:nvSpPr>
        <p:spPr>
          <a:xfrm>
            <a:off x="561754" y="1366100"/>
            <a:ext cx="10601546" cy="400110"/>
          </a:xfrm>
          <a:prstGeom prst="rect">
            <a:avLst/>
          </a:prstGeom>
          <a:noFill/>
        </p:spPr>
        <p:txBody>
          <a:bodyPr wrap="square" rtlCol="0">
            <a:spAutoFit/>
          </a:bodyPr>
          <a:lstStyle/>
          <a:p>
            <a:r>
              <a:rPr lang="zh-CN" altLang="en-US" sz="2000" b="1" dirty="0">
                <a:latin typeface="华文中宋" panose="02010600040101010101" pitchFamily="2" charset="-122"/>
                <a:ea typeface="华文中宋" panose="02010600040101010101" pitchFamily="2" charset="-122"/>
              </a:rPr>
              <a:t>多模态辅助偏好建模</a:t>
            </a:r>
          </a:p>
        </p:txBody>
      </p:sp>
      <mc:AlternateContent xmlns:mc="http://schemas.openxmlformats.org/markup-compatibility/2006" xmlns:a14="http://schemas.microsoft.com/office/drawing/2010/main">
        <mc:Choice Requires="a14">
          <p:sp>
            <p:nvSpPr>
              <p:cNvPr id="15" name="内容占位符 1">
                <a:extLst>
                  <a:ext uri="{FF2B5EF4-FFF2-40B4-BE49-F238E27FC236}">
                    <a16:creationId xmlns:a16="http://schemas.microsoft.com/office/drawing/2014/main" id="{7913953D-D0F8-42AE-A81B-04000312E9DB}"/>
                  </a:ext>
                </a:extLst>
              </p:cNvPr>
              <p:cNvSpPr>
                <a:spLocks noGrp="1"/>
              </p:cNvSpPr>
              <p:nvPr>
                <p:ph idx="1"/>
              </p:nvPr>
            </p:nvSpPr>
            <p:spPr>
              <a:xfrm>
                <a:off x="0" y="1866990"/>
                <a:ext cx="7689521" cy="4278739"/>
              </a:xfrm>
            </p:spPr>
            <p:txBody>
              <a:bodyPr>
                <a:normAutofit/>
              </a:bodyPr>
              <a:lstStyle/>
              <a:p>
                <a:r>
                  <a:rPr lang="zh-CN" altLang="en-US" dirty="0">
                    <a:solidFill>
                      <a:schemeClr val="tx1"/>
                    </a:solidFill>
                    <a:effectLst/>
                    <a:latin typeface="华文中宋" panose="02010600040101010101" pitchFamily="2" charset="-122"/>
                    <a:ea typeface="华文中宋" panose="02010600040101010101" pitchFamily="2" charset="-122"/>
                  </a:rPr>
                  <a:t>用户</a:t>
                </a:r>
                <a:r>
                  <a:rPr lang="zh-CN" altLang="en-US" dirty="0">
                    <a:solidFill>
                      <a:schemeClr val="tx1"/>
                    </a:solidFill>
                    <a:latin typeface="华文中宋" panose="02010600040101010101" pitchFamily="2" charset="-122"/>
                    <a:ea typeface="华文中宋" panose="02010600040101010101" pitchFamily="2" charset="-122"/>
                  </a:rPr>
                  <a:t>、物品模态特征的构建</a:t>
                </a:r>
                <a:r>
                  <a:rPr lang="zh-CN" altLang="en-US" dirty="0">
                    <a:solidFill>
                      <a:schemeClr val="tx1"/>
                    </a:solidFill>
                    <a:effectLst/>
                    <a:latin typeface="华文中宋" panose="02010600040101010101" pitchFamily="2" charset="-122"/>
                    <a:ea typeface="华文中宋" panose="02010600040101010101" pitchFamily="2" charset="-122"/>
                  </a:rPr>
                  <a:t>：</a:t>
                </a:r>
                <a:endParaRPr lang="en-US" altLang="zh-CN" dirty="0">
                  <a:solidFill>
                    <a:schemeClr val="tx1"/>
                  </a:solidFill>
                  <a:effectLst/>
                  <a:latin typeface="华文中宋" panose="02010600040101010101" pitchFamily="2" charset="-122"/>
                  <a:ea typeface="华文中宋" panose="02010600040101010101" pitchFamily="2" charset="-122"/>
                </a:endParaRPr>
              </a:p>
              <a:p>
                <a:pPr lvl="1"/>
                <a:r>
                  <a:rPr lang="zh-CN" altLang="en-US" dirty="0">
                    <a:solidFill>
                      <a:schemeClr val="tx1"/>
                    </a:solidFill>
                    <a:latin typeface="华文中宋" panose="02010600040101010101" pitchFamily="2" charset="-122"/>
                    <a:ea typeface="华文中宋" panose="02010600040101010101" pitchFamily="2" charset="-122"/>
                  </a:rPr>
                  <a:t>用户与物品的模态特征使用预训练的语言模型进行生成</a:t>
                </a:r>
                <a:r>
                  <a:rPr lang="en-US" altLang="zh-CN" dirty="0">
                    <a:solidFill>
                      <a:schemeClr val="tx1"/>
                    </a:solidFill>
                    <a:latin typeface="华文中宋" panose="02010600040101010101" pitchFamily="2" charset="-122"/>
                    <a:ea typeface="华文中宋" panose="02010600040101010101" pitchFamily="2" charset="-122"/>
                  </a:rPr>
                  <a:t>(</a:t>
                </a:r>
                <a:r>
                  <a:rPr lang="en-US" altLang="zh-CN" dirty="0"/>
                  <a:t>Sentence-BERT</a:t>
                </a:r>
                <a:r>
                  <a:rPr lang="en-US" altLang="zh-CN" dirty="0">
                    <a:solidFill>
                      <a:schemeClr val="tx1"/>
                    </a:solidFill>
                    <a:latin typeface="华文中宋" panose="02010600040101010101" pitchFamily="2" charset="-122"/>
                    <a:ea typeface="华文中宋" panose="02010600040101010101" pitchFamily="2" charset="-122"/>
                  </a:rPr>
                  <a:t>)</a:t>
                </a:r>
                <a:r>
                  <a:rPr lang="zh-CN" altLang="en-US" dirty="0">
                    <a:solidFill>
                      <a:schemeClr val="tx1"/>
                    </a:solidFill>
                    <a:latin typeface="华文中宋" panose="02010600040101010101" pitchFamily="2" charset="-122"/>
                    <a:ea typeface="华文中宋" panose="02010600040101010101" pitchFamily="2" charset="-122"/>
                  </a:rPr>
                  <a:t>。</a:t>
                </a:r>
                <a:endParaRPr lang="en-US" altLang="zh-CN" dirty="0">
                  <a:solidFill>
                    <a:schemeClr val="tx1"/>
                  </a:solidFill>
                  <a:latin typeface="华文中宋" panose="02010600040101010101" pitchFamily="2" charset="-122"/>
                  <a:ea typeface="华文中宋" panose="02010600040101010101" pitchFamily="2" charset="-122"/>
                </a:endParaRPr>
              </a:p>
              <a:p>
                <a:pPr lvl="1"/>
                <a:r>
                  <a:rPr lang="zh-CN" altLang="en-US" dirty="0">
                    <a:solidFill>
                      <a:schemeClr val="tx1"/>
                    </a:solidFill>
                    <a:effectLst/>
                    <a:latin typeface="华文中宋" panose="02010600040101010101" pitchFamily="2" charset="-122"/>
                    <a:ea typeface="华文中宋" panose="02010600040101010101" pitchFamily="2" charset="-122"/>
                  </a:rPr>
                  <a:t>利用原始模态信息过滤硬噪声</a:t>
                </a:r>
                <a:r>
                  <a:rPr lang="en-US" altLang="zh-CN" dirty="0">
                    <a:solidFill>
                      <a:schemeClr val="tx1"/>
                    </a:solidFill>
                    <a:latin typeface="华文中宋" panose="02010600040101010101" pitchFamily="2" charset="-122"/>
                    <a:ea typeface="华文中宋" panose="02010600040101010101" pitchFamily="2" charset="-122"/>
                  </a:rPr>
                  <a:t>:</a:t>
                </a:r>
              </a:p>
              <a:p>
                <a:pPr lvl="2"/>
                <a:r>
                  <a:rPr lang="zh-CN" altLang="en-US" dirty="0">
                    <a:solidFill>
                      <a:schemeClr val="tx1"/>
                    </a:solidFill>
                    <a:latin typeface="华文中宋" panose="02010600040101010101" pitchFamily="2" charset="-122"/>
                    <a:ea typeface="华文中宋" panose="02010600040101010101" pitchFamily="2" charset="-122"/>
                  </a:rPr>
                  <a:t>计算用户与物品的模态相似度：</a:t>
                </a:r>
                <a:endParaRPr lang="en-US" altLang="zh-CN" dirty="0">
                  <a:solidFill>
                    <a:schemeClr val="tx1"/>
                  </a:solidFill>
                  <a:latin typeface="华文中宋" panose="02010600040101010101" pitchFamily="2" charset="-122"/>
                  <a:ea typeface="华文中宋" panose="02010600040101010101" pitchFamily="2" charset="-122"/>
                </a:endParaRPr>
              </a:p>
              <a:p>
                <a:pPr lvl="2"/>
                <a:r>
                  <a:rPr lang="zh-CN" altLang="en-US" b="0" i="0" dirty="0">
                    <a:solidFill>
                      <a:srgbClr val="111133"/>
                    </a:solidFill>
                    <a:effectLst/>
                    <a:latin typeface="华文中宋" panose="02010600040101010101" pitchFamily="2" charset="-122"/>
                    <a:ea typeface="华文中宋" panose="02010600040101010101" pitchFamily="2" charset="-122"/>
                  </a:rPr>
                  <a:t>经</a:t>
                </a:r>
                <a:r>
                  <a:rPr lang="en-US" altLang="zh-CN" b="0" i="0" dirty="0" err="1">
                    <a:solidFill>
                      <a:srgbClr val="111133"/>
                    </a:solidFill>
                    <a:effectLst/>
                    <a:latin typeface="华文中宋" panose="02010600040101010101" pitchFamily="2" charset="-122"/>
                    <a:ea typeface="华文中宋" panose="02010600040101010101" pitchFamily="2" charset="-122"/>
                  </a:rPr>
                  <a:t>softmax</a:t>
                </a:r>
                <a:r>
                  <a:rPr lang="zh-CN" altLang="en-US" b="0" i="0" dirty="0">
                    <a:solidFill>
                      <a:srgbClr val="111133"/>
                    </a:solidFill>
                    <a:effectLst/>
                    <a:latin typeface="华文中宋" panose="02010600040101010101" pitchFamily="2" charset="-122"/>
                    <a:ea typeface="华文中宋" panose="02010600040101010101" pitchFamily="2" charset="-122"/>
                  </a:rPr>
                  <a:t>归一化后得 </a:t>
                </a:r>
                <a14:m>
                  <m:oMath xmlns:m="http://schemas.openxmlformats.org/officeDocument/2006/math">
                    <m:sSub>
                      <m:sSubPr>
                        <m:ctrlPr>
                          <a:rPr lang="en-US" altLang="zh-CN" b="0" i="1" smtClean="0">
                            <a:solidFill>
                              <a:srgbClr val="111133"/>
                            </a:solidFill>
                            <a:effectLst/>
                            <a:latin typeface="Cambria Math" panose="02040503050406030204" pitchFamily="18" charset="0"/>
                          </a:rPr>
                        </m:ctrlPr>
                      </m:sSubPr>
                      <m:e>
                        <m:acc>
                          <m:accPr>
                            <m:chr m:val="̃"/>
                            <m:ctrlPr>
                              <a:rPr lang="en-US" altLang="zh-CN" b="0" i="1" smtClean="0">
                                <a:solidFill>
                                  <a:srgbClr val="111133"/>
                                </a:solidFill>
                                <a:effectLst/>
                                <a:latin typeface="Cambria Math" panose="02040503050406030204" pitchFamily="18" charset="0"/>
                              </a:rPr>
                            </m:ctrlPr>
                          </m:accPr>
                          <m:e>
                            <m:r>
                              <a:rPr lang="en-US" altLang="zh-CN" b="0" i="1" smtClean="0">
                                <a:solidFill>
                                  <a:srgbClr val="111133"/>
                                </a:solidFill>
                                <a:effectLst/>
                                <a:latin typeface="Cambria Math" panose="02040503050406030204" pitchFamily="18" charset="0"/>
                              </a:rPr>
                              <m:t>𝑠</m:t>
                            </m:r>
                          </m:e>
                        </m:acc>
                      </m:e>
                      <m:sub>
                        <m:r>
                          <a:rPr lang="en-US" altLang="zh-CN" b="0" i="1" smtClean="0">
                            <a:solidFill>
                              <a:srgbClr val="111133"/>
                            </a:solidFill>
                            <a:effectLst/>
                            <a:latin typeface="Cambria Math" panose="02040503050406030204" pitchFamily="18" charset="0"/>
                          </a:rPr>
                          <m:t>𝑢𝑖</m:t>
                        </m:r>
                      </m:sub>
                    </m:sSub>
                  </m:oMath>
                </a14:m>
                <a:r>
                  <a:rPr lang="zh-CN" altLang="en-US" b="0" i="0" dirty="0">
                    <a:solidFill>
                      <a:srgbClr val="111133"/>
                    </a:solidFill>
                    <a:effectLst/>
                    <a:latin typeface="华文中宋" panose="02010600040101010101" pitchFamily="2" charset="-122"/>
                    <a:ea typeface="华文中宋" panose="02010600040101010101" pitchFamily="2" charset="-122"/>
                  </a:rPr>
                  <a:t>​，若 </a:t>
                </a:r>
                <a:r>
                  <a:rPr lang="en-US" altLang="zh-CN" dirty="0">
                    <a:solidFill>
                      <a:srgbClr val="111133"/>
                    </a:solidFill>
                    <a:latin typeface="华文中宋" panose="02010600040101010101" pitchFamily="2" charset="-122"/>
                    <a:ea typeface="华文中宋" panose="02010600040101010101" pitchFamily="2" charset="-122"/>
                  </a:rPr>
                  <a:t> </a:t>
                </a:r>
                <a14:m>
                  <m:oMath xmlns:m="http://schemas.openxmlformats.org/officeDocument/2006/math">
                    <m:sSub>
                      <m:sSubPr>
                        <m:ctrlPr>
                          <a:rPr lang="en-US" altLang="zh-CN" i="1">
                            <a:solidFill>
                              <a:srgbClr val="111133"/>
                            </a:solidFill>
                            <a:latin typeface="Cambria Math" panose="02040503050406030204" pitchFamily="18" charset="0"/>
                          </a:rPr>
                        </m:ctrlPr>
                      </m:sSubPr>
                      <m:e>
                        <m:acc>
                          <m:accPr>
                            <m:chr m:val="̃"/>
                            <m:ctrlPr>
                              <a:rPr lang="en-US" altLang="zh-CN" i="1">
                                <a:solidFill>
                                  <a:srgbClr val="111133"/>
                                </a:solidFill>
                                <a:latin typeface="Cambria Math" panose="02040503050406030204" pitchFamily="18" charset="0"/>
                              </a:rPr>
                            </m:ctrlPr>
                          </m:accPr>
                          <m:e>
                            <m:r>
                              <a:rPr lang="en-US" altLang="zh-CN" i="1">
                                <a:solidFill>
                                  <a:srgbClr val="111133"/>
                                </a:solidFill>
                                <a:latin typeface="Cambria Math" panose="02040503050406030204" pitchFamily="18" charset="0"/>
                              </a:rPr>
                              <m:t>𝑠</m:t>
                            </m:r>
                          </m:e>
                        </m:acc>
                      </m:e>
                      <m:sub>
                        <m:r>
                          <a:rPr lang="en-US" altLang="zh-CN" i="1">
                            <a:solidFill>
                              <a:srgbClr val="111133"/>
                            </a:solidFill>
                            <a:latin typeface="Cambria Math" panose="02040503050406030204" pitchFamily="18" charset="0"/>
                          </a:rPr>
                          <m:t>𝑢𝑖</m:t>
                        </m:r>
                      </m:sub>
                    </m:sSub>
                    <m:r>
                      <a:rPr lang="en-US" altLang="zh-CN" i="1">
                        <a:solidFill>
                          <a:srgbClr val="111133"/>
                        </a:solidFill>
                        <a:latin typeface="Cambria Math" panose="02040503050406030204" pitchFamily="18" charset="0"/>
                      </a:rPr>
                      <m:t> </m:t>
                    </m:r>
                  </m:oMath>
                </a14:m>
                <a:r>
                  <a:rPr lang="zh-CN" altLang="en-US" b="0" i="0" dirty="0">
                    <a:solidFill>
                      <a:srgbClr val="111133"/>
                    </a:solidFill>
                    <a:effectLst/>
                    <a:latin typeface="华文中宋" panose="02010600040101010101" pitchFamily="2" charset="-122"/>
                    <a:ea typeface="华文中宋" panose="02010600040101010101" pitchFamily="2" charset="-122"/>
                  </a:rPr>
                  <a:t>​</a:t>
                </a:r>
                <a:r>
                  <a:rPr lang="en-US" altLang="zh-CN" b="0" i="0" dirty="0">
                    <a:solidFill>
                      <a:srgbClr val="111133"/>
                    </a:solidFill>
                    <a:effectLst/>
                    <a:latin typeface="华文中宋" panose="02010600040101010101" pitchFamily="2" charset="-122"/>
                    <a:ea typeface="华文中宋" panose="02010600040101010101" pitchFamily="2" charset="-122"/>
                  </a:rPr>
                  <a:t>&lt;</a:t>
                </a:r>
                <a:r>
                  <a:rPr lang="en-US" altLang="zh-CN" b="0" i="1" dirty="0">
                    <a:solidFill>
                      <a:srgbClr val="111133"/>
                    </a:solidFill>
                    <a:effectLst/>
                    <a:latin typeface="华文中宋" panose="02010600040101010101" pitchFamily="2" charset="-122"/>
                    <a:ea typeface="华文中宋" panose="02010600040101010101" pitchFamily="2" charset="-122"/>
                  </a:rPr>
                  <a:t>δ</a:t>
                </a:r>
                <a:r>
                  <a:rPr lang="zh-CN" altLang="en-US" b="0" i="0" dirty="0">
                    <a:solidFill>
                      <a:srgbClr val="111133"/>
                    </a:solidFill>
                    <a:effectLst/>
                    <a:latin typeface="华文中宋" panose="02010600040101010101" pitchFamily="2" charset="-122"/>
                    <a:ea typeface="华文中宋" panose="02010600040101010101" pitchFamily="2" charset="-122"/>
                  </a:rPr>
                  <a:t>，则视为噪声并移除</a:t>
                </a:r>
                <a:r>
                  <a:rPr lang="zh-CN" altLang="en-US" dirty="0">
                    <a:solidFill>
                      <a:srgbClr val="111133"/>
                    </a:solidFill>
                    <a:latin typeface="华文中宋" panose="02010600040101010101" pitchFamily="2" charset="-122"/>
                    <a:ea typeface="华文中宋" panose="02010600040101010101" pitchFamily="2" charset="-122"/>
                  </a:rPr>
                  <a:t>。</a:t>
                </a:r>
                <a:endParaRPr lang="en-US" altLang="zh-CN" dirty="0">
                  <a:solidFill>
                    <a:srgbClr val="111133"/>
                  </a:solidFill>
                  <a:latin typeface="华文中宋" panose="02010600040101010101" pitchFamily="2" charset="-122"/>
                  <a:ea typeface="华文中宋" panose="02010600040101010101" pitchFamily="2" charset="-122"/>
                </a:endParaRPr>
              </a:p>
              <a:p>
                <a:pPr lvl="2"/>
                <a:r>
                  <a:rPr lang="zh-CN" altLang="en-US" dirty="0">
                    <a:solidFill>
                      <a:srgbClr val="111133"/>
                    </a:solidFill>
                    <a:latin typeface="-apple-system"/>
                    <a:ea typeface="华文中宋" panose="02010600040101010101" pitchFamily="2" charset="-122"/>
                  </a:rPr>
                  <a:t>只对辅助行为的交互进行硬去噪</a:t>
                </a:r>
                <a:endParaRPr lang="en-US" altLang="zh-CN" dirty="0">
                  <a:solidFill>
                    <a:srgbClr val="111133"/>
                  </a:solidFill>
                  <a:latin typeface="-apple-system"/>
                  <a:ea typeface="华文中宋" panose="02010600040101010101" pitchFamily="2" charset="-122"/>
                </a:endParaRPr>
              </a:p>
              <a:p>
                <a:pPr lvl="2"/>
                <a:r>
                  <a:rPr lang="zh-CN" altLang="en-US" dirty="0">
                    <a:solidFill>
                      <a:srgbClr val="111133"/>
                    </a:solidFill>
                    <a:latin typeface="-apple-system"/>
                    <a:ea typeface="华文中宋" panose="02010600040101010101" pitchFamily="2" charset="-122"/>
                  </a:rPr>
                  <a:t>购买行为始终保留</a:t>
                </a:r>
                <a:endParaRPr lang="en-US" altLang="zh-CN" dirty="0">
                  <a:solidFill>
                    <a:schemeClr val="tx1"/>
                  </a:solidFill>
                  <a:latin typeface="华文中宋" panose="02010600040101010101" pitchFamily="2" charset="-122"/>
                  <a:ea typeface="华文中宋" panose="02010600040101010101" pitchFamily="2" charset="-122"/>
                </a:endParaRPr>
              </a:p>
              <a:p>
                <a:pPr lvl="2"/>
                <a:endParaRPr lang="en-US" altLang="zh-CN" dirty="0">
                  <a:solidFill>
                    <a:schemeClr val="tx1"/>
                  </a:solidFill>
                  <a:latin typeface="华文中宋" panose="02010600040101010101" pitchFamily="2" charset="-122"/>
                  <a:ea typeface="华文中宋" panose="02010600040101010101" pitchFamily="2" charset="-122"/>
                </a:endParaRPr>
              </a:p>
              <a:p>
                <a:pPr lvl="1"/>
                <a:endParaRPr lang="en-US" altLang="zh-CN" dirty="0">
                  <a:solidFill>
                    <a:schemeClr val="tx1"/>
                  </a:solidFill>
                  <a:effectLst/>
                  <a:latin typeface="华文中宋" panose="02010600040101010101" pitchFamily="2" charset="-122"/>
                  <a:ea typeface="华文中宋" panose="02010600040101010101" pitchFamily="2" charset="-122"/>
                </a:endParaRPr>
              </a:p>
            </p:txBody>
          </p:sp>
        </mc:Choice>
        <mc:Fallback xmlns="">
          <p:sp>
            <p:nvSpPr>
              <p:cNvPr id="15" name="内容占位符 1">
                <a:extLst>
                  <a:ext uri="{FF2B5EF4-FFF2-40B4-BE49-F238E27FC236}">
                    <a16:creationId xmlns:a16="http://schemas.microsoft.com/office/drawing/2014/main" id="{7913953D-D0F8-42AE-A81B-04000312E9DB}"/>
                  </a:ext>
                </a:extLst>
              </p:cNvPr>
              <p:cNvSpPr>
                <a:spLocks noGrp="1" noRot="1" noChangeAspect="1" noMove="1" noResize="1" noEditPoints="1" noAdjustHandles="1" noChangeArrowheads="1" noChangeShapeType="1" noTextEdit="1"/>
              </p:cNvSpPr>
              <p:nvPr>
                <p:ph idx="1"/>
              </p:nvPr>
            </p:nvSpPr>
            <p:spPr>
              <a:xfrm>
                <a:off x="0" y="1866990"/>
                <a:ext cx="7689521" cy="4278739"/>
              </a:xfrm>
              <a:blipFill>
                <a:blip r:embed="rId3"/>
                <a:stretch>
                  <a:fillRect l="-317"/>
                </a:stretch>
              </a:blipFill>
            </p:spPr>
            <p:txBody>
              <a:bodyPr/>
              <a:lstStyle/>
              <a:p>
                <a:r>
                  <a:rPr lang="zh-CN" altLang="en-US">
                    <a:noFill/>
                  </a:rPr>
                  <a:t> </a:t>
                </a:r>
              </a:p>
            </p:txBody>
          </p:sp>
        </mc:Fallback>
      </mc:AlternateContent>
      <p:pic>
        <p:nvPicPr>
          <p:cNvPr id="17" name="图片 16">
            <a:extLst>
              <a:ext uri="{FF2B5EF4-FFF2-40B4-BE49-F238E27FC236}">
                <a16:creationId xmlns:a16="http://schemas.microsoft.com/office/drawing/2014/main" id="{B0FAA4B2-FD42-4104-B470-1D2E2F95DDFE}"/>
              </a:ext>
            </a:extLst>
          </p:cNvPr>
          <p:cNvPicPr>
            <a:picLocks noChangeAspect="1"/>
          </p:cNvPicPr>
          <p:nvPr/>
        </p:nvPicPr>
        <p:blipFill>
          <a:blip r:embed="rId4"/>
          <a:stretch>
            <a:fillRect/>
          </a:stretch>
        </p:blipFill>
        <p:spPr>
          <a:xfrm>
            <a:off x="7662854" y="1682414"/>
            <a:ext cx="4405929" cy="4048797"/>
          </a:xfrm>
          <a:prstGeom prst="rect">
            <a:avLst/>
          </a:prstGeom>
        </p:spPr>
      </p:pic>
      <p:pic>
        <p:nvPicPr>
          <p:cNvPr id="4" name="图片 3">
            <a:extLst>
              <a:ext uri="{FF2B5EF4-FFF2-40B4-BE49-F238E27FC236}">
                <a16:creationId xmlns:a16="http://schemas.microsoft.com/office/drawing/2014/main" id="{A99C992E-A2AF-41B1-8F20-BE462410E7F9}"/>
              </a:ext>
            </a:extLst>
          </p:cNvPr>
          <p:cNvPicPr>
            <a:picLocks noChangeAspect="1"/>
          </p:cNvPicPr>
          <p:nvPr/>
        </p:nvPicPr>
        <p:blipFill>
          <a:blip r:embed="rId5"/>
          <a:stretch>
            <a:fillRect/>
          </a:stretch>
        </p:blipFill>
        <p:spPr>
          <a:xfrm>
            <a:off x="4183499" y="3131096"/>
            <a:ext cx="1518805" cy="536848"/>
          </a:xfrm>
          <a:prstGeom prst="rect">
            <a:avLst/>
          </a:prstGeom>
        </p:spPr>
      </p:pic>
    </p:spTree>
    <p:extLst>
      <p:ext uri="{BB962C8B-B14F-4D97-AF65-F5344CB8AC3E}">
        <p14:creationId xmlns:p14="http://schemas.microsoft.com/office/powerpoint/2010/main" val="2141342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23FF93AD-B291-5347-AC70-D7287ABA5C8E}"/>
              </a:ext>
            </a:extLst>
          </p:cNvPr>
          <p:cNvSpPr>
            <a:spLocks noGrp="1"/>
          </p:cNvSpPr>
          <p:nvPr>
            <p:ph type="title"/>
          </p:nvPr>
        </p:nvSpPr>
        <p:spPr/>
        <p:txBody>
          <a:bodyPr>
            <a:normAutofit/>
          </a:bodyPr>
          <a:lstStyle/>
          <a:p>
            <a:r>
              <a:rPr kumimoji="1" lang="en-US" altLang="zh-CN" sz="3200" b="1" dirty="0">
                <a:latin typeface="华文中宋" panose="02010600040101010101" pitchFamily="2" charset="-122"/>
                <a:ea typeface="华文中宋" panose="02010600040101010101" pitchFamily="2" charset="-122"/>
              </a:rPr>
              <a:t>4.</a:t>
            </a:r>
            <a:r>
              <a:rPr kumimoji="1" lang="zh-CN" altLang="en-US" sz="3200" b="1" dirty="0">
                <a:latin typeface="华文中宋" panose="02010600040101010101" pitchFamily="2" charset="-122"/>
                <a:ea typeface="华文中宋" panose="02010600040101010101" pitchFamily="2" charset="-122"/>
              </a:rPr>
              <a:t>噪声感知与偏好提取的多模态多行为推荐方法</a:t>
            </a:r>
            <a:endParaRPr kumimoji="1" lang="en-US" altLang="zh-CN" sz="3200" b="1" dirty="0">
              <a:latin typeface="华文中宋" panose="02010600040101010101" pitchFamily="2" charset="-122"/>
              <a:ea typeface="华文中宋" panose="02010600040101010101" pitchFamily="2" charset="-122"/>
            </a:endParaRPr>
          </a:p>
        </p:txBody>
      </p:sp>
      <p:sp>
        <p:nvSpPr>
          <p:cNvPr id="8" name="文本框 7">
            <a:extLst>
              <a:ext uri="{FF2B5EF4-FFF2-40B4-BE49-F238E27FC236}">
                <a16:creationId xmlns:a16="http://schemas.microsoft.com/office/drawing/2014/main" id="{93EBA1C3-3427-4ECB-9B57-C5397E79660C}"/>
              </a:ext>
            </a:extLst>
          </p:cNvPr>
          <p:cNvSpPr txBox="1"/>
          <p:nvPr/>
        </p:nvSpPr>
        <p:spPr>
          <a:xfrm>
            <a:off x="561754" y="1366100"/>
            <a:ext cx="10601546" cy="400110"/>
          </a:xfrm>
          <a:prstGeom prst="rect">
            <a:avLst/>
          </a:prstGeom>
          <a:noFill/>
        </p:spPr>
        <p:txBody>
          <a:bodyPr wrap="square" rtlCol="0">
            <a:spAutoFit/>
          </a:bodyPr>
          <a:lstStyle/>
          <a:p>
            <a:r>
              <a:rPr lang="zh-CN" altLang="en-US" sz="2000" b="1" dirty="0">
                <a:latin typeface="华文中宋" panose="02010600040101010101" pitchFamily="2" charset="-122"/>
                <a:ea typeface="华文中宋" panose="02010600040101010101" pitchFamily="2" charset="-122"/>
              </a:rPr>
              <a:t>语义感知的图消息传递</a:t>
            </a:r>
          </a:p>
        </p:txBody>
      </p:sp>
      <mc:AlternateContent xmlns:mc="http://schemas.openxmlformats.org/markup-compatibility/2006" xmlns:a14="http://schemas.microsoft.com/office/drawing/2010/main">
        <mc:Choice Requires="a14">
          <p:sp>
            <p:nvSpPr>
              <p:cNvPr id="10" name="内容占位符 1">
                <a:extLst>
                  <a:ext uri="{FF2B5EF4-FFF2-40B4-BE49-F238E27FC236}">
                    <a16:creationId xmlns:a16="http://schemas.microsoft.com/office/drawing/2014/main" id="{F301CF94-92D6-4065-91D7-1317E11717B9}"/>
                  </a:ext>
                </a:extLst>
              </p:cNvPr>
              <p:cNvSpPr>
                <a:spLocks noGrp="1"/>
              </p:cNvSpPr>
              <p:nvPr>
                <p:ph idx="1"/>
              </p:nvPr>
            </p:nvSpPr>
            <p:spPr>
              <a:xfrm>
                <a:off x="0" y="1866990"/>
                <a:ext cx="11538284" cy="4278739"/>
              </a:xfrm>
            </p:spPr>
            <p:txBody>
              <a:bodyPr>
                <a:normAutofit/>
              </a:bodyPr>
              <a:lstStyle/>
              <a:p>
                <a:r>
                  <a:rPr lang="zh-CN" altLang="en-US" dirty="0">
                    <a:solidFill>
                      <a:schemeClr val="tx1"/>
                    </a:solidFill>
                    <a:effectLst/>
                    <a:latin typeface="华文中宋" panose="02010600040101010101" pitchFamily="2" charset="-122"/>
                    <a:ea typeface="华文中宋" panose="02010600040101010101" pitchFamily="2" charset="-122"/>
                  </a:rPr>
                  <a:t>结合协同信息与模态信息的图消息传递机制：</a:t>
                </a:r>
                <a:endParaRPr lang="en-US" altLang="zh-CN" dirty="0">
                  <a:solidFill>
                    <a:schemeClr val="tx1"/>
                  </a:solidFill>
                  <a:effectLst/>
                  <a:latin typeface="华文中宋" panose="02010600040101010101" pitchFamily="2" charset="-122"/>
                  <a:ea typeface="华文中宋" panose="02010600040101010101" pitchFamily="2" charset="-122"/>
                </a:endParaRPr>
              </a:p>
              <a:p>
                <a:pPr lvl="1"/>
                <a:r>
                  <a:rPr lang="zh-CN" altLang="en-US" dirty="0">
                    <a:solidFill>
                      <a:schemeClr val="tx1"/>
                    </a:solidFill>
                    <a:latin typeface="华文中宋" panose="02010600040101010101" pitchFamily="2" charset="-122"/>
                    <a:ea typeface="华文中宋" panose="02010600040101010101" pitchFamily="2" charset="-122"/>
                  </a:rPr>
                  <a:t>在第</a:t>
                </a:r>
                <a14:m>
                  <m:oMath xmlns:m="http://schemas.openxmlformats.org/officeDocument/2006/math">
                    <m:r>
                      <a:rPr lang="en-US" altLang="zh-CN" b="0" i="1" smtClean="0">
                        <a:solidFill>
                          <a:schemeClr val="tx1"/>
                        </a:solidFill>
                        <a:latin typeface="Cambria Math" panose="02040503050406030204" pitchFamily="18" charset="0"/>
                        <a:ea typeface="华文中宋" panose="02010600040101010101" pitchFamily="2" charset="-122"/>
                      </a:rPr>
                      <m:t>𝑙</m:t>
                    </m:r>
                  </m:oMath>
                </a14:m>
                <a:r>
                  <a:rPr lang="zh-CN" altLang="en-US" dirty="0">
                    <a:solidFill>
                      <a:schemeClr val="tx1"/>
                    </a:solidFill>
                    <a:latin typeface="华文中宋" panose="02010600040101010101" pitchFamily="2" charset="-122"/>
                    <a:ea typeface="华文中宋" panose="02010600040101010101" pitchFamily="2" charset="-122"/>
                  </a:rPr>
                  <a:t>层，将用户和物品的语义嵌入</a:t>
                </a:r>
                <a14:m>
                  <m:oMath xmlns:m="http://schemas.openxmlformats.org/officeDocument/2006/math">
                    <m:acc>
                      <m:accPr>
                        <m:chr m:val="̃"/>
                        <m:ctrlPr>
                          <a:rPr lang="en-US" altLang="zh-CN" i="1">
                            <a:solidFill>
                              <a:schemeClr val="tx1"/>
                            </a:solidFill>
                            <a:latin typeface="Cambria Math" panose="02040503050406030204" pitchFamily="18" charset="0"/>
                          </a:rPr>
                        </m:ctrlPr>
                      </m:accPr>
                      <m:e>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𝑒</m:t>
                            </m:r>
                          </m:e>
                          <m:sub>
                            <m:r>
                              <a:rPr lang="en-US" altLang="zh-CN" i="1">
                                <a:solidFill>
                                  <a:schemeClr val="tx1"/>
                                </a:solidFill>
                                <a:latin typeface="Cambria Math" panose="02040503050406030204" pitchFamily="18" charset="0"/>
                              </a:rPr>
                              <m:t>𝑛</m:t>
                            </m:r>
                          </m:sub>
                        </m:sSub>
                      </m:e>
                    </m:acc>
                    <m:r>
                      <a:rPr lang="zh-CN" altLang="en-US" i="1">
                        <a:solidFill>
                          <a:schemeClr val="tx1"/>
                        </a:solidFill>
                        <a:latin typeface="Cambria Math" panose="02040503050406030204" pitchFamily="18" charset="0"/>
                      </a:rPr>
                      <m:t>和</m:t>
                    </m:r>
                    <m:acc>
                      <m:accPr>
                        <m:chr m:val="̃"/>
                        <m:ctrlPr>
                          <a:rPr lang="en-US" altLang="zh-CN" i="1">
                            <a:solidFill>
                              <a:schemeClr val="tx1"/>
                            </a:solidFill>
                            <a:latin typeface="Cambria Math" panose="02040503050406030204" pitchFamily="18" charset="0"/>
                          </a:rPr>
                        </m:ctrlPr>
                      </m:accPr>
                      <m:e>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𝑒</m:t>
                            </m:r>
                          </m:e>
                          <m:sub>
                            <m:r>
                              <a:rPr lang="en-US" altLang="zh-CN" i="1">
                                <a:solidFill>
                                  <a:schemeClr val="tx1"/>
                                </a:solidFill>
                                <a:latin typeface="Cambria Math" panose="02040503050406030204" pitchFamily="18" charset="0"/>
                              </a:rPr>
                              <m:t>𝑣</m:t>
                            </m:r>
                          </m:sub>
                        </m:sSub>
                      </m:e>
                    </m:acc>
                    <m:r>
                      <a:rPr lang="zh-CN" altLang="en-US" i="1" smtClean="0">
                        <a:solidFill>
                          <a:schemeClr val="tx1"/>
                        </a:solidFill>
                        <a:latin typeface="Cambria Math" panose="02040503050406030204" pitchFamily="18" charset="0"/>
                      </a:rPr>
                      <m:t>映射</m:t>
                    </m:r>
                  </m:oMath>
                </a14:m>
                <a:r>
                  <a:rPr lang="zh-CN" altLang="en-US" dirty="0">
                    <a:solidFill>
                      <a:schemeClr val="tx1"/>
                    </a:solidFill>
                    <a:latin typeface="华文中宋" panose="02010600040101010101" pitchFamily="2" charset="-122"/>
                    <a:ea typeface="华文中宋" panose="02010600040101010101" pitchFamily="2" charset="-122"/>
                  </a:rPr>
                  <a:t>为</a:t>
                </a:r>
                <a:r>
                  <a:rPr lang="en-US" altLang="zh-CN" dirty="0">
                    <a:solidFill>
                      <a:schemeClr val="tx1"/>
                    </a:solidFill>
                    <a:latin typeface="华文中宋" panose="02010600040101010101" pitchFamily="2" charset="-122"/>
                    <a:ea typeface="华文中宋" panose="02010600040101010101" pitchFamily="2" charset="-122"/>
                  </a:rPr>
                  <a:t>Query</a:t>
                </a:r>
                <a:r>
                  <a:rPr lang="zh-CN" altLang="en-US" dirty="0">
                    <a:solidFill>
                      <a:schemeClr val="tx1"/>
                    </a:solidFill>
                    <a:latin typeface="华文中宋" panose="02010600040101010101" pitchFamily="2" charset="-122"/>
                    <a:ea typeface="华文中宋" panose="02010600040101010101" pitchFamily="2" charset="-122"/>
                  </a:rPr>
                  <a:t>、</a:t>
                </a:r>
                <a:r>
                  <a:rPr lang="en-US" altLang="zh-CN" dirty="0">
                    <a:solidFill>
                      <a:schemeClr val="tx1"/>
                    </a:solidFill>
                    <a:latin typeface="华文中宋" panose="02010600040101010101" pitchFamily="2" charset="-122"/>
                    <a:ea typeface="华文中宋" panose="02010600040101010101" pitchFamily="2" charset="-122"/>
                  </a:rPr>
                  <a:t>Key</a:t>
                </a:r>
                <a:r>
                  <a:rPr lang="zh-CN" altLang="en-US" dirty="0">
                    <a:solidFill>
                      <a:schemeClr val="tx1"/>
                    </a:solidFill>
                    <a:latin typeface="华文中宋" panose="02010600040101010101" pitchFamily="2" charset="-122"/>
                    <a:ea typeface="华文中宋" panose="02010600040101010101" pitchFamily="2" charset="-122"/>
                  </a:rPr>
                  <a:t>向量，用户聚合的</a:t>
                </a:r>
                <a:r>
                  <a:rPr lang="en-US" altLang="zh-CN" dirty="0">
                    <a:solidFill>
                      <a:schemeClr val="tx1"/>
                    </a:solidFill>
                    <a:latin typeface="华文中宋" panose="02010600040101010101" pitchFamily="2" charset="-122"/>
                    <a:ea typeface="华文中宋" panose="02010600040101010101" pitchFamily="2" charset="-122"/>
                  </a:rPr>
                  <a:t>Value</a:t>
                </a:r>
                <a:r>
                  <a:rPr lang="zh-CN" altLang="en-US" dirty="0">
                    <a:solidFill>
                      <a:schemeClr val="tx1"/>
                    </a:solidFill>
                    <a:latin typeface="华文中宋" panose="02010600040101010101" pitchFamily="2" charset="-122"/>
                    <a:ea typeface="华文中宋" panose="02010600040101010101" pitchFamily="2" charset="-122"/>
                  </a:rPr>
                  <a:t>向量来自交互嵌入</a:t>
                </a:r>
                <a14:m>
                  <m:oMath xmlns:m="http://schemas.openxmlformats.org/officeDocument/2006/math">
                    <m:sSubSup>
                      <m:sSubSupPr>
                        <m:ctrlPr>
                          <a:rPr lang="en-US" altLang="zh-CN" i="1" smtClean="0">
                            <a:solidFill>
                              <a:schemeClr val="tx1"/>
                            </a:solidFill>
                            <a:latin typeface="Cambria Math" panose="02040503050406030204" pitchFamily="18" charset="0"/>
                            <a:ea typeface="华文中宋" panose="02010600040101010101" pitchFamily="2" charset="-122"/>
                          </a:rPr>
                        </m:ctrlPr>
                      </m:sSubSupPr>
                      <m:e>
                        <m:r>
                          <a:rPr lang="en-US" altLang="zh-CN" b="0" i="1" smtClean="0">
                            <a:solidFill>
                              <a:schemeClr val="tx1"/>
                            </a:solidFill>
                            <a:latin typeface="Cambria Math" panose="02040503050406030204" pitchFamily="18" charset="0"/>
                            <a:ea typeface="华文中宋" panose="02010600040101010101" pitchFamily="2" charset="-122"/>
                          </a:rPr>
                          <m:t>𝑒</m:t>
                        </m:r>
                      </m:e>
                      <m:sub>
                        <m:r>
                          <a:rPr lang="en-US" altLang="zh-CN" b="0" i="1" smtClean="0">
                            <a:solidFill>
                              <a:schemeClr val="tx1"/>
                            </a:solidFill>
                            <a:latin typeface="Cambria Math" panose="02040503050406030204" pitchFamily="18" charset="0"/>
                            <a:ea typeface="华文中宋" panose="02010600040101010101" pitchFamily="2" charset="-122"/>
                          </a:rPr>
                          <m:t>𝑣</m:t>
                        </m:r>
                      </m:sub>
                      <m:sup>
                        <m:r>
                          <a:rPr lang="en-US" altLang="zh-CN" b="0" i="1" smtClean="0">
                            <a:solidFill>
                              <a:schemeClr val="tx1"/>
                            </a:solidFill>
                            <a:latin typeface="Cambria Math" panose="02040503050406030204" pitchFamily="18" charset="0"/>
                            <a:ea typeface="华文中宋" panose="02010600040101010101" pitchFamily="2" charset="-122"/>
                          </a:rPr>
                          <m:t>(</m:t>
                        </m:r>
                        <m:r>
                          <a:rPr lang="en-US" altLang="zh-CN" b="0" i="1" smtClean="0">
                            <a:solidFill>
                              <a:schemeClr val="tx1"/>
                            </a:solidFill>
                            <a:latin typeface="Cambria Math" panose="02040503050406030204" pitchFamily="18" charset="0"/>
                            <a:ea typeface="华文中宋" panose="02010600040101010101" pitchFamily="2" charset="-122"/>
                          </a:rPr>
                          <m:t>𝑙</m:t>
                        </m:r>
                        <m:r>
                          <a:rPr lang="en-US" altLang="zh-CN" b="0" i="1" smtClean="0">
                            <a:solidFill>
                              <a:schemeClr val="tx1"/>
                            </a:solidFill>
                            <a:latin typeface="Cambria Math" panose="02040503050406030204" pitchFamily="18" charset="0"/>
                            <a:ea typeface="华文中宋" panose="02010600040101010101" pitchFamily="2" charset="-122"/>
                          </a:rPr>
                          <m:t>)</m:t>
                        </m:r>
                      </m:sup>
                    </m:sSubSup>
                  </m:oMath>
                </a14:m>
                <a:endParaRPr lang="en-US" altLang="zh-CN" dirty="0">
                  <a:solidFill>
                    <a:schemeClr val="tx1"/>
                  </a:solidFill>
                  <a:latin typeface="华文中宋" panose="02010600040101010101" pitchFamily="2" charset="-122"/>
                  <a:ea typeface="华文中宋" panose="02010600040101010101" pitchFamily="2" charset="-122"/>
                </a:endParaRPr>
              </a:p>
              <a:p>
                <a:pPr lvl="1"/>
                <a:endParaRPr lang="en-US" altLang="zh-CN" dirty="0">
                  <a:solidFill>
                    <a:schemeClr val="tx1"/>
                  </a:solidFill>
                  <a:latin typeface="华文中宋" panose="02010600040101010101" pitchFamily="2" charset="-122"/>
                  <a:ea typeface="华文中宋" panose="02010600040101010101" pitchFamily="2" charset="-122"/>
                </a:endParaRPr>
              </a:p>
              <a:p>
                <a:pPr lvl="1"/>
                <a:r>
                  <a:rPr lang="zh-CN" altLang="en-US" dirty="0">
                    <a:solidFill>
                      <a:schemeClr val="tx1"/>
                    </a:solidFill>
                    <a:latin typeface="华文中宋" panose="02010600040101010101" pitchFamily="2" charset="-122"/>
                    <a:ea typeface="华文中宋" panose="02010600040101010101" pitchFamily="2" charset="-122"/>
                  </a:rPr>
                  <a:t>用户</a:t>
                </a:r>
                <a14:m>
                  <m:oMath xmlns:m="http://schemas.openxmlformats.org/officeDocument/2006/math">
                    <m:r>
                      <a:rPr lang="en-US" altLang="zh-CN" b="0" i="1" smtClean="0">
                        <a:solidFill>
                          <a:schemeClr val="tx1"/>
                        </a:solidFill>
                        <a:latin typeface="Cambria Math" panose="02040503050406030204" pitchFamily="18" charset="0"/>
                        <a:ea typeface="华文中宋" panose="02010600040101010101" pitchFamily="2" charset="-122"/>
                      </a:rPr>
                      <m:t>𝑢</m:t>
                    </m:r>
                    <m:r>
                      <a:rPr lang="zh-CN" altLang="en-US" i="1">
                        <a:solidFill>
                          <a:schemeClr val="tx1"/>
                        </a:solidFill>
                        <a:latin typeface="Cambria Math" panose="02040503050406030204" pitchFamily="18" charset="0"/>
                        <a:ea typeface="华文中宋" panose="02010600040101010101" pitchFamily="2" charset="-122"/>
                      </a:rPr>
                      <m:t>与</m:t>
                    </m:r>
                  </m:oMath>
                </a14:m>
                <a:r>
                  <a:rPr lang="zh-CN" altLang="en-US" dirty="0">
                    <a:solidFill>
                      <a:schemeClr val="tx1"/>
                    </a:solidFill>
                    <a:effectLst/>
                    <a:latin typeface="华文中宋" panose="02010600040101010101" pitchFamily="2" charset="-122"/>
                    <a:ea typeface="华文中宋" panose="02010600040101010101" pitchFamily="2" charset="-122"/>
                  </a:rPr>
                  <a:t>邻居</a:t>
                </a:r>
                <a14:m>
                  <m:oMath xmlns:m="http://schemas.openxmlformats.org/officeDocument/2006/math">
                    <m:r>
                      <a:rPr lang="en-US" altLang="zh-CN" b="0" i="1" dirty="0" smtClean="0">
                        <a:solidFill>
                          <a:schemeClr val="tx1"/>
                        </a:solidFill>
                        <a:effectLst/>
                        <a:latin typeface="Cambria Math" panose="02040503050406030204" pitchFamily="18" charset="0"/>
                        <a:ea typeface="华文中宋" panose="02010600040101010101" pitchFamily="2" charset="-122"/>
                      </a:rPr>
                      <m:t>𝑣</m:t>
                    </m:r>
                    <m:r>
                      <a:rPr lang="zh-CN" altLang="en-US" i="1" dirty="0">
                        <a:solidFill>
                          <a:schemeClr val="tx1"/>
                        </a:solidFill>
                        <a:latin typeface="Cambria Math" panose="02040503050406030204" pitchFamily="18" charset="0"/>
                        <a:ea typeface="华文中宋" panose="02010600040101010101" pitchFamily="2" charset="-122"/>
                      </a:rPr>
                      <m:t>之间</m:t>
                    </m:r>
                  </m:oMath>
                </a14:m>
                <a:r>
                  <a:rPr lang="zh-CN" altLang="en-US" dirty="0">
                    <a:solidFill>
                      <a:schemeClr val="tx1"/>
                    </a:solidFill>
                    <a:effectLst/>
                    <a:latin typeface="华文中宋" panose="02010600040101010101" pitchFamily="2" charset="-122"/>
                    <a:ea typeface="华文中宋" panose="02010600040101010101" pitchFamily="2" charset="-122"/>
                  </a:rPr>
                  <a:t>的注意力权重由语义嵌入计算相似度得到：</a:t>
                </a:r>
                <a:endParaRPr lang="en-US" altLang="zh-CN" dirty="0">
                  <a:solidFill>
                    <a:schemeClr val="tx1"/>
                  </a:solidFill>
                  <a:effectLst/>
                  <a:latin typeface="华文中宋" panose="02010600040101010101" pitchFamily="2" charset="-122"/>
                  <a:ea typeface="华文中宋" panose="02010600040101010101" pitchFamily="2" charset="-122"/>
                </a:endParaRPr>
              </a:p>
              <a:p>
                <a:pPr lvl="1"/>
                <a:endParaRPr lang="en-US" altLang="zh-CN" dirty="0">
                  <a:solidFill>
                    <a:schemeClr val="tx1"/>
                  </a:solidFill>
                  <a:effectLst/>
                  <a:latin typeface="华文中宋" panose="02010600040101010101" pitchFamily="2" charset="-122"/>
                  <a:ea typeface="华文中宋" panose="02010600040101010101" pitchFamily="2" charset="-122"/>
                </a:endParaRPr>
              </a:p>
              <a:p>
                <a:pPr lvl="1"/>
                <a:r>
                  <a:rPr lang="zh-CN" altLang="en-US" dirty="0">
                    <a:solidFill>
                      <a:schemeClr val="tx1"/>
                    </a:solidFill>
                    <a:latin typeface="华文中宋" panose="02010600040101010101" pitchFamily="2" charset="-122"/>
                    <a:ea typeface="华文中宋" panose="02010600040101010101" pitchFamily="2" charset="-122"/>
                  </a:rPr>
                  <a:t>根据注意力权重对邻居的交互嵌入进行加权聚合，得到用户 𝑢 在行为 𝑘 下的更新表示：</a:t>
                </a:r>
                <a:endParaRPr lang="en-US" altLang="zh-CN" dirty="0">
                  <a:solidFill>
                    <a:schemeClr val="tx1"/>
                  </a:solidFill>
                  <a:latin typeface="华文中宋" panose="02010600040101010101" pitchFamily="2" charset="-122"/>
                  <a:ea typeface="华文中宋" panose="02010600040101010101" pitchFamily="2" charset="-122"/>
                </a:endParaRPr>
              </a:p>
              <a:p>
                <a:pPr marL="629985" lvl="2" indent="0">
                  <a:buNone/>
                </a:pPr>
                <a:endParaRPr lang="en-US" altLang="zh-CN" dirty="0">
                  <a:solidFill>
                    <a:schemeClr val="tx1"/>
                  </a:solidFill>
                  <a:effectLst/>
                  <a:latin typeface="华文中宋" panose="02010600040101010101" pitchFamily="2" charset="-122"/>
                  <a:ea typeface="华文中宋" panose="02010600040101010101" pitchFamily="2" charset="-122"/>
                </a:endParaRPr>
              </a:p>
            </p:txBody>
          </p:sp>
        </mc:Choice>
        <mc:Fallback xmlns="">
          <p:sp>
            <p:nvSpPr>
              <p:cNvPr id="10" name="内容占位符 1">
                <a:extLst>
                  <a:ext uri="{FF2B5EF4-FFF2-40B4-BE49-F238E27FC236}">
                    <a16:creationId xmlns:a16="http://schemas.microsoft.com/office/drawing/2014/main" id="{F301CF94-92D6-4065-91D7-1317E11717B9}"/>
                  </a:ext>
                </a:extLst>
              </p:cNvPr>
              <p:cNvSpPr>
                <a:spLocks noGrp="1" noRot="1" noChangeAspect="1" noMove="1" noResize="1" noEditPoints="1" noAdjustHandles="1" noChangeArrowheads="1" noChangeShapeType="1" noTextEdit="1"/>
              </p:cNvSpPr>
              <p:nvPr>
                <p:ph idx="1"/>
              </p:nvPr>
            </p:nvSpPr>
            <p:spPr>
              <a:xfrm>
                <a:off x="0" y="1866990"/>
                <a:ext cx="11538284" cy="4278739"/>
              </a:xfrm>
              <a:blipFill>
                <a:blip r:embed="rId3"/>
                <a:stretch>
                  <a:fillRect l="-211"/>
                </a:stretch>
              </a:blipFill>
            </p:spPr>
            <p:txBody>
              <a:bodyPr/>
              <a:lstStyle/>
              <a:p>
                <a:r>
                  <a:rPr lang="zh-CN" altLang="en-US">
                    <a:noFill/>
                  </a:rPr>
                  <a:t> </a:t>
                </a:r>
              </a:p>
            </p:txBody>
          </p:sp>
        </mc:Fallback>
      </mc:AlternateContent>
      <p:pic>
        <p:nvPicPr>
          <p:cNvPr id="11" name="图片 10">
            <a:extLst>
              <a:ext uri="{FF2B5EF4-FFF2-40B4-BE49-F238E27FC236}">
                <a16:creationId xmlns:a16="http://schemas.microsoft.com/office/drawing/2014/main" id="{6F444475-2726-445B-A38E-EB66E2695576}"/>
              </a:ext>
            </a:extLst>
          </p:cNvPr>
          <p:cNvPicPr>
            <a:picLocks noChangeAspect="1"/>
          </p:cNvPicPr>
          <p:nvPr/>
        </p:nvPicPr>
        <p:blipFill>
          <a:blip r:embed="rId4"/>
          <a:stretch>
            <a:fillRect/>
          </a:stretch>
        </p:blipFill>
        <p:spPr>
          <a:xfrm>
            <a:off x="3280020" y="2759402"/>
            <a:ext cx="4508593" cy="498187"/>
          </a:xfrm>
          <a:prstGeom prst="rect">
            <a:avLst/>
          </a:prstGeom>
        </p:spPr>
      </p:pic>
      <p:pic>
        <p:nvPicPr>
          <p:cNvPr id="12" name="图片 11">
            <a:extLst>
              <a:ext uri="{FF2B5EF4-FFF2-40B4-BE49-F238E27FC236}">
                <a16:creationId xmlns:a16="http://schemas.microsoft.com/office/drawing/2014/main" id="{7A5DB94F-BB33-4B7B-862A-690F0A0F5B1C}"/>
              </a:ext>
            </a:extLst>
          </p:cNvPr>
          <p:cNvPicPr>
            <a:picLocks noChangeAspect="1"/>
          </p:cNvPicPr>
          <p:nvPr/>
        </p:nvPicPr>
        <p:blipFill>
          <a:blip r:embed="rId5"/>
          <a:stretch>
            <a:fillRect/>
          </a:stretch>
        </p:blipFill>
        <p:spPr>
          <a:xfrm>
            <a:off x="6272798" y="3257589"/>
            <a:ext cx="2349389" cy="687463"/>
          </a:xfrm>
          <a:prstGeom prst="rect">
            <a:avLst/>
          </a:prstGeom>
        </p:spPr>
      </p:pic>
      <p:pic>
        <p:nvPicPr>
          <p:cNvPr id="13" name="图片 12">
            <a:extLst>
              <a:ext uri="{FF2B5EF4-FFF2-40B4-BE49-F238E27FC236}">
                <a16:creationId xmlns:a16="http://schemas.microsoft.com/office/drawing/2014/main" id="{4E73D600-228B-4BD1-BCE6-24C46AA68113}"/>
              </a:ext>
            </a:extLst>
          </p:cNvPr>
          <p:cNvPicPr>
            <a:picLocks noChangeAspect="1"/>
          </p:cNvPicPr>
          <p:nvPr/>
        </p:nvPicPr>
        <p:blipFill>
          <a:blip r:embed="rId6"/>
          <a:stretch>
            <a:fillRect/>
          </a:stretch>
        </p:blipFill>
        <p:spPr>
          <a:xfrm>
            <a:off x="2848203" y="4701706"/>
            <a:ext cx="5580304" cy="842859"/>
          </a:xfrm>
          <a:prstGeom prst="rect">
            <a:avLst/>
          </a:prstGeom>
        </p:spPr>
      </p:pic>
    </p:spTree>
    <p:extLst>
      <p:ext uri="{BB962C8B-B14F-4D97-AF65-F5344CB8AC3E}">
        <p14:creationId xmlns:p14="http://schemas.microsoft.com/office/powerpoint/2010/main" val="28524843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23FF93AD-B291-5347-AC70-D7287ABA5C8E}"/>
              </a:ext>
            </a:extLst>
          </p:cNvPr>
          <p:cNvSpPr>
            <a:spLocks noGrp="1"/>
          </p:cNvSpPr>
          <p:nvPr>
            <p:ph type="title"/>
          </p:nvPr>
        </p:nvSpPr>
        <p:spPr/>
        <p:txBody>
          <a:bodyPr>
            <a:normAutofit/>
          </a:bodyPr>
          <a:lstStyle/>
          <a:p>
            <a:r>
              <a:rPr kumimoji="1" lang="en-US" altLang="zh-CN" sz="3200" b="1" dirty="0">
                <a:latin typeface="华文中宋" panose="02010600040101010101" pitchFamily="2" charset="-122"/>
                <a:ea typeface="华文中宋" panose="02010600040101010101" pitchFamily="2" charset="-122"/>
              </a:rPr>
              <a:t>4.</a:t>
            </a:r>
            <a:r>
              <a:rPr kumimoji="1" lang="zh-CN" altLang="en-US" sz="3200" b="1" dirty="0">
                <a:latin typeface="华文中宋" panose="02010600040101010101" pitchFamily="2" charset="-122"/>
                <a:ea typeface="华文中宋" panose="02010600040101010101" pitchFamily="2" charset="-122"/>
              </a:rPr>
              <a:t>噪声感知与偏好提取的多模态多行为推荐方法</a:t>
            </a:r>
            <a:endParaRPr kumimoji="1" lang="en-US" altLang="zh-CN" sz="3200" b="1" dirty="0">
              <a:latin typeface="华文中宋" panose="02010600040101010101" pitchFamily="2" charset="-122"/>
              <a:ea typeface="华文中宋" panose="02010600040101010101" pitchFamily="2" charset="-122"/>
            </a:endParaRPr>
          </a:p>
        </p:txBody>
      </p:sp>
      <p:pic>
        <p:nvPicPr>
          <p:cNvPr id="17" name="图片 16">
            <a:extLst>
              <a:ext uri="{FF2B5EF4-FFF2-40B4-BE49-F238E27FC236}">
                <a16:creationId xmlns:a16="http://schemas.microsoft.com/office/drawing/2014/main" id="{7F40C7CF-3A87-4618-A674-D4BF71501BEC}"/>
              </a:ext>
            </a:extLst>
          </p:cNvPr>
          <p:cNvPicPr>
            <a:picLocks noChangeAspect="1"/>
          </p:cNvPicPr>
          <p:nvPr/>
        </p:nvPicPr>
        <p:blipFill>
          <a:blip r:embed="rId3"/>
          <a:stretch>
            <a:fillRect/>
          </a:stretch>
        </p:blipFill>
        <p:spPr>
          <a:xfrm>
            <a:off x="5483929" y="1183024"/>
            <a:ext cx="6273569" cy="5314275"/>
          </a:xfrm>
          <a:prstGeom prst="rect">
            <a:avLst/>
          </a:prstGeom>
        </p:spPr>
      </p:pic>
      <p:sp>
        <p:nvSpPr>
          <p:cNvPr id="18" name="文本框 17">
            <a:extLst>
              <a:ext uri="{FF2B5EF4-FFF2-40B4-BE49-F238E27FC236}">
                <a16:creationId xmlns:a16="http://schemas.microsoft.com/office/drawing/2014/main" id="{1B7EAF0D-8F44-4847-BC64-94241869F732}"/>
              </a:ext>
            </a:extLst>
          </p:cNvPr>
          <p:cNvSpPr txBox="1"/>
          <p:nvPr/>
        </p:nvSpPr>
        <p:spPr>
          <a:xfrm>
            <a:off x="561754" y="1366100"/>
            <a:ext cx="10601546" cy="400110"/>
          </a:xfrm>
          <a:prstGeom prst="rect">
            <a:avLst/>
          </a:prstGeom>
          <a:noFill/>
        </p:spPr>
        <p:txBody>
          <a:bodyPr wrap="square" rtlCol="0">
            <a:spAutoFit/>
          </a:bodyPr>
          <a:lstStyle/>
          <a:p>
            <a:r>
              <a:rPr lang="zh-CN" altLang="en-US" sz="2000" b="1" dirty="0">
                <a:latin typeface="华文中宋" panose="02010600040101010101" pitchFamily="2" charset="-122"/>
                <a:ea typeface="华文中宋" panose="02010600040101010101" pitchFamily="2" charset="-122"/>
              </a:rPr>
              <a:t>模态感知图增强的对比学习</a:t>
            </a:r>
          </a:p>
        </p:txBody>
      </p:sp>
      <p:pic>
        <p:nvPicPr>
          <p:cNvPr id="19" name="图片 18">
            <a:extLst>
              <a:ext uri="{FF2B5EF4-FFF2-40B4-BE49-F238E27FC236}">
                <a16:creationId xmlns:a16="http://schemas.microsoft.com/office/drawing/2014/main" id="{1AB78ABA-7FC6-46F5-935E-0ABB10660393}"/>
              </a:ext>
            </a:extLst>
          </p:cNvPr>
          <p:cNvPicPr>
            <a:picLocks noChangeAspect="1"/>
          </p:cNvPicPr>
          <p:nvPr/>
        </p:nvPicPr>
        <p:blipFill>
          <a:blip r:embed="rId4"/>
          <a:stretch>
            <a:fillRect/>
          </a:stretch>
        </p:blipFill>
        <p:spPr>
          <a:xfrm>
            <a:off x="634583" y="5283130"/>
            <a:ext cx="4234164" cy="875539"/>
          </a:xfrm>
          <a:prstGeom prst="rect">
            <a:avLst/>
          </a:prstGeom>
        </p:spPr>
      </p:pic>
      <p:sp>
        <p:nvSpPr>
          <p:cNvPr id="20" name="内容占位符 1">
            <a:extLst>
              <a:ext uri="{FF2B5EF4-FFF2-40B4-BE49-F238E27FC236}">
                <a16:creationId xmlns:a16="http://schemas.microsoft.com/office/drawing/2014/main" id="{8A8F3CFB-5B04-4519-ACED-76DB5AC969EF}"/>
              </a:ext>
            </a:extLst>
          </p:cNvPr>
          <p:cNvSpPr txBox="1">
            <a:spLocks/>
          </p:cNvSpPr>
          <p:nvPr/>
        </p:nvSpPr>
        <p:spPr>
          <a:xfrm>
            <a:off x="437696" y="4262099"/>
            <a:ext cx="10092465" cy="3957246"/>
          </a:xfrm>
          <a:prstGeom prst="rect">
            <a:avLst/>
          </a:prstGeom>
        </p:spPr>
        <p:txBody>
          <a:bodyPr vert="horz" lIns="91440" tIns="45720" rIns="91440" bIns="45720" rtlCol="0" anchor="t">
            <a:normAutofit/>
          </a:bodyPr>
          <a:lstStyle>
            <a:lvl1pPr marL="305992" indent="-305992"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29984" indent="-305992"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899978" indent="-269993"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1969" indent="-233994"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1960" indent="-233994"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899953"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199945"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38"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930"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zh-CN" altLang="en-US" dirty="0">
                <a:solidFill>
                  <a:srgbClr val="FF0000"/>
                </a:solidFill>
                <a:latin typeface="+mj-lt"/>
                <a:ea typeface="华文中宋" panose="02010600040101010101" pitchFamily="2" charset="-122"/>
              </a:rPr>
              <a:t>拉近同一</a:t>
            </a:r>
            <a:r>
              <a:rPr lang="zh-CN" altLang="en-US" dirty="0">
                <a:solidFill>
                  <a:schemeClr val="tx1"/>
                </a:solidFill>
                <a:latin typeface="+mj-lt"/>
                <a:ea typeface="华文中宋" panose="02010600040101010101" pitchFamily="2" charset="-122"/>
              </a:rPr>
              <a:t>用户、物品在两种视角的嵌入</a:t>
            </a:r>
            <a:endParaRPr lang="en-US" altLang="zh-CN" dirty="0">
              <a:solidFill>
                <a:schemeClr val="tx1"/>
              </a:solidFill>
              <a:latin typeface="+mj-lt"/>
              <a:ea typeface="华文中宋" panose="02010600040101010101" pitchFamily="2" charset="-122"/>
            </a:endParaRPr>
          </a:p>
          <a:p>
            <a:r>
              <a:rPr lang="zh-CN" altLang="en-US" dirty="0">
                <a:solidFill>
                  <a:srgbClr val="FF0000"/>
                </a:solidFill>
                <a:latin typeface="+mj-lt"/>
                <a:ea typeface="华文中宋" panose="02010600040101010101" pitchFamily="2" charset="-122"/>
              </a:rPr>
              <a:t>远离不同</a:t>
            </a:r>
            <a:r>
              <a:rPr lang="zh-CN" altLang="en-US" dirty="0">
                <a:solidFill>
                  <a:schemeClr val="tx1"/>
                </a:solidFill>
                <a:latin typeface="+mj-lt"/>
                <a:ea typeface="华文中宋" panose="02010600040101010101" pitchFamily="2" charset="-122"/>
              </a:rPr>
              <a:t>用户、物品两种视角的嵌入</a:t>
            </a:r>
            <a:endParaRPr lang="en-US" altLang="zh-CN" dirty="0">
              <a:solidFill>
                <a:schemeClr val="tx1"/>
              </a:solidFill>
              <a:latin typeface="华文中宋" panose="02010600040101010101" pitchFamily="2" charset="-122"/>
              <a:ea typeface="华文中宋" panose="02010600040101010101" pitchFamily="2" charset="-122"/>
            </a:endParaRPr>
          </a:p>
          <a:p>
            <a:endParaRPr lang="zh-CN" altLang="en-US" dirty="0">
              <a:solidFill>
                <a:schemeClr val="tx1"/>
              </a:solidFill>
              <a:latin typeface="华文中宋" panose="02010600040101010101" pitchFamily="2" charset="-122"/>
              <a:ea typeface="华文中宋" panose="02010600040101010101" pitchFamily="2" charset="-122"/>
            </a:endParaRPr>
          </a:p>
        </p:txBody>
      </p:sp>
      <p:sp>
        <p:nvSpPr>
          <p:cNvPr id="21" name="内容占位符 1">
            <a:extLst>
              <a:ext uri="{FF2B5EF4-FFF2-40B4-BE49-F238E27FC236}">
                <a16:creationId xmlns:a16="http://schemas.microsoft.com/office/drawing/2014/main" id="{60BE23EB-6873-419B-A888-2AA31297BA16}"/>
              </a:ext>
            </a:extLst>
          </p:cNvPr>
          <p:cNvSpPr txBox="1">
            <a:spLocks/>
          </p:cNvSpPr>
          <p:nvPr/>
        </p:nvSpPr>
        <p:spPr>
          <a:xfrm>
            <a:off x="437696" y="2009425"/>
            <a:ext cx="10092465" cy="3957246"/>
          </a:xfrm>
          <a:prstGeom prst="rect">
            <a:avLst/>
          </a:prstGeom>
        </p:spPr>
        <p:txBody>
          <a:bodyPr vert="horz" lIns="91440" tIns="45720" rIns="91440" bIns="45720" rtlCol="0" anchor="t">
            <a:normAutofit/>
          </a:bodyPr>
          <a:lstStyle>
            <a:lvl1pPr marL="305992" indent="-305992"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29984" indent="-305992"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899978" indent="-269993"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1969" indent="-233994"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1960" indent="-233994"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899953"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199945"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38"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930"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zh-CN" altLang="en-US" dirty="0">
                <a:solidFill>
                  <a:schemeClr val="tx1"/>
                </a:solidFill>
                <a:latin typeface="+mj-lt"/>
                <a:ea typeface="华文中宋" panose="02010600040101010101" pitchFamily="2" charset="-122"/>
              </a:rPr>
              <a:t>为融合用户的协同信息与模态信息</a:t>
            </a:r>
            <a:endParaRPr lang="en-US" altLang="zh-CN" dirty="0">
              <a:solidFill>
                <a:schemeClr val="tx1"/>
              </a:solidFill>
              <a:latin typeface="+mj-lt"/>
              <a:ea typeface="华文中宋" panose="02010600040101010101" pitchFamily="2" charset="-122"/>
            </a:endParaRPr>
          </a:p>
          <a:p>
            <a:r>
              <a:rPr lang="zh-CN" altLang="en-US" dirty="0">
                <a:solidFill>
                  <a:schemeClr val="tx1"/>
                </a:solidFill>
                <a:latin typeface="+mj-lt"/>
                <a:ea typeface="华文中宋" panose="02010600040101010101" pitchFamily="2" charset="-122"/>
              </a:rPr>
              <a:t>设计了模态感知图增强的对比学习</a:t>
            </a:r>
            <a:endParaRPr lang="en-US" altLang="zh-CN" dirty="0">
              <a:solidFill>
                <a:schemeClr val="tx1"/>
              </a:solidFill>
              <a:latin typeface="+mj-lt"/>
              <a:ea typeface="华文中宋" panose="02010600040101010101" pitchFamily="2" charset="-122"/>
            </a:endParaRPr>
          </a:p>
        </p:txBody>
      </p:sp>
    </p:spTree>
    <p:extLst>
      <p:ext uri="{BB962C8B-B14F-4D97-AF65-F5344CB8AC3E}">
        <p14:creationId xmlns:p14="http://schemas.microsoft.com/office/powerpoint/2010/main" val="42300084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23FF93AD-B291-5347-AC70-D7287ABA5C8E}"/>
              </a:ext>
            </a:extLst>
          </p:cNvPr>
          <p:cNvSpPr>
            <a:spLocks noGrp="1"/>
          </p:cNvSpPr>
          <p:nvPr>
            <p:ph type="title"/>
          </p:nvPr>
        </p:nvSpPr>
        <p:spPr/>
        <p:txBody>
          <a:bodyPr>
            <a:normAutofit/>
          </a:bodyPr>
          <a:lstStyle/>
          <a:p>
            <a:r>
              <a:rPr kumimoji="1" lang="en-US" altLang="zh-CN" sz="3200" b="1" dirty="0">
                <a:latin typeface="华文中宋" panose="02010600040101010101" pitchFamily="2" charset="-122"/>
                <a:ea typeface="华文中宋" panose="02010600040101010101" pitchFamily="2" charset="-122"/>
              </a:rPr>
              <a:t>4.</a:t>
            </a:r>
            <a:r>
              <a:rPr kumimoji="1" lang="zh-CN" altLang="en-US" sz="3200" b="1" dirty="0">
                <a:latin typeface="华文中宋" panose="02010600040101010101" pitchFamily="2" charset="-122"/>
                <a:ea typeface="华文中宋" panose="02010600040101010101" pitchFamily="2" charset="-122"/>
              </a:rPr>
              <a:t>噪声感知与偏好提取的多模态多行为推荐方法</a:t>
            </a:r>
            <a:endParaRPr kumimoji="1" lang="en-US" altLang="zh-CN" sz="3200" b="1" dirty="0">
              <a:latin typeface="华文中宋" panose="02010600040101010101" pitchFamily="2" charset="-122"/>
              <a:ea typeface="华文中宋" panose="02010600040101010101" pitchFamily="2" charset="-122"/>
            </a:endParaRPr>
          </a:p>
        </p:txBody>
      </p:sp>
      <p:sp>
        <p:nvSpPr>
          <p:cNvPr id="10" name="文本框 9">
            <a:extLst>
              <a:ext uri="{FF2B5EF4-FFF2-40B4-BE49-F238E27FC236}">
                <a16:creationId xmlns:a16="http://schemas.microsoft.com/office/drawing/2014/main" id="{50A4CD4F-4B29-4731-817E-69AB639A715D}"/>
              </a:ext>
            </a:extLst>
          </p:cNvPr>
          <p:cNvSpPr txBox="1"/>
          <p:nvPr/>
        </p:nvSpPr>
        <p:spPr>
          <a:xfrm>
            <a:off x="367406" y="1263430"/>
            <a:ext cx="10601546" cy="400110"/>
          </a:xfrm>
          <a:prstGeom prst="rect">
            <a:avLst/>
          </a:prstGeom>
          <a:noFill/>
        </p:spPr>
        <p:txBody>
          <a:bodyPr wrap="square" rtlCol="0">
            <a:spAutoFit/>
          </a:bodyPr>
          <a:lstStyle/>
          <a:p>
            <a:r>
              <a:rPr lang="zh-CN" altLang="en-US" sz="2000" b="1" dirty="0">
                <a:solidFill>
                  <a:srgbClr val="000000"/>
                </a:solidFill>
                <a:latin typeface="华文中宋" panose="02010600040101010101" pitchFamily="2" charset="-122"/>
                <a:ea typeface="华文中宋" panose="02010600040101010101" pitchFamily="2" charset="-122"/>
              </a:rPr>
              <a:t>实验与讨论</a:t>
            </a:r>
            <a:endParaRPr lang="zh-CN" altLang="en-US" sz="2000" b="1" dirty="0">
              <a:latin typeface="华文中宋" panose="02010600040101010101" pitchFamily="2" charset="-122"/>
              <a:ea typeface="华文中宋" panose="02010600040101010101" pitchFamily="2" charset="-122"/>
            </a:endParaRPr>
          </a:p>
        </p:txBody>
      </p:sp>
      <p:sp>
        <p:nvSpPr>
          <p:cNvPr id="11" name="内容占位符 1">
            <a:extLst>
              <a:ext uri="{FF2B5EF4-FFF2-40B4-BE49-F238E27FC236}">
                <a16:creationId xmlns:a16="http://schemas.microsoft.com/office/drawing/2014/main" id="{69410237-7B58-43DA-B608-B0A7F653E021}"/>
              </a:ext>
            </a:extLst>
          </p:cNvPr>
          <p:cNvSpPr>
            <a:spLocks noGrp="1"/>
          </p:cNvSpPr>
          <p:nvPr>
            <p:ph idx="1"/>
          </p:nvPr>
        </p:nvSpPr>
        <p:spPr>
          <a:xfrm>
            <a:off x="270378" y="1584971"/>
            <a:ext cx="4217424" cy="1860550"/>
          </a:xfrm>
        </p:spPr>
        <p:txBody>
          <a:bodyPr>
            <a:normAutofit/>
          </a:bodyPr>
          <a:lstStyle/>
          <a:p>
            <a:r>
              <a:rPr lang="zh-CN" altLang="en-US" dirty="0">
                <a:solidFill>
                  <a:schemeClr val="tx1"/>
                </a:solidFill>
                <a:effectLst/>
                <a:latin typeface="华文中宋" panose="02010600040101010101" pitchFamily="2" charset="-122"/>
                <a:ea typeface="华文中宋" panose="02010600040101010101" pitchFamily="2" charset="-122"/>
              </a:rPr>
              <a:t>数据集：本章重新构建了带有多模态特征的多行为推荐数据集：</a:t>
            </a:r>
            <a:endParaRPr lang="en-US" altLang="zh-CN" dirty="0">
              <a:solidFill>
                <a:schemeClr val="tx1"/>
              </a:solidFill>
              <a:effectLst/>
              <a:latin typeface="华文中宋" panose="02010600040101010101" pitchFamily="2" charset="-122"/>
              <a:ea typeface="华文中宋" panose="02010600040101010101" pitchFamily="2" charset="-122"/>
            </a:endParaRPr>
          </a:p>
        </p:txBody>
      </p:sp>
      <p:pic>
        <p:nvPicPr>
          <p:cNvPr id="4" name="图片 3">
            <a:extLst>
              <a:ext uri="{FF2B5EF4-FFF2-40B4-BE49-F238E27FC236}">
                <a16:creationId xmlns:a16="http://schemas.microsoft.com/office/drawing/2014/main" id="{31E6F399-7E75-46BC-89E0-2455C4E0F6A4}"/>
              </a:ext>
            </a:extLst>
          </p:cNvPr>
          <p:cNvPicPr>
            <a:picLocks noChangeAspect="1"/>
          </p:cNvPicPr>
          <p:nvPr/>
        </p:nvPicPr>
        <p:blipFill>
          <a:blip r:embed="rId2"/>
          <a:stretch>
            <a:fillRect/>
          </a:stretch>
        </p:blipFill>
        <p:spPr>
          <a:xfrm>
            <a:off x="4487801" y="1207760"/>
            <a:ext cx="5109354" cy="1433651"/>
          </a:xfrm>
          <a:prstGeom prst="rect">
            <a:avLst/>
          </a:prstGeom>
        </p:spPr>
      </p:pic>
      <p:pic>
        <p:nvPicPr>
          <p:cNvPr id="6" name="图片 5">
            <a:extLst>
              <a:ext uri="{FF2B5EF4-FFF2-40B4-BE49-F238E27FC236}">
                <a16:creationId xmlns:a16="http://schemas.microsoft.com/office/drawing/2014/main" id="{3C257DC4-1B39-4CD1-927F-354098D86B04}"/>
              </a:ext>
            </a:extLst>
          </p:cNvPr>
          <p:cNvPicPr>
            <a:picLocks noChangeAspect="1"/>
          </p:cNvPicPr>
          <p:nvPr/>
        </p:nvPicPr>
        <p:blipFill>
          <a:blip r:embed="rId3"/>
          <a:stretch>
            <a:fillRect/>
          </a:stretch>
        </p:blipFill>
        <p:spPr>
          <a:xfrm>
            <a:off x="4487802" y="2865847"/>
            <a:ext cx="5922905" cy="3268414"/>
          </a:xfrm>
          <a:prstGeom prst="rect">
            <a:avLst/>
          </a:prstGeom>
        </p:spPr>
      </p:pic>
      <p:sp>
        <p:nvSpPr>
          <p:cNvPr id="14" name="内容占位符 1">
            <a:extLst>
              <a:ext uri="{FF2B5EF4-FFF2-40B4-BE49-F238E27FC236}">
                <a16:creationId xmlns:a16="http://schemas.microsoft.com/office/drawing/2014/main" id="{D66CCC2D-510A-406D-80D6-BDA795DE76EA}"/>
              </a:ext>
            </a:extLst>
          </p:cNvPr>
          <p:cNvSpPr txBox="1">
            <a:spLocks/>
          </p:cNvSpPr>
          <p:nvPr/>
        </p:nvSpPr>
        <p:spPr>
          <a:xfrm>
            <a:off x="388480" y="3734020"/>
            <a:ext cx="4099322" cy="1860550"/>
          </a:xfrm>
          <a:prstGeom prst="rect">
            <a:avLst/>
          </a:prstGeom>
        </p:spPr>
        <p:txBody>
          <a:bodyPr vert="horz" lIns="91440" tIns="45720" rIns="91440" bIns="45720" rtlCol="0" anchor="t">
            <a:normAutofit/>
          </a:bodyPr>
          <a:lstStyle>
            <a:lvl1pPr marL="305992" indent="-305992"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29984" indent="-305992"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899978" indent="-269993"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1969" indent="-233994"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1960" indent="-233994" algn="l" defTabSz="457189" rtl="0" eaLnBrk="1" latinLnBrk="0" hangingPunct="1">
              <a:lnSpc>
                <a:spcPct val="120000"/>
              </a:lnSpc>
              <a:spcBef>
                <a:spcPts val="6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899953"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199945"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38"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930"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zh-CN" altLang="en-US" dirty="0">
                <a:solidFill>
                  <a:schemeClr val="tx1"/>
                </a:solidFill>
                <a:latin typeface="华文中宋" panose="02010600040101010101" pitchFamily="2" charset="-122"/>
                <a:ea typeface="华文中宋" panose="02010600040101010101" pitchFamily="2" charset="-122"/>
              </a:rPr>
              <a:t>实验效果：优于目前多行为与多模态的</a:t>
            </a:r>
            <a:r>
              <a:rPr lang="en-US" altLang="zh-CN" dirty="0">
                <a:solidFill>
                  <a:schemeClr val="tx1"/>
                </a:solidFill>
                <a:latin typeface="华文中宋" panose="02010600040101010101" pitchFamily="2" charset="-122"/>
                <a:ea typeface="华文中宋" panose="02010600040101010101" pitchFamily="2" charset="-122"/>
              </a:rPr>
              <a:t>Baseline</a:t>
            </a:r>
          </a:p>
        </p:txBody>
      </p:sp>
    </p:spTree>
    <p:extLst>
      <p:ext uri="{BB962C8B-B14F-4D97-AF65-F5344CB8AC3E}">
        <p14:creationId xmlns:p14="http://schemas.microsoft.com/office/powerpoint/2010/main" val="33015679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23FF93AD-B291-5347-AC70-D7287ABA5C8E}"/>
              </a:ext>
            </a:extLst>
          </p:cNvPr>
          <p:cNvSpPr>
            <a:spLocks noGrp="1"/>
          </p:cNvSpPr>
          <p:nvPr>
            <p:ph type="title"/>
          </p:nvPr>
        </p:nvSpPr>
        <p:spPr/>
        <p:txBody>
          <a:bodyPr>
            <a:normAutofit/>
          </a:bodyPr>
          <a:lstStyle/>
          <a:p>
            <a:r>
              <a:rPr kumimoji="1" lang="en-US" altLang="zh-CN" sz="3200" b="1" dirty="0">
                <a:latin typeface="华文中宋" panose="02010600040101010101" pitchFamily="2" charset="-122"/>
                <a:ea typeface="华文中宋" panose="02010600040101010101" pitchFamily="2" charset="-122"/>
              </a:rPr>
              <a:t>4.</a:t>
            </a:r>
            <a:r>
              <a:rPr kumimoji="1" lang="zh-CN" altLang="en-US" sz="3200" b="1" dirty="0">
                <a:latin typeface="华文中宋" panose="02010600040101010101" pitchFamily="2" charset="-122"/>
                <a:ea typeface="华文中宋" panose="02010600040101010101" pitchFamily="2" charset="-122"/>
              </a:rPr>
              <a:t>噪声感知与偏好提取的多模态多行为推荐方法</a:t>
            </a:r>
            <a:endParaRPr kumimoji="1" lang="en-US" altLang="zh-CN" sz="3200" b="1" dirty="0">
              <a:latin typeface="华文中宋" panose="02010600040101010101" pitchFamily="2" charset="-122"/>
              <a:ea typeface="华文中宋" panose="02010600040101010101" pitchFamily="2" charset="-122"/>
            </a:endParaRPr>
          </a:p>
        </p:txBody>
      </p:sp>
      <p:sp>
        <p:nvSpPr>
          <p:cNvPr id="14" name="文本框 13">
            <a:extLst>
              <a:ext uri="{FF2B5EF4-FFF2-40B4-BE49-F238E27FC236}">
                <a16:creationId xmlns:a16="http://schemas.microsoft.com/office/drawing/2014/main" id="{9820D2CA-E2D2-F56F-91D1-34DE3E999E0B}"/>
              </a:ext>
            </a:extLst>
          </p:cNvPr>
          <p:cNvSpPr txBox="1"/>
          <p:nvPr/>
        </p:nvSpPr>
        <p:spPr>
          <a:xfrm>
            <a:off x="561754" y="1366100"/>
            <a:ext cx="10601546" cy="400110"/>
          </a:xfrm>
          <a:prstGeom prst="rect">
            <a:avLst/>
          </a:prstGeom>
          <a:noFill/>
        </p:spPr>
        <p:txBody>
          <a:bodyPr wrap="square" rtlCol="0">
            <a:spAutoFit/>
          </a:bodyPr>
          <a:lstStyle/>
          <a:p>
            <a:r>
              <a:rPr lang="zh-CN" altLang="en-US" sz="2000" b="1" dirty="0">
                <a:solidFill>
                  <a:srgbClr val="000000"/>
                </a:solidFill>
                <a:latin typeface="华文中宋" panose="02010600040101010101" pitchFamily="2" charset="-122"/>
                <a:ea typeface="华文中宋" panose="02010600040101010101" pitchFamily="2" charset="-122"/>
              </a:rPr>
              <a:t>消融实验：</a:t>
            </a:r>
            <a:endParaRPr lang="zh-CN" altLang="en-US" sz="2000" b="1" dirty="0">
              <a:latin typeface="华文中宋" panose="02010600040101010101" pitchFamily="2" charset="-122"/>
              <a:ea typeface="华文中宋" panose="02010600040101010101" pitchFamily="2" charset="-122"/>
            </a:endParaRPr>
          </a:p>
        </p:txBody>
      </p:sp>
      <p:sp>
        <p:nvSpPr>
          <p:cNvPr id="6" name="文本框 5">
            <a:extLst>
              <a:ext uri="{FF2B5EF4-FFF2-40B4-BE49-F238E27FC236}">
                <a16:creationId xmlns:a16="http://schemas.microsoft.com/office/drawing/2014/main" id="{19522273-8E8F-4B68-A68E-1FF4D09A4A8D}"/>
              </a:ext>
            </a:extLst>
          </p:cNvPr>
          <p:cNvSpPr txBox="1"/>
          <p:nvPr/>
        </p:nvSpPr>
        <p:spPr>
          <a:xfrm>
            <a:off x="561754" y="3429000"/>
            <a:ext cx="10601546" cy="400110"/>
          </a:xfrm>
          <a:prstGeom prst="rect">
            <a:avLst/>
          </a:prstGeom>
          <a:noFill/>
        </p:spPr>
        <p:txBody>
          <a:bodyPr wrap="square" rtlCol="0">
            <a:spAutoFit/>
          </a:bodyPr>
          <a:lstStyle/>
          <a:p>
            <a:r>
              <a:rPr lang="zh-CN" altLang="en-US" sz="2000" b="1" dirty="0">
                <a:solidFill>
                  <a:srgbClr val="000000"/>
                </a:solidFill>
                <a:latin typeface="华文中宋" panose="02010600040101010101" pitchFamily="2" charset="-122"/>
                <a:ea typeface="华文中宋" panose="02010600040101010101" pitchFamily="2" charset="-122"/>
              </a:rPr>
              <a:t>参数实验：</a:t>
            </a:r>
            <a:endParaRPr lang="zh-CN" altLang="en-US" sz="2000" b="1" dirty="0">
              <a:latin typeface="华文中宋" panose="02010600040101010101" pitchFamily="2" charset="-122"/>
              <a:ea typeface="华文中宋" panose="02010600040101010101" pitchFamily="2" charset="-122"/>
            </a:endParaRPr>
          </a:p>
        </p:txBody>
      </p:sp>
      <p:pic>
        <p:nvPicPr>
          <p:cNvPr id="9" name="图片 8">
            <a:extLst>
              <a:ext uri="{FF2B5EF4-FFF2-40B4-BE49-F238E27FC236}">
                <a16:creationId xmlns:a16="http://schemas.microsoft.com/office/drawing/2014/main" id="{F5484296-AD77-4427-87E3-54E62FA1E886}"/>
              </a:ext>
            </a:extLst>
          </p:cNvPr>
          <p:cNvPicPr>
            <a:picLocks noChangeAspect="1"/>
          </p:cNvPicPr>
          <p:nvPr/>
        </p:nvPicPr>
        <p:blipFill>
          <a:blip r:embed="rId3"/>
          <a:stretch>
            <a:fillRect/>
          </a:stretch>
        </p:blipFill>
        <p:spPr>
          <a:xfrm>
            <a:off x="735595" y="3788510"/>
            <a:ext cx="3324689" cy="2981741"/>
          </a:xfrm>
          <a:prstGeom prst="rect">
            <a:avLst/>
          </a:prstGeom>
        </p:spPr>
      </p:pic>
      <p:pic>
        <p:nvPicPr>
          <p:cNvPr id="11" name="图片 10">
            <a:extLst>
              <a:ext uri="{FF2B5EF4-FFF2-40B4-BE49-F238E27FC236}">
                <a16:creationId xmlns:a16="http://schemas.microsoft.com/office/drawing/2014/main" id="{93E0426F-7ED3-444D-94FD-2BD9CD7081AA}"/>
              </a:ext>
            </a:extLst>
          </p:cNvPr>
          <p:cNvPicPr>
            <a:picLocks noChangeAspect="1"/>
          </p:cNvPicPr>
          <p:nvPr/>
        </p:nvPicPr>
        <p:blipFill>
          <a:blip r:embed="rId4"/>
          <a:stretch>
            <a:fillRect/>
          </a:stretch>
        </p:blipFill>
        <p:spPr>
          <a:xfrm>
            <a:off x="4357445" y="3836142"/>
            <a:ext cx="3477110" cy="2934109"/>
          </a:xfrm>
          <a:prstGeom prst="rect">
            <a:avLst/>
          </a:prstGeom>
        </p:spPr>
      </p:pic>
      <p:pic>
        <p:nvPicPr>
          <p:cNvPr id="13" name="图片 12">
            <a:extLst>
              <a:ext uri="{FF2B5EF4-FFF2-40B4-BE49-F238E27FC236}">
                <a16:creationId xmlns:a16="http://schemas.microsoft.com/office/drawing/2014/main" id="{2D31BF4F-86CD-4DBA-9F1C-72EB22CDB8B6}"/>
              </a:ext>
            </a:extLst>
          </p:cNvPr>
          <p:cNvPicPr>
            <a:picLocks noChangeAspect="1"/>
          </p:cNvPicPr>
          <p:nvPr/>
        </p:nvPicPr>
        <p:blipFill>
          <a:blip r:embed="rId5"/>
          <a:stretch>
            <a:fillRect/>
          </a:stretch>
        </p:blipFill>
        <p:spPr>
          <a:xfrm>
            <a:off x="8278293" y="3864721"/>
            <a:ext cx="3419952" cy="2905530"/>
          </a:xfrm>
          <a:prstGeom prst="rect">
            <a:avLst/>
          </a:prstGeom>
        </p:spPr>
      </p:pic>
      <p:pic>
        <p:nvPicPr>
          <p:cNvPr id="16" name="图片 15">
            <a:extLst>
              <a:ext uri="{FF2B5EF4-FFF2-40B4-BE49-F238E27FC236}">
                <a16:creationId xmlns:a16="http://schemas.microsoft.com/office/drawing/2014/main" id="{62611867-813A-43BD-806B-33503166BB84}"/>
              </a:ext>
            </a:extLst>
          </p:cNvPr>
          <p:cNvPicPr>
            <a:picLocks noChangeAspect="1"/>
          </p:cNvPicPr>
          <p:nvPr/>
        </p:nvPicPr>
        <p:blipFill>
          <a:blip r:embed="rId6"/>
          <a:stretch>
            <a:fillRect/>
          </a:stretch>
        </p:blipFill>
        <p:spPr>
          <a:xfrm>
            <a:off x="3485096" y="988852"/>
            <a:ext cx="5221808" cy="2781785"/>
          </a:xfrm>
          <a:prstGeom prst="rect">
            <a:avLst/>
          </a:prstGeom>
        </p:spPr>
      </p:pic>
    </p:spTree>
    <p:extLst>
      <p:ext uri="{BB962C8B-B14F-4D97-AF65-F5344CB8AC3E}">
        <p14:creationId xmlns:p14="http://schemas.microsoft.com/office/powerpoint/2010/main" val="2853649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71C82-1F07-8BD9-E52A-E2E40D5286D0}"/>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4D6C223D-9DB1-1BC6-1FD9-D606C76C2A4F}"/>
              </a:ext>
            </a:extLst>
          </p:cNvPr>
          <p:cNvSpPr>
            <a:spLocks noGrp="1"/>
          </p:cNvSpPr>
          <p:nvPr>
            <p:ph type="title"/>
          </p:nvPr>
        </p:nvSpPr>
        <p:spPr/>
        <p:txBody>
          <a:bodyPr>
            <a:normAutofit/>
          </a:bodyPr>
          <a:lstStyle/>
          <a:p>
            <a:r>
              <a:rPr kumimoji="1" lang="en-US" altLang="zh-CN" sz="3200" b="1" dirty="0">
                <a:latin typeface="华文中宋" panose="02010600040101010101" pitchFamily="2" charset="-122"/>
                <a:ea typeface="华文中宋" panose="02010600040101010101" pitchFamily="2" charset="-122"/>
              </a:rPr>
              <a:t>4. </a:t>
            </a:r>
            <a:r>
              <a:rPr kumimoji="1" lang="zh-CN" altLang="en-US" sz="3200" b="1" dirty="0">
                <a:latin typeface="华文中宋" panose="02010600040101010101" pitchFamily="2" charset="-122"/>
                <a:ea typeface="华文中宋" panose="02010600040101010101" pitchFamily="2" charset="-122"/>
              </a:rPr>
              <a:t>总结</a:t>
            </a:r>
            <a:endParaRPr kumimoji="1" lang="en-US" altLang="zh-CN" sz="3200" b="1" dirty="0">
              <a:latin typeface="华文中宋" panose="02010600040101010101" pitchFamily="2" charset="-122"/>
              <a:ea typeface="华文中宋" panose="02010600040101010101" pitchFamily="2" charset="-122"/>
            </a:endParaRPr>
          </a:p>
        </p:txBody>
      </p:sp>
      <p:sp>
        <p:nvSpPr>
          <p:cNvPr id="17" name="内容占位符 1">
            <a:extLst>
              <a:ext uri="{FF2B5EF4-FFF2-40B4-BE49-F238E27FC236}">
                <a16:creationId xmlns:a16="http://schemas.microsoft.com/office/drawing/2014/main" id="{0D659801-E422-7B12-AFD7-47A4C2B6C3AE}"/>
              </a:ext>
            </a:extLst>
          </p:cNvPr>
          <p:cNvSpPr>
            <a:spLocks noGrp="1"/>
          </p:cNvSpPr>
          <p:nvPr>
            <p:ph idx="1"/>
          </p:nvPr>
        </p:nvSpPr>
        <p:spPr>
          <a:xfrm>
            <a:off x="502509" y="1436014"/>
            <a:ext cx="11427940" cy="4643510"/>
          </a:xfrm>
        </p:spPr>
        <p:txBody>
          <a:bodyPr>
            <a:normAutofit/>
          </a:bodyPr>
          <a:lstStyle/>
          <a:p>
            <a:r>
              <a:rPr lang="zh-CN" altLang="en-US" dirty="0">
                <a:solidFill>
                  <a:schemeClr val="tx1"/>
                </a:solidFill>
                <a:effectLst/>
                <a:latin typeface="华文中宋" panose="02010600040101010101" pitchFamily="2" charset="-122"/>
                <a:ea typeface="华文中宋" panose="02010600040101010101" pitchFamily="2" charset="-122"/>
              </a:rPr>
              <a:t>提出了</a:t>
            </a:r>
            <a:r>
              <a:rPr lang="zh-CN" altLang="en-US" dirty="0">
                <a:solidFill>
                  <a:srgbClr val="FF0000"/>
                </a:solidFill>
                <a:effectLst/>
                <a:latin typeface="华文中宋" panose="02010600040101010101" pitchFamily="2" charset="-122"/>
                <a:ea typeface="华文中宋" panose="02010600040101010101" pitchFamily="2" charset="-122"/>
              </a:rPr>
              <a:t>噪声感知与偏好提取的多行为推荐方法</a:t>
            </a:r>
            <a:r>
              <a:rPr lang="zh-CN" altLang="en-US" dirty="0">
                <a:solidFill>
                  <a:schemeClr val="tx1"/>
                </a:solidFill>
                <a:effectLst/>
                <a:latin typeface="华文中宋" panose="02010600040101010101" pitchFamily="2" charset="-122"/>
                <a:ea typeface="华文中宋" panose="02010600040101010101" pitchFamily="2" charset="-122"/>
              </a:rPr>
              <a:t>。</a:t>
            </a:r>
          </a:p>
          <a:p>
            <a:pPr lvl="1"/>
            <a:r>
              <a:rPr lang="zh-CN" altLang="en-US" dirty="0">
                <a:solidFill>
                  <a:schemeClr val="tx1"/>
                </a:solidFill>
                <a:effectLst/>
                <a:latin typeface="华文中宋" panose="02010600040101010101" pitchFamily="2" charset="-122"/>
                <a:ea typeface="华文中宋" panose="02010600040101010101" pitchFamily="2" charset="-122"/>
              </a:rPr>
              <a:t>通过行为间与行为内加权去噪机制，对多行为交互数据进行预处理，有效缓解辅助行为内的噪声干扰，为模型提供高质量输入。</a:t>
            </a:r>
          </a:p>
          <a:p>
            <a:pPr lvl="1"/>
            <a:r>
              <a:rPr lang="zh-CN" altLang="en-US" dirty="0">
                <a:solidFill>
                  <a:schemeClr val="tx1"/>
                </a:solidFill>
                <a:effectLst/>
                <a:latin typeface="华文中宋" panose="02010600040101010101" pitchFamily="2" charset="-122"/>
                <a:ea typeface="华文中宋" panose="02010600040101010101" pitchFamily="2" charset="-122"/>
              </a:rPr>
              <a:t>基于图神经网络框架，设计了跨行为与行为内部的对比学习方法，实现行为之间及行为内的信息传递与增强。</a:t>
            </a:r>
          </a:p>
          <a:p>
            <a:pPr lvl="1"/>
            <a:r>
              <a:rPr lang="zh-CN" altLang="en-US" dirty="0">
                <a:solidFill>
                  <a:schemeClr val="tx1"/>
                </a:solidFill>
                <a:latin typeface="华文中宋" panose="02010600040101010101" pitchFamily="2" charset="-122"/>
                <a:ea typeface="华文中宋" panose="02010600040101010101" pitchFamily="2" charset="-122"/>
              </a:rPr>
              <a:t>实验结果表明，该方法在准确性指标上优于传统多行为基线方法。 </a:t>
            </a:r>
          </a:p>
          <a:p>
            <a:r>
              <a:rPr lang="zh-CN" altLang="en-US" dirty="0">
                <a:solidFill>
                  <a:schemeClr val="tx1"/>
                </a:solidFill>
                <a:latin typeface="华文中宋" panose="02010600040101010101" pitchFamily="2" charset="-122"/>
                <a:ea typeface="华文中宋" panose="02010600040101010101" pitchFamily="2" charset="-122"/>
              </a:rPr>
              <a:t>提出了</a:t>
            </a:r>
            <a:r>
              <a:rPr lang="zh-CN" altLang="en-US" dirty="0">
                <a:solidFill>
                  <a:srgbClr val="FF0000"/>
                </a:solidFill>
                <a:effectLst/>
                <a:latin typeface="华文中宋" panose="02010600040101010101" pitchFamily="2" charset="-122"/>
                <a:ea typeface="华文中宋" panose="02010600040101010101" pitchFamily="2" charset="-122"/>
              </a:rPr>
              <a:t>噪声感知与偏好提取的多模态多行为推荐方法</a:t>
            </a:r>
            <a:r>
              <a:rPr lang="zh-CN" altLang="en-US" dirty="0">
                <a:solidFill>
                  <a:schemeClr val="tx1"/>
                </a:solidFill>
                <a:latin typeface="华文中宋" panose="02010600040101010101" pitchFamily="2" charset="-122"/>
                <a:ea typeface="华文中宋" panose="02010600040101010101" pitchFamily="2" charset="-122"/>
              </a:rPr>
              <a:t>。</a:t>
            </a:r>
            <a:endParaRPr lang="en-US" altLang="zh-CN" dirty="0">
              <a:solidFill>
                <a:schemeClr val="tx1"/>
              </a:solidFill>
              <a:latin typeface="华文中宋" panose="02010600040101010101" pitchFamily="2" charset="-122"/>
              <a:ea typeface="华文中宋" panose="02010600040101010101" pitchFamily="2" charset="-122"/>
            </a:endParaRPr>
          </a:p>
          <a:p>
            <a:pPr lvl="1"/>
            <a:r>
              <a:rPr lang="zh-CN" altLang="en-US" dirty="0">
                <a:solidFill>
                  <a:schemeClr val="tx1"/>
                </a:solidFill>
                <a:latin typeface="华文中宋" panose="02010600040101010101" pitchFamily="2" charset="-122"/>
                <a:ea typeface="华文中宋" panose="02010600040101010101" pitchFamily="2" charset="-122"/>
              </a:rPr>
              <a:t>利用大型视觉语言模型提取物品的多模态特征，并基于用户</a:t>
            </a:r>
            <a:r>
              <a:rPr lang="en-US" altLang="zh-CN" dirty="0">
                <a:solidFill>
                  <a:schemeClr val="tx1"/>
                </a:solidFill>
                <a:latin typeface="华文中宋" panose="02010600040101010101" pitchFamily="2" charset="-122"/>
                <a:ea typeface="华文中宋" panose="02010600040101010101" pitchFamily="2" charset="-122"/>
              </a:rPr>
              <a:t>-</a:t>
            </a:r>
            <a:r>
              <a:rPr lang="zh-CN" altLang="en-US" dirty="0">
                <a:solidFill>
                  <a:schemeClr val="tx1"/>
                </a:solidFill>
                <a:latin typeface="华文中宋" panose="02010600040101010101" pitchFamily="2" charset="-122"/>
                <a:ea typeface="华文中宋" panose="02010600040101010101" pitchFamily="2" charset="-122"/>
              </a:rPr>
              <a:t>物品模态相似度进行硬去噪。</a:t>
            </a:r>
            <a:endParaRPr lang="en-US" altLang="zh-CN" dirty="0">
              <a:solidFill>
                <a:schemeClr val="tx1"/>
              </a:solidFill>
              <a:latin typeface="华文中宋" panose="02010600040101010101" pitchFamily="2" charset="-122"/>
              <a:ea typeface="华文中宋" panose="02010600040101010101" pitchFamily="2" charset="-122"/>
            </a:endParaRPr>
          </a:p>
          <a:p>
            <a:pPr lvl="1"/>
            <a:r>
              <a:rPr lang="zh-CN" altLang="en-US" dirty="0">
                <a:solidFill>
                  <a:schemeClr val="tx1"/>
                </a:solidFill>
                <a:latin typeface="华文中宋" panose="02010600040101010101" pitchFamily="2" charset="-122"/>
                <a:ea typeface="华文中宋" panose="02010600040101010101" pitchFamily="2" charset="-122"/>
              </a:rPr>
              <a:t>结合用户</a:t>
            </a:r>
            <a:r>
              <a:rPr lang="en-US" altLang="zh-CN" dirty="0">
                <a:solidFill>
                  <a:schemeClr val="tx1"/>
                </a:solidFill>
                <a:latin typeface="华文中宋" panose="02010600040101010101" pitchFamily="2" charset="-122"/>
                <a:ea typeface="华文中宋" panose="02010600040101010101" pitchFamily="2" charset="-122"/>
              </a:rPr>
              <a:t>-</a:t>
            </a:r>
            <a:r>
              <a:rPr lang="zh-CN" altLang="en-US" dirty="0">
                <a:solidFill>
                  <a:schemeClr val="tx1"/>
                </a:solidFill>
                <a:latin typeface="华文中宋" panose="02010600040101010101" pitchFamily="2" charset="-122"/>
                <a:ea typeface="华文中宋" panose="02010600040101010101" pitchFamily="2" charset="-122"/>
              </a:rPr>
              <a:t>物品多行为图与模态信息，进行语义感知的图消息传递，获得用户与物品的嵌入。</a:t>
            </a:r>
            <a:endParaRPr lang="en-US" altLang="zh-CN" dirty="0">
              <a:solidFill>
                <a:schemeClr val="tx1"/>
              </a:solidFill>
              <a:latin typeface="华文中宋" panose="02010600040101010101" pitchFamily="2" charset="-122"/>
              <a:ea typeface="华文中宋" panose="02010600040101010101" pitchFamily="2" charset="-122"/>
            </a:endParaRPr>
          </a:p>
          <a:p>
            <a:pPr lvl="1"/>
            <a:r>
              <a:rPr lang="zh-CN" altLang="en-US" dirty="0">
                <a:solidFill>
                  <a:schemeClr val="tx1"/>
                </a:solidFill>
                <a:latin typeface="华文中宋" panose="02010600040101010101" pitchFamily="2" charset="-122"/>
                <a:ea typeface="华文中宋" panose="02010600040101010101" pitchFamily="2" charset="-122"/>
              </a:rPr>
              <a:t>进一步引入模态视角与协同视角下的对比学习，融合模态信息与交互信号，实现多模态多行为的信息融合。</a:t>
            </a:r>
            <a:endParaRPr lang="en-US" altLang="zh-CN" dirty="0">
              <a:solidFill>
                <a:schemeClr val="tx1"/>
              </a:solidFill>
              <a:latin typeface="华文中宋" panose="02010600040101010101" pitchFamily="2" charset="-122"/>
              <a:ea typeface="华文中宋" panose="02010600040101010101" pitchFamily="2" charset="-122"/>
            </a:endParaRPr>
          </a:p>
          <a:p>
            <a:pPr lvl="1"/>
            <a:r>
              <a:rPr lang="zh-CN" altLang="en-US" dirty="0">
                <a:solidFill>
                  <a:schemeClr val="tx1"/>
                </a:solidFill>
                <a:latin typeface="华文中宋" panose="02010600040101010101" pitchFamily="2" charset="-122"/>
                <a:ea typeface="华文中宋" panose="02010600040101010101" pitchFamily="2" charset="-122"/>
              </a:rPr>
              <a:t>实验结果表明，本方法效果优于传统的多模态和多行为推荐方法，能够更全面地刻画用户偏好。</a:t>
            </a:r>
          </a:p>
        </p:txBody>
      </p:sp>
    </p:spTree>
    <p:extLst>
      <p:ext uri="{BB962C8B-B14F-4D97-AF65-F5344CB8AC3E}">
        <p14:creationId xmlns:p14="http://schemas.microsoft.com/office/powerpoint/2010/main" val="22013249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D0B13F-42D2-8A44-A2CA-732B1A987CC5}"/>
              </a:ext>
            </a:extLst>
          </p:cNvPr>
          <p:cNvSpPr>
            <a:spLocks noGrp="1"/>
          </p:cNvSpPr>
          <p:nvPr>
            <p:ph type="title"/>
          </p:nvPr>
        </p:nvSpPr>
        <p:spPr>
          <a:xfrm>
            <a:off x="432337" y="171894"/>
            <a:ext cx="11086267" cy="566738"/>
          </a:xfrm>
        </p:spPr>
        <p:txBody>
          <a:bodyPr>
            <a:normAutofit fontScale="90000"/>
          </a:bodyPr>
          <a:lstStyle/>
          <a:p>
            <a:r>
              <a:rPr kumimoji="1" lang="zh-CN" altLang="en-US" sz="3200" b="1" dirty="0"/>
              <a:t>参考文献</a:t>
            </a:r>
            <a:endParaRPr kumimoji="1" lang="zh-CN" altLang="en-US" sz="2800" b="1" dirty="0"/>
          </a:p>
        </p:txBody>
      </p:sp>
      <p:sp>
        <p:nvSpPr>
          <p:cNvPr id="7" name="文本框 6">
            <a:extLst>
              <a:ext uri="{FF2B5EF4-FFF2-40B4-BE49-F238E27FC236}">
                <a16:creationId xmlns:a16="http://schemas.microsoft.com/office/drawing/2014/main" id="{B9D11079-EA0D-57F1-1F01-01E838DD2D9E}"/>
              </a:ext>
            </a:extLst>
          </p:cNvPr>
          <p:cNvSpPr txBox="1"/>
          <p:nvPr/>
        </p:nvSpPr>
        <p:spPr>
          <a:xfrm>
            <a:off x="623776" y="871503"/>
            <a:ext cx="11178364" cy="5509200"/>
          </a:xfrm>
          <a:prstGeom prst="rect">
            <a:avLst/>
          </a:prstGeom>
          <a:noFill/>
        </p:spPr>
        <p:txBody>
          <a:bodyPr wrap="square" rtlCol="0">
            <a:spAutoFit/>
          </a:bodyPr>
          <a:lstStyle/>
          <a:p>
            <a:pPr latinLnBrk="1"/>
            <a:r>
              <a:rPr lang="en-US" altLang="zh-CN" sz="1600" dirty="0">
                <a:highlight>
                  <a:srgbClr val="E1DFE2"/>
                </a:highlight>
              </a:rPr>
              <a:t>[1]</a:t>
            </a:r>
            <a:r>
              <a:rPr lang="en-US" altLang="zh-CN" sz="1600" dirty="0"/>
              <a:t> GE Y</a:t>
            </a:r>
            <a:r>
              <a:rPr lang="zh-CN" altLang="en-US" sz="1600" dirty="0"/>
              <a:t>，</a:t>
            </a:r>
            <a:r>
              <a:rPr lang="en-US" altLang="zh-CN" sz="1600" dirty="0"/>
              <a:t>ZHAO S</a:t>
            </a:r>
            <a:r>
              <a:rPr lang="zh-CN" altLang="en-US" sz="1600" dirty="0"/>
              <a:t>，</a:t>
            </a:r>
            <a:r>
              <a:rPr lang="en-US" altLang="zh-CN" sz="1600" dirty="0"/>
              <a:t>ZHOU H</a:t>
            </a:r>
            <a:r>
              <a:rPr lang="zh-CN" altLang="en-US" sz="1600" dirty="0"/>
              <a:t>，</a:t>
            </a:r>
            <a:r>
              <a:rPr lang="en-US" altLang="zh-CN" sz="1600" dirty="0"/>
              <a:t>et al. Understanding Echo Chambers in E-Commerce Recommender Systems</a:t>
            </a:r>
            <a:r>
              <a:rPr lang="zh-CN" altLang="en-US" sz="1600" dirty="0"/>
              <a:t>［</a:t>
            </a:r>
            <a:r>
              <a:rPr lang="en-US" altLang="zh-CN" sz="1600" dirty="0"/>
              <a:t>C/OL</a:t>
            </a:r>
            <a:r>
              <a:rPr lang="zh-CN" altLang="en-US" sz="1600" dirty="0"/>
              <a:t>］ </a:t>
            </a:r>
            <a:r>
              <a:rPr lang="en-US" altLang="zh-CN" sz="1600" dirty="0"/>
              <a:t>// SIGIR ’2     0 </a:t>
            </a:r>
            <a:r>
              <a:rPr lang="zh-CN" altLang="en-US" sz="1600" dirty="0"/>
              <a:t>：</a:t>
            </a:r>
            <a:r>
              <a:rPr lang="en-US" altLang="zh-CN" sz="1600" dirty="0"/>
              <a:t>Proceedings of the 43rd International ACM SIGIR Conference on Research and Development in Information Retrieval</a:t>
            </a:r>
            <a:r>
              <a:rPr lang="zh-CN" altLang="en-US" sz="1600" dirty="0"/>
              <a:t>，</a:t>
            </a:r>
            <a:r>
              <a:rPr lang="en-US" altLang="zh-CN" sz="1600" dirty="0"/>
              <a:t>New York, NY, USA</a:t>
            </a:r>
            <a:r>
              <a:rPr lang="zh-CN" altLang="en-US" sz="1600" dirty="0"/>
              <a:t>：</a:t>
            </a:r>
            <a:r>
              <a:rPr lang="en-US" altLang="zh-CN" sz="1600" dirty="0"/>
              <a:t>Association for Computing Machinery</a:t>
            </a:r>
            <a:r>
              <a:rPr lang="zh-CN" altLang="en-US" sz="1600" dirty="0"/>
              <a:t>，</a:t>
            </a:r>
            <a:r>
              <a:rPr lang="en-US" altLang="zh-CN" sz="1600" dirty="0"/>
              <a:t>2020</a:t>
            </a:r>
            <a:r>
              <a:rPr lang="zh-CN" altLang="en-US" sz="1600" dirty="0"/>
              <a:t>：</a:t>
            </a:r>
            <a:r>
              <a:rPr lang="en-US" altLang="zh-CN" sz="1600" dirty="0"/>
              <a:t>2261–2270. https://doi.org/10.1145/3397271.3401431. </a:t>
            </a:r>
          </a:p>
          <a:p>
            <a:pPr latinLnBrk="1"/>
            <a:r>
              <a:rPr lang="en-US" altLang="zh-CN" sz="1600" dirty="0">
                <a:highlight>
                  <a:srgbClr val="E1DFE2"/>
                </a:highlight>
              </a:rPr>
              <a:t>[2]</a:t>
            </a:r>
            <a:r>
              <a:rPr lang="en-US" altLang="zh-CN" sz="1600" dirty="0"/>
              <a:t> LIU S</a:t>
            </a:r>
            <a:r>
              <a:rPr lang="zh-CN" altLang="en-US" sz="1600" dirty="0"/>
              <a:t>，</a:t>
            </a:r>
            <a:r>
              <a:rPr lang="en-US" altLang="zh-CN" sz="1600" dirty="0"/>
              <a:t>ZHENG Y. Long-tail session-based recommendation </a:t>
            </a:r>
            <a:r>
              <a:rPr lang="zh-CN" altLang="en-US" sz="1600" dirty="0"/>
              <a:t>［</a:t>
            </a:r>
            <a:r>
              <a:rPr lang="en-US" altLang="zh-CN" sz="1600" dirty="0"/>
              <a:t>C</a:t>
            </a:r>
            <a:r>
              <a:rPr lang="zh-CN" altLang="en-US" sz="1600" dirty="0"/>
              <a:t>］</a:t>
            </a:r>
            <a:r>
              <a:rPr lang="en-US" altLang="zh-CN" sz="1600" dirty="0"/>
              <a:t>// Proceedings of the 14th ACM Conference on Recommender Systems</a:t>
            </a:r>
            <a:r>
              <a:rPr lang="zh-CN" altLang="en-US" sz="1600" dirty="0"/>
              <a:t>，［</a:t>
            </a:r>
            <a:r>
              <a:rPr lang="en-US" altLang="zh-CN" sz="1600" dirty="0" err="1"/>
              <a:t>S.l.</a:t>
            </a:r>
            <a:r>
              <a:rPr lang="zh-CN" altLang="en-US" sz="1600" dirty="0"/>
              <a:t>］，</a:t>
            </a:r>
            <a:r>
              <a:rPr lang="en-US" altLang="zh-CN" sz="1600" dirty="0"/>
              <a:t>2020 </a:t>
            </a:r>
            <a:r>
              <a:rPr lang="zh-CN" altLang="en-US" sz="1600" dirty="0"/>
              <a:t>：</a:t>
            </a:r>
            <a:r>
              <a:rPr lang="en-US" altLang="zh-CN" sz="1600" dirty="0"/>
              <a:t>509-514.</a:t>
            </a:r>
          </a:p>
          <a:p>
            <a:pPr latinLnBrk="1"/>
            <a:r>
              <a:rPr lang="en-US" altLang="zh-CN" sz="1600" dirty="0">
                <a:highlight>
                  <a:srgbClr val="E1DFE2"/>
                </a:highlight>
              </a:rPr>
              <a:t>[3]</a:t>
            </a:r>
            <a:r>
              <a:rPr lang="en-US" altLang="zh-CN" sz="1600" dirty="0"/>
              <a:t> PÉREZ-MARCOS J</a:t>
            </a:r>
            <a:r>
              <a:rPr lang="zh-CN" altLang="en-US" sz="1600" dirty="0"/>
              <a:t>，</a:t>
            </a:r>
            <a:r>
              <a:rPr lang="en-US" altLang="zh-CN" sz="1600" dirty="0"/>
              <a:t>MARTÍN-GÓMEZ L</a:t>
            </a:r>
            <a:r>
              <a:rPr lang="zh-CN" altLang="en-US" sz="1600" dirty="0"/>
              <a:t>，</a:t>
            </a:r>
            <a:r>
              <a:rPr lang="en-US" altLang="zh-CN" sz="1600" dirty="0"/>
              <a:t>JIMÉNEZ-BRAVO D M</a:t>
            </a:r>
            <a:r>
              <a:rPr lang="zh-CN" altLang="en-US" sz="1600" dirty="0"/>
              <a:t>，</a:t>
            </a:r>
            <a:r>
              <a:rPr lang="en-US" altLang="zh-CN" sz="1600" dirty="0"/>
              <a:t>et al. Hybrid system for video game recommendation </a:t>
            </a:r>
          </a:p>
          <a:p>
            <a:pPr latinLnBrk="1"/>
            <a:r>
              <a:rPr lang="en-US" altLang="zh-CN" sz="1600" dirty="0"/>
              <a:t>based on implicit ratings and social networks</a:t>
            </a:r>
            <a:r>
              <a:rPr lang="zh-CN" altLang="en-US" sz="1600" dirty="0"/>
              <a:t>［</a:t>
            </a:r>
            <a:r>
              <a:rPr lang="en-US" altLang="zh-CN" sz="1600" dirty="0"/>
              <a:t>J/OL</a:t>
            </a:r>
            <a:r>
              <a:rPr lang="zh-CN" altLang="en-US" sz="1600" dirty="0"/>
              <a:t>］</a:t>
            </a:r>
            <a:r>
              <a:rPr lang="en-US" altLang="zh-CN" sz="1600" dirty="0"/>
              <a:t>. Journal of Ambient Intelligence and Humanized Computing</a:t>
            </a:r>
            <a:r>
              <a:rPr lang="zh-CN" altLang="en-US" sz="1600" dirty="0"/>
              <a:t>，</a:t>
            </a:r>
            <a:r>
              <a:rPr lang="en-US" altLang="zh-CN" sz="1600" dirty="0"/>
              <a:t>2020</a:t>
            </a:r>
            <a:r>
              <a:rPr lang="zh-CN" altLang="en-US" sz="1600" dirty="0"/>
              <a:t>，</a:t>
            </a:r>
            <a:r>
              <a:rPr lang="en-US" altLang="zh-CN" sz="1600" dirty="0"/>
              <a:t>11 </a:t>
            </a:r>
            <a:r>
              <a:rPr lang="zh-CN" altLang="en-US" sz="1600" dirty="0"/>
              <a:t>：</a:t>
            </a:r>
            <a:r>
              <a:rPr lang="en-US" altLang="zh-CN" sz="1600" dirty="0"/>
              <a:t>4525-4535. https://doi.org/10.1007/s12652-020-01681-0.</a:t>
            </a:r>
          </a:p>
          <a:p>
            <a:pPr latinLnBrk="1"/>
            <a:r>
              <a:rPr lang="en-US" altLang="zh-CN" sz="1600" dirty="0">
                <a:highlight>
                  <a:srgbClr val="E1DFE2"/>
                </a:highlight>
              </a:rPr>
              <a:t>[4]</a:t>
            </a:r>
            <a:r>
              <a:rPr lang="en-US" altLang="zh-CN" sz="1600" dirty="0"/>
              <a:t> ANON. From Implicit Preferences to Ratings: Video Games Recommendation based on Collaborative Filtering </a:t>
            </a:r>
            <a:r>
              <a:rPr lang="zh-CN" altLang="en-US" sz="1600" dirty="0"/>
              <a:t>［</a:t>
            </a:r>
            <a:r>
              <a:rPr lang="en-US" altLang="zh-CN" sz="1600" dirty="0"/>
              <a:t>C/OL</a:t>
            </a:r>
            <a:r>
              <a:rPr lang="zh-CN" altLang="en-US" sz="1600" dirty="0"/>
              <a:t>］</a:t>
            </a:r>
            <a:r>
              <a:rPr lang="en-US" altLang="zh-CN" sz="1600" dirty="0"/>
              <a:t>. </a:t>
            </a:r>
            <a:r>
              <a:rPr lang="zh-CN" altLang="en-US" sz="1600" dirty="0"/>
              <a:t>［</a:t>
            </a:r>
            <a:r>
              <a:rPr lang="en-US" altLang="zh-CN" sz="1600" dirty="0" err="1"/>
              <a:t>S.l.</a:t>
            </a:r>
            <a:r>
              <a:rPr lang="zh-CN" altLang="en-US" sz="1600" dirty="0"/>
              <a:t>］：</a:t>
            </a:r>
            <a:r>
              <a:rPr lang="en-US" altLang="zh-CN" sz="1600" dirty="0" err="1"/>
              <a:t>SciTePress</a:t>
            </a:r>
            <a:r>
              <a:rPr lang="zh-CN" altLang="en-US" sz="1600" dirty="0"/>
              <a:t>，</a:t>
            </a:r>
            <a:r>
              <a:rPr lang="en-US" altLang="zh-CN" sz="1600" dirty="0"/>
              <a:t>2021</a:t>
            </a:r>
            <a:r>
              <a:rPr lang="zh-CN" altLang="en-US" sz="1600" dirty="0"/>
              <a:t>：</a:t>
            </a:r>
            <a:r>
              <a:rPr lang="en-US" altLang="zh-CN" sz="1600" dirty="0"/>
              <a:t>209-216. http://dx.doi.org/10.5220/0010655900003064.</a:t>
            </a:r>
          </a:p>
          <a:p>
            <a:pPr latinLnBrk="1"/>
            <a:r>
              <a:rPr lang="en-US" altLang="zh-CN" sz="1600" dirty="0">
                <a:highlight>
                  <a:srgbClr val="E1DFE2"/>
                </a:highlight>
              </a:rPr>
              <a:t>[5]</a:t>
            </a:r>
            <a:r>
              <a:rPr lang="en-US" altLang="zh-CN" sz="1600" dirty="0"/>
              <a:t> IWADARE K</a:t>
            </a:r>
            <a:r>
              <a:rPr lang="zh-CN" altLang="en-US" sz="1600" dirty="0"/>
              <a:t>，</a:t>
            </a:r>
            <a:r>
              <a:rPr lang="en-US" altLang="zh-CN" sz="1600" dirty="0"/>
              <a:t>MUTOH A</a:t>
            </a:r>
            <a:r>
              <a:rPr lang="zh-CN" altLang="en-US" sz="1600" dirty="0"/>
              <a:t>，</a:t>
            </a:r>
            <a:r>
              <a:rPr lang="en-US" altLang="zh-CN" sz="1600" dirty="0"/>
              <a:t>MORIYAMA K</a:t>
            </a:r>
            <a:r>
              <a:rPr lang="zh-CN" altLang="en-US" sz="1600" dirty="0"/>
              <a:t>，</a:t>
            </a:r>
            <a:r>
              <a:rPr lang="en-US" altLang="zh-CN" sz="1600" dirty="0"/>
              <a:t>et al. Proposal of a Game Recommendation System Considering Playing Time </a:t>
            </a:r>
          </a:p>
          <a:p>
            <a:pPr latinLnBrk="1"/>
            <a:r>
              <a:rPr lang="en-US" altLang="zh-CN" sz="1600" dirty="0"/>
              <a:t>and Friendships </a:t>
            </a:r>
            <a:r>
              <a:rPr lang="zh-CN" altLang="en-US" sz="1600" dirty="0"/>
              <a:t>［</a:t>
            </a:r>
            <a:r>
              <a:rPr lang="en-US" altLang="zh-CN" sz="1600" dirty="0"/>
              <a:t>C/OL</a:t>
            </a:r>
            <a:r>
              <a:rPr lang="zh-CN" altLang="en-US" sz="1600" dirty="0"/>
              <a:t>］ </a:t>
            </a:r>
            <a:r>
              <a:rPr lang="en-US" altLang="zh-CN" sz="1600" dirty="0"/>
              <a:t>// 2022 IEEE 11th Global Conference on Consumer Electronics (GCCE)</a:t>
            </a:r>
            <a:r>
              <a:rPr lang="zh-CN" altLang="en-US" sz="1600" dirty="0"/>
              <a:t>，［</a:t>
            </a:r>
            <a:r>
              <a:rPr lang="en-US" altLang="zh-CN" sz="1600" dirty="0" err="1"/>
              <a:t>S.l.</a:t>
            </a:r>
            <a:r>
              <a:rPr lang="zh-CN" altLang="en-US" sz="1600" dirty="0"/>
              <a:t>］，</a:t>
            </a:r>
            <a:r>
              <a:rPr lang="en-US" altLang="zh-CN" sz="1600" dirty="0"/>
              <a:t>2022</a:t>
            </a:r>
            <a:r>
              <a:rPr lang="zh-CN" altLang="en-US" sz="1600" dirty="0"/>
              <a:t>：</a:t>
            </a:r>
            <a:r>
              <a:rPr lang="en-US" altLang="zh-CN" sz="1600" dirty="0"/>
              <a:t>703-706. http://dx.doi.org/10.1109/GCCE56475.2022.10014311.</a:t>
            </a:r>
          </a:p>
          <a:p>
            <a:pPr latinLnBrk="1"/>
            <a:r>
              <a:rPr lang="en-US" altLang="zh-CN" sz="1600" dirty="0">
                <a:highlight>
                  <a:srgbClr val="E1DFE2"/>
                </a:highlight>
              </a:rPr>
              <a:t>[6]</a:t>
            </a:r>
            <a:r>
              <a:rPr lang="en-US" altLang="zh-CN" sz="1600" dirty="0"/>
              <a:t> YANG L</a:t>
            </a:r>
            <a:r>
              <a:rPr lang="zh-CN" altLang="en-US" sz="1600" dirty="0"/>
              <a:t>，</a:t>
            </a:r>
            <a:r>
              <a:rPr lang="en-US" altLang="zh-CN" sz="1600" dirty="0"/>
              <a:t>LIU Z</a:t>
            </a:r>
            <a:r>
              <a:rPr lang="zh-CN" altLang="en-US" sz="1600" dirty="0"/>
              <a:t>，</a:t>
            </a:r>
            <a:r>
              <a:rPr lang="en-US" altLang="zh-CN" sz="1600" dirty="0"/>
              <a:t>WANG Y</a:t>
            </a:r>
            <a:r>
              <a:rPr lang="zh-CN" altLang="en-US" sz="1600" dirty="0"/>
              <a:t>，</a:t>
            </a:r>
            <a:r>
              <a:rPr lang="en-US" altLang="zh-CN" sz="1600" dirty="0"/>
              <a:t>et al. Large-Scale Personalized Video Game Recommendation via Social-Aware Contextualized </a:t>
            </a:r>
          </a:p>
          <a:p>
            <a:pPr latinLnBrk="1"/>
            <a:r>
              <a:rPr lang="en-US" altLang="zh-CN" sz="1600" dirty="0"/>
              <a:t>Graph Neural Network</a:t>
            </a:r>
            <a:r>
              <a:rPr lang="zh-CN" altLang="en-US" sz="1600" dirty="0"/>
              <a:t>［</a:t>
            </a:r>
            <a:r>
              <a:rPr lang="en-US" altLang="zh-CN" sz="1600" dirty="0"/>
              <a:t>C/OL</a:t>
            </a:r>
            <a:r>
              <a:rPr lang="zh-CN" altLang="en-US" sz="1600" dirty="0"/>
              <a:t>］</a:t>
            </a:r>
            <a:r>
              <a:rPr lang="en-US" altLang="zh-CN" sz="1600" dirty="0"/>
              <a:t>// WWW ’22 </a:t>
            </a:r>
            <a:r>
              <a:rPr lang="zh-CN" altLang="en-US" sz="1600" dirty="0"/>
              <a:t>：</a:t>
            </a:r>
            <a:r>
              <a:rPr lang="en-US" altLang="zh-CN" sz="1600" dirty="0"/>
              <a:t>Proceedings of the ACM Web Conference 2022</a:t>
            </a:r>
            <a:r>
              <a:rPr lang="zh-CN" altLang="en-US" sz="1600" dirty="0"/>
              <a:t>，</a:t>
            </a:r>
            <a:r>
              <a:rPr lang="en-US" altLang="zh-CN" sz="1600" dirty="0"/>
              <a:t>New York, NY, USA</a:t>
            </a:r>
            <a:r>
              <a:rPr lang="zh-CN" altLang="en-US" sz="1600" dirty="0"/>
              <a:t>：</a:t>
            </a:r>
            <a:endParaRPr lang="en-US" altLang="zh-CN" sz="1600" dirty="0"/>
          </a:p>
          <a:p>
            <a:pPr latinLnBrk="1"/>
            <a:r>
              <a:rPr lang="en-US" altLang="zh-CN" sz="1600" dirty="0"/>
              <a:t>Association for Computing Machinery</a:t>
            </a:r>
            <a:r>
              <a:rPr lang="zh-CN" altLang="en-US" sz="1600" dirty="0"/>
              <a:t>，</a:t>
            </a:r>
            <a:r>
              <a:rPr lang="en-US" altLang="zh-CN" sz="1600" dirty="0"/>
              <a:t>2022 </a:t>
            </a:r>
            <a:r>
              <a:rPr lang="zh-CN" altLang="en-US" sz="1600" dirty="0"/>
              <a:t>：</a:t>
            </a:r>
            <a:r>
              <a:rPr lang="en-US" altLang="zh-CN" sz="1600" dirty="0"/>
              <a:t>3376–3386. https://doi.org/10.1145/3485447.3512273.</a:t>
            </a:r>
            <a:endParaRPr lang="en-US" altLang="zh-CN" sz="1600" dirty="0">
              <a:highlight>
                <a:srgbClr val="E1DFE2"/>
              </a:highlight>
            </a:endParaRPr>
          </a:p>
          <a:p>
            <a:pPr latinLnBrk="1"/>
            <a:r>
              <a:rPr lang="en-US" altLang="zh-CN" sz="1600" dirty="0">
                <a:highlight>
                  <a:srgbClr val="E1DFE2"/>
                </a:highlight>
              </a:rPr>
              <a:t>[7]</a:t>
            </a:r>
            <a:r>
              <a:rPr lang="en-US" altLang="zh-CN" sz="1600" dirty="0"/>
              <a:t> ZHENG Y</a:t>
            </a:r>
            <a:r>
              <a:rPr lang="zh-CN" altLang="en-US" sz="1600" dirty="0"/>
              <a:t>，</a:t>
            </a:r>
            <a:r>
              <a:rPr lang="en-US" altLang="zh-CN" sz="1600" dirty="0"/>
              <a:t>GAO C</a:t>
            </a:r>
            <a:r>
              <a:rPr lang="zh-CN" altLang="en-US" sz="1600" dirty="0"/>
              <a:t>，</a:t>
            </a:r>
            <a:r>
              <a:rPr lang="en-US" altLang="zh-CN" sz="1600" dirty="0"/>
              <a:t>CHEN L</a:t>
            </a:r>
            <a:r>
              <a:rPr lang="zh-CN" altLang="en-US" sz="1600" dirty="0"/>
              <a:t>，</a:t>
            </a:r>
            <a:r>
              <a:rPr lang="en-US" altLang="zh-CN" sz="1600" dirty="0"/>
              <a:t>et al. DGCN: Diversified Recommendation with Graph Convolutional Networks</a:t>
            </a:r>
            <a:r>
              <a:rPr lang="zh-CN" altLang="en-US" sz="1600" dirty="0"/>
              <a:t>［</a:t>
            </a:r>
            <a:r>
              <a:rPr lang="en-US" altLang="zh-CN" sz="1600" dirty="0"/>
              <a:t>C/OL</a:t>
            </a:r>
            <a:r>
              <a:rPr lang="zh-CN" altLang="en-US" sz="1600" dirty="0"/>
              <a:t>］ </a:t>
            </a:r>
            <a:r>
              <a:rPr lang="en-US" altLang="zh-CN" sz="1600" dirty="0"/>
              <a:t>// </a:t>
            </a:r>
          </a:p>
          <a:p>
            <a:pPr latinLnBrk="1"/>
            <a:r>
              <a:rPr lang="en-US" altLang="zh-CN" sz="1600" dirty="0"/>
              <a:t>WWW ’21 </a:t>
            </a:r>
            <a:r>
              <a:rPr lang="zh-CN" altLang="en-US" sz="1600" dirty="0"/>
              <a:t>：</a:t>
            </a:r>
            <a:r>
              <a:rPr lang="en-US" altLang="zh-CN" sz="1600" dirty="0"/>
              <a:t>Proceedings of the Web Conference 2021</a:t>
            </a:r>
            <a:r>
              <a:rPr lang="zh-CN" altLang="en-US" sz="1600" dirty="0"/>
              <a:t>，</a:t>
            </a:r>
            <a:r>
              <a:rPr lang="en-US" altLang="zh-CN" sz="1600" dirty="0"/>
              <a:t>New York, NY, USA </a:t>
            </a:r>
            <a:r>
              <a:rPr lang="zh-CN" altLang="en-US" sz="1600" dirty="0"/>
              <a:t>：</a:t>
            </a:r>
            <a:r>
              <a:rPr lang="en-US" altLang="zh-CN" sz="1600" dirty="0"/>
              <a:t>Association for Computing Machinery</a:t>
            </a:r>
            <a:r>
              <a:rPr lang="zh-CN" altLang="en-US" sz="1600" dirty="0"/>
              <a:t>，</a:t>
            </a:r>
            <a:r>
              <a:rPr lang="en-US" altLang="zh-CN" sz="1600" dirty="0"/>
              <a:t>2021 </a:t>
            </a:r>
            <a:r>
              <a:rPr lang="zh-CN" altLang="en-US" sz="1600" dirty="0"/>
              <a:t>：</a:t>
            </a:r>
            <a:r>
              <a:rPr lang="en-US" altLang="zh-CN" sz="1600" dirty="0"/>
              <a:t>401–412. https://doi.org/10.1145/3442381.3449835.</a:t>
            </a:r>
          </a:p>
          <a:p>
            <a:pPr latinLnBrk="1"/>
            <a:r>
              <a:rPr lang="en-US" altLang="zh-CN" sz="1600" dirty="0">
                <a:highlight>
                  <a:srgbClr val="E1DFE2"/>
                </a:highlight>
              </a:rPr>
              <a:t>[8]</a:t>
            </a:r>
            <a:r>
              <a:rPr lang="en-US" altLang="zh-CN" sz="1600" dirty="0"/>
              <a:t> YE R</a:t>
            </a:r>
            <a:r>
              <a:rPr lang="zh-CN" altLang="en-US" sz="1600" dirty="0"/>
              <a:t>，</a:t>
            </a:r>
            <a:r>
              <a:rPr lang="en-US" altLang="zh-CN" sz="1600" dirty="0"/>
              <a:t>HOU Y</a:t>
            </a:r>
            <a:r>
              <a:rPr lang="zh-CN" altLang="en-US" sz="1600" dirty="0"/>
              <a:t>，</a:t>
            </a:r>
            <a:r>
              <a:rPr lang="en-US" altLang="zh-CN" sz="1600" dirty="0"/>
              <a:t>LEI T</a:t>
            </a:r>
            <a:r>
              <a:rPr lang="zh-CN" altLang="en-US" sz="1600" dirty="0"/>
              <a:t>，</a:t>
            </a:r>
            <a:r>
              <a:rPr lang="en-US" altLang="zh-CN" sz="1600" dirty="0"/>
              <a:t>et al. Dynamic Graph Construction for Improving Diversity of Recommendation</a:t>
            </a:r>
            <a:r>
              <a:rPr lang="zh-CN" altLang="en-US" sz="1600" dirty="0"/>
              <a:t>［</a:t>
            </a:r>
            <a:r>
              <a:rPr lang="en-US" altLang="zh-CN" sz="1600" dirty="0"/>
              <a:t>C/OL</a:t>
            </a:r>
            <a:r>
              <a:rPr lang="zh-CN" altLang="en-US" sz="1600" dirty="0"/>
              <a:t>］ </a:t>
            </a:r>
            <a:r>
              <a:rPr lang="en-US" altLang="zh-CN" sz="1600" dirty="0"/>
              <a:t>// </a:t>
            </a:r>
            <a:r>
              <a:rPr lang="en-US" altLang="zh-CN" sz="1600" dirty="0" err="1"/>
              <a:t>RecSys</a:t>
            </a:r>
            <a:r>
              <a:rPr lang="en-US" altLang="zh-CN" sz="1600" dirty="0"/>
              <a:t> ’21 </a:t>
            </a:r>
            <a:r>
              <a:rPr lang="zh-CN" altLang="en-US" sz="1600" dirty="0"/>
              <a:t>：</a:t>
            </a:r>
            <a:r>
              <a:rPr lang="en-US" altLang="zh-CN" sz="1600" dirty="0"/>
              <a:t>Proceedings of the 15th ACM Conference on Recommender Systems</a:t>
            </a:r>
            <a:r>
              <a:rPr lang="zh-CN" altLang="en-US" sz="1600" dirty="0"/>
              <a:t>，</a:t>
            </a:r>
            <a:r>
              <a:rPr lang="en-US" altLang="zh-CN" sz="1600" dirty="0"/>
              <a:t>New York, NY, USA</a:t>
            </a:r>
            <a:r>
              <a:rPr lang="zh-CN" altLang="en-US" sz="1600" dirty="0"/>
              <a:t>：</a:t>
            </a:r>
            <a:r>
              <a:rPr lang="en-US" altLang="zh-CN" sz="1600" dirty="0"/>
              <a:t>Association for Computing </a:t>
            </a:r>
          </a:p>
          <a:p>
            <a:pPr latinLnBrk="1"/>
            <a:r>
              <a:rPr lang="en-US" altLang="zh-CN" sz="1600" dirty="0"/>
              <a:t>Machinery</a:t>
            </a:r>
            <a:r>
              <a:rPr lang="zh-CN" altLang="en-US" sz="1600" dirty="0"/>
              <a:t>，</a:t>
            </a:r>
            <a:r>
              <a:rPr lang="en-US" altLang="zh-CN" sz="1600" dirty="0"/>
              <a:t>2021 </a:t>
            </a:r>
            <a:r>
              <a:rPr lang="zh-CN" altLang="en-US" sz="1600" dirty="0"/>
              <a:t>：</a:t>
            </a:r>
            <a:r>
              <a:rPr lang="en-US" altLang="zh-CN" sz="1600" dirty="0"/>
              <a:t>651–655. https://doi.org/10.1145/3460231.3478845.</a:t>
            </a:r>
          </a:p>
        </p:txBody>
      </p:sp>
    </p:spTree>
    <p:extLst>
      <p:ext uri="{BB962C8B-B14F-4D97-AF65-F5344CB8AC3E}">
        <p14:creationId xmlns:p14="http://schemas.microsoft.com/office/powerpoint/2010/main" val="30441333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D0B13F-42D2-8A44-A2CA-732B1A987CC5}"/>
              </a:ext>
            </a:extLst>
          </p:cNvPr>
          <p:cNvSpPr>
            <a:spLocks noGrp="1"/>
          </p:cNvSpPr>
          <p:nvPr>
            <p:ph type="title"/>
          </p:nvPr>
        </p:nvSpPr>
        <p:spPr>
          <a:xfrm>
            <a:off x="432337" y="171894"/>
            <a:ext cx="11086267" cy="566738"/>
          </a:xfrm>
        </p:spPr>
        <p:txBody>
          <a:bodyPr>
            <a:normAutofit fontScale="90000"/>
          </a:bodyPr>
          <a:lstStyle/>
          <a:p>
            <a:r>
              <a:rPr kumimoji="1" lang="zh-CN" altLang="en-US" sz="3200" b="1" dirty="0"/>
              <a:t>参考文献</a:t>
            </a:r>
            <a:endParaRPr kumimoji="1" lang="zh-CN" altLang="en-US" sz="2800" b="1" dirty="0"/>
          </a:p>
        </p:txBody>
      </p:sp>
      <p:sp>
        <p:nvSpPr>
          <p:cNvPr id="7" name="文本框 6">
            <a:extLst>
              <a:ext uri="{FF2B5EF4-FFF2-40B4-BE49-F238E27FC236}">
                <a16:creationId xmlns:a16="http://schemas.microsoft.com/office/drawing/2014/main" id="{B9D11079-EA0D-57F1-1F01-01E838DD2D9E}"/>
              </a:ext>
            </a:extLst>
          </p:cNvPr>
          <p:cNvSpPr txBox="1"/>
          <p:nvPr/>
        </p:nvSpPr>
        <p:spPr>
          <a:xfrm>
            <a:off x="623776" y="871503"/>
            <a:ext cx="11276124" cy="6093976"/>
          </a:xfrm>
          <a:prstGeom prst="rect">
            <a:avLst/>
          </a:prstGeom>
          <a:noFill/>
        </p:spPr>
        <p:txBody>
          <a:bodyPr wrap="square" rtlCol="0">
            <a:spAutoFit/>
          </a:bodyPr>
          <a:lstStyle/>
          <a:p>
            <a:pPr latinLnBrk="1"/>
            <a:r>
              <a:rPr lang="en-US" altLang="zh-CN" sz="1600" dirty="0">
                <a:highlight>
                  <a:srgbClr val="E1DFE2"/>
                </a:highlight>
              </a:rPr>
              <a:t>[9]</a:t>
            </a:r>
            <a:r>
              <a:rPr lang="en-US" altLang="zh-CN" sz="1600" dirty="0"/>
              <a:t> TIAN C</a:t>
            </a:r>
            <a:r>
              <a:rPr lang="zh-CN" altLang="en-US" sz="1600" dirty="0"/>
              <a:t>，</a:t>
            </a:r>
            <a:r>
              <a:rPr lang="en-US" altLang="zh-CN" sz="1600" dirty="0"/>
              <a:t>XIE Y</a:t>
            </a:r>
            <a:r>
              <a:rPr lang="zh-CN" altLang="en-US" sz="1600" dirty="0"/>
              <a:t>，</a:t>
            </a:r>
            <a:r>
              <a:rPr lang="en-US" altLang="zh-CN" sz="1600" dirty="0"/>
              <a:t>LI Y</a:t>
            </a:r>
            <a:r>
              <a:rPr lang="zh-CN" altLang="en-US" sz="1600" dirty="0"/>
              <a:t>，</a:t>
            </a:r>
            <a:r>
              <a:rPr lang="en-US" altLang="zh-CN" sz="1600" dirty="0"/>
              <a:t>et al. Learning to Denoise Unreliable Interactions for Graph Collaborative Filtering </a:t>
            </a:r>
            <a:r>
              <a:rPr lang="zh-CN" altLang="en-US" sz="1600" dirty="0"/>
              <a:t>［</a:t>
            </a:r>
            <a:r>
              <a:rPr lang="en-US" altLang="zh-CN" sz="1600" dirty="0"/>
              <a:t>C/OL</a:t>
            </a:r>
            <a:r>
              <a:rPr lang="zh-CN" altLang="en-US" sz="1600" dirty="0"/>
              <a:t>］ </a:t>
            </a:r>
            <a:r>
              <a:rPr lang="en-US" altLang="zh-CN" sz="1600" dirty="0"/>
              <a:t>// SIGIR ’22 </a:t>
            </a:r>
            <a:r>
              <a:rPr lang="zh-CN" altLang="en-US" sz="1600" dirty="0"/>
              <a:t>：</a:t>
            </a:r>
            <a:r>
              <a:rPr lang="en-US" altLang="zh-CN" sz="1600" dirty="0"/>
              <a:t>Proceedings of the 45th International ACM SIGIR Conference on Research and Development in Information Retrieval</a:t>
            </a:r>
            <a:r>
              <a:rPr lang="zh-CN" altLang="en-US" sz="1600" dirty="0"/>
              <a:t>，</a:t>
            </a:r>
            <a:r>
              <a:rPr lang="en-US" altLang="zh-CN" sz="1600" dirty="0"/>
              <a:t>New </a:t>
            </a:r>
          </a:p>
          <a:p>
            <a:pPr latinLnBrk="1"/>
            <a:r>
              <a:rPr lang="en-US" altLang="zh-CN" sz="1600" dirty="0"/>
              <a:t>York, NY, USA</a:t>
            </a:r>
            <a:r>
              <a:rPr lang="zh-CN" altLang="en-US" sz="1600" dirty="0"/>
              <a:t>：</a:t>
            </a:r>
            <a:r>
              <a:rPr lang="en-US" altLang="zh-CN" sz="1600" dirty="0"/>
              <a:t>Association for Computing Machinery</a:t>
            </a:r>
            <a:r>
              <a:rPr lang="zh-CN" altLang="en-US" sz="1600" dirty="0"/>
              <a:t>，</a:t>
            </a:r>
            <a:r>
              <a:rPr lang="en-US" altLang="zh-CN" sz="1600" dirty="0"/>
              <a:t>2022 </a:t>
            </a:r>
            <a:r>
              <a:rPr lang="zh-CN" altLang="en-US" sz="1600" dirty="0"/>
              <a:t>：</a:t>
            </a:r>
            <a:r>
              <a:rPr lang="en-US" altLang="zh-CN" sz="1600" dirty="0"/>
              <a:t>122–132. https://doi.org/10.1145/3477495.3531889.</a:t>
            </a:r>
          </a:p>
          <a:p>
            <a:pPr latinLnBrk="1"/>
            <a:r>
              <a:rPr lang="en-US" altLang="zh-CN" sz="1600" dirty="0">
                <a:highlight>
                  <a:srgbClr val="E1DFE2"/>
                </a:highlight>
              </a:rPr>
              <a:t>[10]</a:t>
            </a:r>
            <a:r>
              <a:rPr lang="en-US" altLang="zh-CN" sz="1600" dirty="0"/>
              <a:t> YANG L</a:t>
            </a:r>
            <a:r>
              <a:rPr lang="zh-CN" altLang="en-US" sz="1600" dirty="0"/>
              <a:t>，</a:t>
            </a:r>
            <a:r>
              <a:rPr lang="en-US" altLang="zh-CN" sz="1600" dirty="0"/>
              <a:t>WANG S</a:t>
            </a:r>
            <a:r>
              <a:rPr lang="zh-CN" altLang="en-US" sz="1600" dirty="0"/>
              <a:t>，</a:t>
            </a:r>
            <a:r>
              <a:rPr lang="en-US" altLang="zh-CN" sz="1600" dirty="0"/>
              <a:t>TAO Y</a:t>
            </a:r>
            <a:r>
              <a:rPr lang="zh-CN" altLang="en-US" sz="1600" dirty="0"/>
              <a:t>，</a:t>
            </a:r>
            <a:r>
              <a:rPr lang="en-US" altLang="zh-CN" sz="1600" dirty="0"/>
              <a:t>et al. </a:t>
            </a:r>
            <a:r>
              <a:rPr lang="en-US" altLang="zh-CN" sz="1600" dirty="0" err="1"/>
              <a:t>DGRec</a:t>
            </a:r>
            <a:r>
              <a:rPr lang="en-US" altLang="zh-CN" sz="1600" dirty="0"/>
              <a:t>: Graph Neural Network for Recommendation with Diversified Embedding </a:t>
            </a:r>
          </a:p>
          <a:p>
            <a:pPr latinLnBrk="1"/>
            <a:r>
              <a:rPr lang="en-US" altLang="zh-CN" sz="1600" dirty="0"/>
              <a:t>Generation </a:t>
            </a:r>
            <a:r>
              <a:rPr lang="zh-CN" altLang="en-US" sz="1600" dirty="0"/>
              <a:t>［</a:t>
            </a:r>
            <a:r>
              <a:rPr lang="en-US" altLang="zh-CN" sz="1600" dirty="0"/>
              <a:t>C/OL</a:t>
            </a:r>
            <a:r>
              <a:rPr lang="zh-CN" altLang="en-US" sz="1600" dirty="0"/>
              <a:t>］ </a:t>
            </a:r>
            <a:r>
              <a:rPr lang="en-US" altLang="zh-CN" sz="1600" dirty="0"/>
              <a:t>// WSDM ’23 </a:t>
            </a:r>
            <a:r>
              <a:rPr lang="zh-CN" altLang="en-US" sz="1600" dirty="0"/>
              <a:t>：</a:t>
            </a:r>
            <a:r>
              <a:rPr lang="en-US" altLang="zh-CN" sz="1600" dirty="0"/>
              <a:t>Proceedings of the Sixteenth ACM International Conference on Web Search and Data Mining</a:t>
            </a:r>
            <a:r>
              <a:rPr lang="zh-CN" altLang="en-US" sz="1600" dirty="0"/>
              <a:t>，</a:t>
            </a:r>
            <a:r>
              <a:rPr lang="en-US" altLang="zh-CN" sz="1600" dirty="0"/>
              <a:t>New York, NY, USA</a:t>
            </a:r>
            <a:r>
              <a:rPr lang="zh-CN" altLang="en-US" sz="1600" dirty="0"/>
              <a:t>：</a:t>
            </a:r>
            <a:r>
              <a:rPr lang="en-US" altLang="zh-CN" sz="1600" dirty="0"/>
              <a:t>Association for Computing Machinery</a:t>
            </a:r>
            <a:r>
              <a:rPr lang="zh-CN" altLang="en-US" sz="1600" dirty="0"/>
              <a:t>，</a:t>
            </a:r>
            <a:r>
              <a:rPr lang="en-US" altLang="zh-CN" sz="1600" dirty="0"/>
              <a:t>2023 </a:t>
            </a:r>
            <a:r>
              <a:rPr lang="zh-CN" altLang="en-US" sz="1600" dirty="0"/>
              <a:t>：</a:t>
            </a:r>
            <a:r>
              <a:rPr lang="en-US" altLang="zh-CN" sz="1600" dirty="0"/>
              <a:t>661–669. https://doi.org/10.1145/3539597.3570472.</a:t>
            </a:r>
          </a:p>
          <a:p>
            <a:pPr latinLnBrk="1"/>
            <a:r>
              <a:rPr lang="en-US" altLang="zh-CN" sz="1600" dirty="0">
                <a:highlight>
                  <a:srgbClr val="E1DFE2"/>
                </a:highlight>
              </a:rPr>
              <a:t>[11]</a:t>
            </a:r>
            <a:r>
              <a:rPr lang="en-US" altLang="zh-CN" sz="1600" dirty="0"/>
              <a:t> </a:t>
            </a:r>
            <a:r>
              <a:rPr lang="en-US" altLang="zh-CN" sz="1600" dirty="0" err="1"/>
              <a:t>VELIčKOVIć</a:t>
            </a:r>
            <a:r>
              <a:rPr lang="en-US" altLang="zh-CN" sz="1600" dirty="0"/>
              <a:t> P</a:t>
            </a:r>
            <a:r>
              <a:rPr lang="zh-CN" altLang="en-US" sz="1600" dirty="0"/>
              <a:t>，</a:t>
            </a:r>
            <a:r>
              <a:rPr lang="en-US" altLang="zh-CN" sz="1600" dirty="0"/>
              <a:t>FEDUS W</a:t>
            </a:r>
            <a:r>
              <a:rPr lang="zh-CN" altLang="en-US" sz="1600" dirty="0"/>
              <a:t>，</a:t>
            </a:r>
            <a:r>
              <a:rPr lang="en-US" altLang="zh-CN" sz="1600" dirty="0"/>
              <a:t>HAMILTON W L</a:t>
            </a:r>
            <a:r>
              <a:rPr lang="zh-CN" altLang="en-US" sz="1600" dirty="0"/>
              <a:t>，</a:t>
            </a:r>
            <a:r>
              <a:rPr lang="en-US" altLang="zh-CN" sz="1600" dirty="0"/>
              <a:t>et al. Deep Graph Infomax </a:t>
            </a:r>
            <a:r>
              <a:rPr lang="zh-CN" altLang="en-US" sz="1600" dirty="0"/>
              <a:t>［</a:t>
            </a:r>
            <a:r>
              <a:rPr lang="en-US" altLang="zh-CN" sz="1600" dirty="0"/>
              <a:t>C/OL</a:t>
            </a:r>
            <a:r>
              <a:rPr lang="zh-CN" altLang="en-US" sz="1600" dirty="0"/>
              <a:t>］ </a:t>
            </a:r>
            <a:r>
              <a:rPr lang="en-US" altLang="zh-CN" sz="1600" dirty="0"/>
              <a:t>// International Conference on </a:t>
            </a:r>
          </a:p>
          <a:p>
            <a:pPr latinLnBrk="1"/>
            <a:r>
              <a:rPr lang="en-US" altLang="zh-CN" sz="1600" dirty="0"/>
              <a:t>Learning Representations</a:t>
            </a:r>
            <a:r>
              <a:rPr lang="zh-CN" altLang="en-US" sz="1600" dirty="0"/>
              <a:t>，［</a:t>
            </a:r>
            <a:r>
              <a:rPr lang="en-US" altLang="zh-CN" sz="1600" dirty="0" err="1"/>
              <a:t>S.l.</a:t>
            </a:r>
            <a:r>
              <a:rPr lang="zh-CN" altLang="en-US" sz="1600" dirty="0"/>
              <a:t>］，</a:t>
            </a:r>
            <a:r>
              <a:rPr lang="en-US" altLang="zh-CN" sz="1600" dirty="0"/>
              <a:t>2019. https://openreview.net/forum?id=rklz9iAcKQ.</a:t>
            </a:r>
          </a:p>
          <a:p>
            <a:pPr latinLnBrk="1"/>
            <a:r>
              <a:rPr lang="en-US" altLang="zh-CN" sz="1600" dirty="0">
                <a:highlight>
                  <a:srgbClr val="E1DFE2"/>
                </a:highlight>
              </a:rPr>
              <a:t>[12]</a:t>
            </a:r>
            <a:r>
              <a:rPr lang="en-US" altLang="zh-CN" sz="1600" dirty="0"/>
              <a:t> HE X</a:t>
            </a:r>
            <a:r>
              <a:rPr lang="zh-CN" altLang="en-US" sz="1600" dirty="0"/>
              <a:t>，</a:t>
            </a:r>
            <a:r>
              <a:rPr lang="en-US" altLang="zh-CN" sz="1600" dirty="0"/>
              <a:t>DENG K</a:t>
            </a:r>
            <a:r>
              <a:rPr lang="zh-CN" altLang="en-US" sz="1600" dirty="0"/>
              <a:t>，</a:t>
            </a:r>
            <a:r>
              <a:rPr lang="en-US" altLang="zh-CN" sz="1600" dirty="0"/>
              <a:t>WANG X</a:t>
            </a:r>
            <a:r>
              <a:rPr lang="zh-CN" altLang="en-US" sz="1600" dirty="0"/>
              <a:t>，</a:t>
            </a:r>
            <a:r>
              <a:rPr lang="en-US" altLang="zh-CN" sz="1600" dirty="0"/>
              <a:t>et al. </a:t>
            </a:r>
            <a:r>
              <a:rPr lang="en-US" altLang="zh-CN" sz="1600" dirty="0" err="1"/>
              <a:t>LightGCN</a:t>
            </a:r>
            <a:r>
              <a:rPr lang="en-US" altLang="zh-CN" sz="1600" dirty="0"/>
              <a:t>: Simplifying and Powering Graph Convolution Network for Recommendation</a:t>
            </a:r>
            <a:r>
              <a:rPr lang="zh-CN" altLang="en-US" sz="1600" dirty="0"/>
              <a:t>［</a:t>
            </a:r>
            <a:r>
              <a:rPr lang="en-US" altLang="zh-CN" sz="1600" dirty="0"/>
              <a:t>C/OL</a:t>
            </a:r>
            <a:r>
              <a:rPr lang="zh-CN" altLang="en-US" sz="1600" dirty="0"/>
              <a:t>］ </a:t>
            </a:r>
            <a:r>
              <a:rPr lang="en-US" altLang="zh-CN" sz="1600" dirty="0"/>
              <a:t>// SIGIR ’20 </a:t>
            </a:r>
            <a:r>
              <a:rPr lang="zh-CN" altLang="en-US" sz="1600" dirty="0"/>
              <a:t>：</a:t>
            </a:r>
            <a:r>
              <a:rPr lang="en-US" altLang="zh-CN" sz="1600" dirty="0"/>
              <a:t>Proceedings of the 43rd International ACM SIGIR Conference on Research and Development in Information Retrieval</a:t>
            </a:r>
            <a:r>
              <a:rPr lang="zh-CN" altLang="en-US" sz="1600" dirty="0"/>
              <a:t>，</a:t>
            </a:r>
            <a:r>
              <a:rPr lang="en-US" altLang="zh-CN" sz="1600" dirty="0"/>
              <a:t>New York, NY, USA</a:t>
            </a:r>
            <a:r>
              <a:rPr lang="zh-CN" altLang="en-US" sz="1600" dirty="0"/>
              <a:t>：</a:t>
            </a:r>
            <a:r>
              <a:rPr lang="en-US" altLang="zh-CN" sz="1600" dirty="0"/>
              <a:t>Association for Computing Machinery</a:t>
            </a:r>
            <a:r>
              <a:rPr lang="zh-CN" altLang="en-US" sz="1600" dirty="0"/>
              <a:t>，</a:t>
            </a:r>
            <a:r>
              <a:rPr lang="en-US" altLang="zh-CN" sz="1600" dirty="0"/>
              <a:t>2020 </a:t>
            </a:r>
            <a:r>
              <a:rPr lang="zh-CN" altLang="en-US" sz="1600" dirty="0"/>
              <a:t>：</a:t>
            </a:r>
            <a:r>
              <a:rPr lang="en-US" altLang="zh-CN" sz="1600" dirty="0"/>
              <a:t>639–648. https://doi.org/10.1145/3397271.3401063.</a:t>
            </a:r>
          </a:p>
          <a:p>
            <a:pPr latinLnBrk="1"/>
            <a:r>
              <a:rPr lang="en-US" altLang="zh-CN" sz="1600" dirty="0">
                <a:highlight>
                  <a:srgbClr val="E1DFE2"/>
                </a:highlight>
              </a:rPr>
              <a:t>[13]</a:t>
            </a:r>
            <a:r>
              <a:rPr lang="en-US" altLang="zh-CN" sz="1600" dirty="0"/>
              <a:t> RENDLE S</a:t>
            </a:r>
            <a:r>
              <a:rPr lang="zh-CN" altLang="en-US" sz="1600" dirty="0"/>
              <a:t>，</a:t>
            </a:r>
            <a:r>
              <a:rPr lang="en-US" altLang="zh-CN" sz="1600" dirty="0"/>
              <a:t>FREUDENTHALER C</a:t>
            </a:r>
            <a:r>
              <a:rPr lang="zh-CN" altLang="en-US" sz="1600" dirty="0"/>
              <a:t>，</a:t>
            </a:r>
            <a:r>
              <a:rPr lang="en-US" altLang="zh-CN" sz="1600" dirty="0"/>
              <a:t>GANTNER Z</a:t>
            </a:r>
            <a:r>
              <a:rPr lang="zh-CN" altLang="en-US" sz="1600" dirty="0"/>
              <a:t>，</a:t>
            </a:r>
            <a:r>
              <a:rPr lang="en-US" altLang="zh-CN" sz="1600" dirty="0"/>
              <a:t>et al. BPR: Bayesian Personalized Ranking from Implicit Feedback</a:t>
            </a:r>
            <a:r>
              <a:rPr lang="zh-CN" altLang="en-US" sz="1600" dirty="0"/>
              <a:t>［</a:t>
            </a:r>
            <a:r>
              <a:rPr lang="en-US" altLang="zh-CN" sz="1600" dirty="0"/>
              <a:t>C</a:t>
            </a:r>
            <a:r>
              <a:rPr lang="zh-CN" altLang="en-US" sz="1600" dirty="0"/>
              <a:t>］ </a:t>
            </a:r>
            <a:r>
              <a:rPr lang="en-US" altLang="zh-CN" sz="1600" dirty="0"/>
              <a:t>// UAI ’09 </a:t>
            </a:r>
            <a:r>
              <a:rPr lang="zh-CN" altLang="en-US" sz="1600" dirty="0"/>
              <a:t>：</a:t>
            </a:r>
            <a:r>
              <a:rPr lang="en-US" altLang="zh-CN" sz="1600" dirty="0"/>
              <a:t>Proceedings of the Twenty-Fifth Conference on Uncertainty in Artificial Intelligence</a:t>
            </a:r>
            <a:r>
              <a:rPr lang="zh-CN" altLang="en-US" sz="1600" dirty="0"/>
              <a:t>，</a:t>
            </a:r>
            <a:r>
              <a:rPr lang="en-US" altLang="zh-CN" sz="1600" dirty="0"/>
              <a:t>Arlington, Virginia, USA</a:t>
            </a:r>
            <a:r>
              <a:rPr lang="zh-CN" altLang="en-US" sz="1600" dirty="0"/>
              <a:t>：</a:t>
            </a:r>
            <a:r>
              <a:rPr lang="en-US" altLang="zh-CN" sz="1600" dirty="0"/>
              <a:t>AUAI Press</a:t>
            </a:r>
            <a:r>
              <a:rPr lang="zh-CN" altLang="en-US" sz="1600" dirty="0"/>
              <a:t>，</a:t>
            </a:r>
            <a:r>
              <a:rPr lang="en-US" altLang="zh-CN" sz="1600" dirty="0"/>
              <a:t>2009</a:t>
            </a:r>
            <a:r>
              <a:rPr lang="zh-CN" altLang="en-US" sz="1600" dirty="0"/>
              <a:t>：</a:t>
            </a:r>
            <a:r>
              <a:rPr lang="en-US" altLang="zh-CN" sz="1600" dirty="0"/>
              <a:t>452–461.</a:t>
            </a:r>
          </a:p>
          <a:p>
            <a:pPr latinLnBrk="1"/>
            <a:r>
              <a:rPr lang="en-US" altLang="zh-CN" sz="1600" dirty="0"/>
              <a:t>[14] ZHANG J</a:t>
            </a:r>
            <a:r>
              <a:rPr lang="zh-CN" altLang="en-US" sz="1600" dirty="0"/>
              <a:t>，</a:t>
            </a:r>
            <a:r>
              <a:rPr lang="en-US" altLang="zh-CN" sz="1600" dirty="0"/>
              <a:t>ZHU Y</a:t>
            </a:r>
            <a:r>
              <a:rPr lang="zh-CN" altLang="en-US" sz="1600" dirty="0"/>
              <a:t>，</a:t>
            </a:r>
            <a:r>
              <a:rPr lang="en-US" altLang="zh-CN" sz="1600" dirty="0"/>
              <a:t>LIU Q</a:t>
            </a:r>
            <a:r>
              <a:rPr lang="zh-CN" altLang="en-US" sz="1600" dirty="0"/>
              <a:t>，</a:t>
            </a:r>
            <a:r>
              <a:rPr lang="en-US" altLang="zh-CN" sz="1600" dirty="0"/>
              <a:t>et al. Mining Latent Structures for Multimedia Recommendation </a:t>
            </a:r>
            <a:r>
              <a:rPr lang="zh-CN" altLang="en-US" sz="1600" dirty="0"/>
              <a:t>［</a:t>
            </a:r>
            <a:r>
              <a:rPr lang="en-US" altLang="zh-CN" sz="1600" dirty="0"/>
              <a:t>C/OL</a:t>
            </a:r>
            <a:r>
              <a:rPr lang="zh-CN" altLang="en-US" sz="1600" dirty="0"/>
              <a:t>］ </a:t>
            </a:r>
            <a:r>
              <a:rPr lang="en-US" altLang="zh-CN" sz="1600" dirty="0"/>
              <a:t>// MM ’21 </a:t>
            </a:r>
            <a:r>
              <a:rPr lang="zh-CN" altLang="en-US" sz="1600" dirty="0"/>
              <a:t>：</a:t>
            </a:r>
            <a:r>
              <a:rPr lang="en-US" altLang="zh-CN" sz="1600" dirty="0"/>
              <a:t>Proceedings of the 29th ACM International Conference on Multimedia</a:t>
            </a:r>
            <a:r>
              <a:rPr lang="zh-CN" altLang="en-US" sz="1600" dirty="0"/>
              <a:t>，</a:t>
            </a:r>
            <a:r>
              <a:rPr lang="en-US" altLang="zh-CN" sz="1600" dirty="0"/>
              <a:t>New York, NY, USA</a:t>
            </a:r>
            <a:r>
              <a:rPr lang="zh-CN" altLang="en-US" sz="1600" dirty="0"/>
              <a:t>：</a:t>
            </a:r>
            <a:r>
              <a:rPr lang="en-US" altLang="zh-CN" sz="1600" dirty="0"/>
              <a:t>Association for Computing Machinery</a:t>
            </a:r>
            <a:r>
              <a:rPr lang="zh-CN" altLang="en-US" sz="1600" dirty="0"/>
              <a:t>，</a:t>
            </a:r>
            <a:r>
              <a:rPr lang="en-US" altLang="zh-CN" sz="1600" dirty="0"/>
              <a:t>2021 </a:t>
            </a:r>
            <a:r>
              <a:rPr lang="zh-CN" altLang="en-US" sz="1600" dirty="0"/>
              <a:t>：</a:t>
            </a:r>
            <a:r>
              <a:rPr lang="en-US" altLang="zh-CN" sz="1600" dirty="0"/>
              <a:t>3872–3880. https://doi.org/10.1145/3474085.3475259.</a:t>
            </a:r>
          </a:p>
          <a:p>
            <a:pPr latinLnBrk="1"/>
            <a:r>
              <a:rPr lang="en-US" altLang="zh-CN" sz="1600" dirty="0"/>
              <a:t>[15] WANG Q</a:t>
            </a:r>
            <a:r>
              <a:rPr lang="zh-CN" altLang="en-US" sz="1600" dirty="0"/>
              <a:t>，</a:t>
            </a:r>
            <a:r>
              <a:rPr lang="en-US" altLang="zh-CN" sz="1600" dirty="0"/>
              <a:t>WEI Y</a:t>
            </a:r>
            <a:r>
              <a:rPr lang="zh-CN" altLang="en-US" sz="1600" dirty="0"/>
              <a:t>，</a:t>
            </a:r>
            <a:r>
              <a:rPr lang="en-US" altLang="zh-CN" sz="1600" dirty="0"/>
              <a:t>YIN J</a:t>
            </a:r>
            <a:r>
              <a:rPr lang="zh-CN" altLang="en-US" sz="1600" dirty="0"/>
              <a:t>，</a:t>
            </a:r>
            <a:r>
              <a:rPr lang="en-US" altLang="zh-CN" sz="1600" dirty="0"/>
              <a:t>et al. </a:t>
            </a:r>
            <a:r>
              <a:rPr lang="en-US" altLang="zh-CN" sz="1600" dirty="0" err="1"/>
              <a:t>DualGNN</a:t>
            </a:r>
            <a:r>
              <a:rPr lang="en-US" altLang="zh-CN" sz="1600" dirty="0"/>
              <a:t>: Dual Graph Neural Network for Multimedia Recommendation</a:t>
            </a:r>
            <a:r>
              <a:rPr lang="zh-CN" altLang="en-US" sz="1600" dirty="0"/>
              <a:t>［</a:t>
            </a:r>
            <a:r>
              <a:rPr lang="en-US" altLang="zh-CN" sz="1600" dirty="0"/>
              <a:t>J/OL</a:t>
            </a:r>
            <a:r>
              <a:rPr lang="zh-CN" altLang="en-US" sz="1600" dirty="0"/>
              <a:t>］</a:t>
            </a:r>
            <a:r>
              <a:rPr lang="en-US" altLang="zh-CN" sz="1600" dirty="0"/>
              <a:t>. IEEE Transactions on Multimedia</a:t>
            </a:r>
            <a:r>
              <a:rPr lang="zh-CN" altLang="en-US" sz="1600" dirty="0"/>
              <a:t>，</a:t>
            </a:r>
            <a:r>
              <a:rPr lang="en-US" altLang="zh-CN" sz="1600" dirty="0"/>
              <a:t>2023</a:t>
            </a:r>
            <a:r>
              <a:rPr lang="zh-CN" altLang="en-US" sz="1600" dirty="0"/>
              <a:t>，</a:t>
            </a:r>
            <a:r>
              <a:rPr lang="en-US" altLang="zh-CN" sz="1600" dirty="0"/>
              <a:t>25</a:t>
            </a:r>
            <a:r>
              <a:rPr lang="zh-CN" altLang="en-US" sz="1600" dirty="0"/>
              <a:t>：</a:t>
            </a:r>
            <a:r>
              <a:rPr lang="en-US" altLang="zh-CN" sz="1600" dirty="0"/>
              <a:t>1074-1084. http://dx.doi.org/10.1109/TMM.2021.3138298.</a:t>
            </a:r>
          </a:p>
          <a:p>
            <a:pPr latinLnBrk="1"/>
            <a:r>
              <a:rPr lang="en-US" altLang="zh-CN" sz="1600" dirty="0"/>
              <a:t>[16] ZHOU H</a:t>
            </a:r>
            <a:r>
              <a:rPr lang="zh-CN" altLang="en-US" sz="1600" dirty="0"/>
              <a:t>，</a:t>
            </a:r>
            <a:r>
              <a:rPr lang="en-US" altLang="zh-CN" sz="1600" dirty="0"/>
              <a:t>ZHOU X</a:t>
            </a:r>
            <a:r>
              <a:rPr lang="zh-CN" altLang="en-US" sz="1600" dirty="0"/>
              <a:t>，</a:t>
            </a:r>
            <a:r>
              <a:rPr lang="en-US" altLang="zh-CN" sz="1600" dirty="0"/>
              <a:t>ZHANG L</a:t>
            </a:r>
            <a:r>
              <a:rPr lang="zh-CN" altLang="en-US" sz="1600" dirty="0"/>
              <a:t>，</a:t>
            </a:r>
            <a:r>
              <a:rPr lang="en-US" altLang="zh-CN" sz="1600" dirty="0"/>
              <a:t>et al. Enhancing Dyadic Relations with Homogeneous Graphs for Multimodal Recommendation</a:t>
            </a:r>
            <a:r>
              <a:rPr lang="zh-CN" altLang="en-US" sz="1600" dirty="0"/>
              <a:t>［</a:t>
            </a:r>
            <a:r>
              <a:rPr lang="en-US" altLang="zh-CN" sz="1600" dirty="0"/>
              <a:t>J/OL</a:t>
            </a:r>
            <a:r>
              <a:rPr lang="zh-CN" altLang="en-US" sz="1600" dirty="0"/>
              <a:t>］，</a:t>
            </a:r>
            <a:r>
              <a:rPr lang="en-US" altLang="zh-CN" sz="1600" dirty="0"/>
              <a:t>2023. http://dx.doi.org/10.3233/FAIA230631.</a:t>
            </a:r>
          </a:p>
          <a:p>
            <a:r>
              <a:rPr lang="en-US" altLang="zh-CN" sz="1400" dirty="0">
                <a:latin typeface="+mj-lt"/>
              </a:rPr>
              <a:t>[17] </a:t>
            </a:r>
            <a:r>
              <a:rPr lang="en-US" altLang="zh-CN" sz="1600" dirty="0">
                <a:solidFill>
                  <a:srgbClr val="000000"/>
                </a:solidFill>
                <a:effectLst/>
                <a:latin typeface="+mj-lt"/>
              </a:rPr>
              <a:t>ZHOU X</a:t>
            </a:r>
            <a:r>
              <a:rPr lang="zh-CN" altLang="en-US" sz="1600" dirty="0">
                <a:solidFill>
                  <a:srgbClr val="000000"/>
                </a:solidFill>
                <a:effectLst/>
                <a:latin typeface="+mj-lt"/>
              </a:rPr>
              <a:t>，</a:t>
            </a:r>
            <a:r>
              <a:rPr lang="en-US" altLang="zh-CN" sz="1600" dirty="0">
                <a:solidFill>
                  <a:srgbClr val="000000"/>
                </a:solidFill>
                <a:effectLst/>
                <a:latin typeface="+mj-lt"/>
              </a:rPr>
              <a:t>SHEN Z. A Tale of Two Graphs: Freezing and Denoising Graph Structures for Multimodal Recommendation</a:t>
            </a:r>
            <a:r>
              <a:rPr lang="zh-CN" altLang="en-US" sz="1600" dirty="0">
                <a:solidFill>
                  <a:srgbClr val="000000"/>
                </a:solidFill>
                <a:effectLst/>
                <a:latin typeface="+mj-lt"/>
              </a:rPr>
              <a:t>［</a:t>
            </a:r>
            <a:r>
              <a:rPr lang="en-US" altLang="zh-CN" sz="1600" dirty="0">
                <a:solidFill>
                  <a:srgbClr val="000000"/>
                </a:solidFill>
                <a:effectLst/>
                <a:latin typeface="+mj-lt"/>
              </a:rPr>
              <a:t>C/OL</a:t>
            </a:r>
            <a:r>
              <a:rPr lang="zh-CN" altLang="en-US" sz="1600" dirty="0">
                <a:solidFill>
                  <a:srgbClr val="000000"/>
                </a:solidFill>
                <a:effectLst/>
                <a:latin typeface="+mj-lt"/>
              </a:rPr>
              <a:t>］ </a:t>
            </a:r>
            <a:r>
              <a:rPr lang="en-US" altLang="zh-CN" sz="1600" dirty="0">
                <a:solidFill>
                  <a:srgbClr val="000000"/>
                </a:solidFill>
                <a:effectLst/>
                <a:latin typeface="+mj-lt"/>
              </a:rPr>
              <a:t>// MM ’23 </a:t>
            </a:r>
            <a:r>
              <a:rPr lang="zh-CN" altLang="en-US" sz="1600" dirty="0">
                <a:solidFill>
                  <a:srgbClr val="000000"/>
                </a:solidFill>
                <a:effectLst/>
                <a:latin typeface="+mj-lt"/>
              </a:rPr>
              <a:t>：</a:t>
            </a:r>
            <a:r>
              <a:rPr lang="en-US" altLang="zh-CN" sz="1600" dirty="0">
                <a:solidFill>
                  <a:srgbClr val="000000"/>
                </a:solidFill>
                <a:effectLst/>
                <a:latin typeface="+mj-lt"/>
              </a:rPr>
              <a:t>Proceedings of the 31st ACM International Conference on Multimedia</a:t>
            </a:r>
            <a:r>
              <a:rPr lang="zh-CN" altLang="en-US" sz="1600" dirty="0">
                <a:solidFill>
                  <a:srgbClr val="000000"/>
                </a:solidFill>
                <a:effectLst/>
                <a:latin typeface="+mj-lt"/>
              </a:rPr>
              <a:t>，</a:t>
            </a:r>
            <a:r>
              <a:rPr lang="en-US" altLang="zh-CN" sz="1600" dirty="0">
                <a:solidFill>
                  <a:srgbClr val="000000"/>
                </a:solidFill>
                <a:effectLst/>
                <a:latin typeface="+mj-lt"/>
              </a:rPr>
              <a:t>New York, NY, USA</a:t>
            </a:r>
            <a:r>
              <a:rPr lang="zh-CN" altLang="en-US" sz="1600" dirty="0">
                <a:solidFill>
                  <a:srgbClr val="000000"/>
                </a:solidFill>
                <a:effectLst/>
                <a:latin typeface="+mj-lt"/>
              </a:rPr>
              <a:t>：</a:t>
            </a:r>
            <a:r>
              <a:rPr lang="en-US" altLang="zh-CN" sz="1600" dirty="0">
                <a:solidFill>
                  <a:srgbClr val="000000"/>
                </a:solidFill>
                <a:effectLst/>
                <a:latin typeface="+mj-lt"/>
              </a:rPr>
              <a:t>Association for Computing Machinery</a:t>
            </a:r>
            <a:r>
              <a:rPr lang="zh-CN" altLang="en-US" sz="1600" dirty="0">
                <a:solidFill>
                  <a:srgbClr val="000000"/>
                </a:solidFill>
                <a:effectLst/>
                <a:latin typeface="+mj-lt"/>
              </a:rPr>
              <a:t>，</a:t>
            </a:r>
            <a:r>
              <a:rPr lang="en-US" altLang="zh-CN" sz="1600" dirty="0">
                <a:solidFill>
                  <a:srgbClr val="000000"/>
                </a:solidFill>
                <a:effectLst/>
                <a:latin typeface="+mj-lt"/>
              </a:rPr>
              <a:t>2023</a:t>
            </a:r>
            <a:r>
              <a:rPr lang="zh-CN" altLang="en-US" sz="1600" dirty="0">
                <a:solidFill>
                  <a:srgbClr val="000000"/>
                </a:solidFill>
                <a:effectLst/>
                <a:latin typeface="+mj-lt"/>
              </a:rPr>
              <a:t>：</a:t>
            </a:r>
            <a:r>
              <a:rPr lang="en-US" altLang="zh-CN" sz="1600" dirty="0">
                <a:solidFill>
                  <a:srgbClr val="000000"/>
                </a:solidFill>
                <a:effectLst/>
                <a:latin typeface="+mj-lt"/>
              </a:rPr>
              <a:t>935–943. https://doi.org/10.1145/ 3581783.3611943.</a:t>
            </a:r>
            <a:endParaRPr lang="en-US" altLang="zh-CN" sz="1400" dirty="0">
              <a:latin typeface="+mj-lt"/>
            </a:endParaRPr>
          </a:p>
        </p:txBody>
      </p:sp>
    </p:spTree>
    <p:extLst>
      <p:ext uri="{BB962C8B-B14F-4D97-AF65-F5344CB8AC3E}">
        <p14:creationId xmlns:p14="http://schemas.microsoft.com/office/powerpoint/2010/main" val="42313970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8A6FF1-38C6-BF40-AA54-FC2C1268CA34}"/>
              </a:ext>
            </a:extLst>
          </p:cNvPr>
          <p:cNvSpPr>
            <a:spLocks noGrp="1"/>
          </p:cNvSpPr>
          <p:nvPr>
            <p:ph type="ctrTitle"/>
          </p:nvPr>
        </p:nvSpPr>
        <p:spPr/>
        <p:txBody>
          <a:bodyPr/>
          <a:lstStyle/>
          <a:p>
            <a:r>
              <a:rPr kumimoji="1" lang="zh-CN" altLang="en-US" sz="4400" b="1" dirty="0"/>
              <a:t>感谢</a:t>
            </a:r>
            <a:endParaRPr kumimoji="1" lang="zh-CN" altLang="en-US" b="1" dirty="0"/>
          </a:p>
        </p:txBody>
      </p:sp>
      <p:sp>
        <p:nvSpPr>
          <p:cNvPr id="3" name="副标题 2">
            <a:extLst>
              <a:ext uri="{FF2B5EF4-FFF2-40B4-BE49-F238E27FC236}">
                <a16:creationId xmlns:a16="http://schemas.microsoft.com/office/drawing/2014/main" id="{0486DF19-DC1B-514A-8C02-64E0ECCD2C31}"/>
              </a:ext>
            </a:extLst>
          </p:cNvPr>
          <p:cNvSpPr>
            <a:spLocks noGrp="1"/>
          </p:cNvSpPr>
          <p:nvPr>
            <p:ph type="subTitle" idx="1"/>
          </p:nvPr>
        </p:nvSpPr>
        <p:spPr>
          <a:xfrm>
            <a:off x="599228" y="5734050"/>
            <a:ext cx="10993547" cy="906111"/>
          </a:xfrm>
        </p:spPr>
        <p:txBody>
          <a:bodyPr>
            <a:normAutofit lnSpcReduction="10000"/>
          </a:bodyPr>
          <a:lstStyle/>
          <a:p>
            <a:r>
              <a:rPr kumimoji="1" lang="zh-CN" altLang="en-US" b="1" dirty="0">
                <a:latin typeface="华文中宋" panose="02010600040101010101" pitchFamily="2" charset="-122"/>
                <a:ea typeface="华文中宋" panose="02010600040101010101" pitchFamily="2" charset="-122"/>
              </a:rPr>
              <a:t>樊红雨</a:t>
            </a:r>
            <a:endParaRPr kumimoji="1" lang="en-US" altLang="zh-CN" b="1" dirty="0">
              <a:latin typeface="华文中宋" panose="02010600040101010101" pitchFamily="2" charset="-122"/>
              <a:ea typeface="华文中宋" panose="02010600040101010101" pitchFamily="2" charset="-122"/>
            </a:endParaRPr>
          </a:p>
          <a:p>
            <a:r>
              <a:rPr kumimoji="1" lang="en-US" altLang="zh-CN" b="1" dirty="0">
                <a:latin typeface="华文中宋" panose="02010600040101010101" pitchFamily="2" charset="-122"/>
                <a:ea typeface="华文中宋" panose="02010600040101010101" pitchFamily="2" charset="-122"/>
              </a:rPr>
              <a:t>2026</a:t>
            </a:r>
            <a:r>
              <a:rPr kumimoji="1" lang="zh-CN" altLang="en-US" b="1" dirty="0">
                <a:latin typeface="华文中宋" panose="02010600040101010101" pitchFamily="2" charset="-122"/>
                <a:ea typeface="华文中宋" panose="02010600040101010101" pitchFamily="2" charset="-122"/>
              </a:rPr>
              <a:t>年</a:t>
            </a:r>
            <a:r>
              <a:rPr kumimoji="1" lang="en-US" altLang="zh-CN" b="1" dirty="0">
                <a:latin typeface="华文中宋" panose="02010600040101010101" pitchFamily="2" charset="-122"/>
                <a:ea typeface="华文中宋" panose="02010600040101010101" pitchFamily="2" charset="-122"/>
              </a:rPr>
              <a:t>1</a:t>
            </a:r>
            <a:r>
              <a:rPr kumimoji="1" lang="zh-CN" altLang="en-US" b="1" dirty="0">
                <a:latin typeface="华文中宋" panose="02010600040101010101" pitchFamily="2" charset="-122"/>
                <a:ea typeface="华文中宋" panose="02010600040101010101" pitchFamily="2" charset="-122"/>
              </a:rPr>
              <a:t>月</a:t>
            </a:r>
            <a:r>
              <a:rPr kumimoji="1" lang="en-US" altLang="zh-CN" b="1" dirty="0">
                <a:latin typeface="华文中宋" panose="02010600040101010101" pitchFamily="2" charset="-122"/>
                <a:ea typeface="华文中宋" panose="02010600040101010101" pitchFamily="2" charset="-122"/>
              </a:rPr>
              <a:t>7</a:t>
            </a:r>
            <a:r>
              <a:rPr kumimoji="1" lang="zh-CN" altLang="en-US" b="1" dirty="0">
                <a:latin typeface="华文中宋" panose="02010600040101010101" pitchFamily="2" charset="-122"/>
                <a:ea typeface="华文中宋" panose="02010600040101010101" pitchFamily="2" charset="-122"/>
              </a:rPr>
              <a:t>日</a:t>
            </a:r>
          </a:p>
        </p:txBody>
      </p:sp>
    </p:spTree>
    <p:extLst>
      <p:ext uri="{BB962C8B-B14F-4D97-AF65-F5344CB8AC3E}">
        <p14:creationId xmlns:p14="http://schemas.microsoft.com/office/powerpoint/2010/main" val="387028636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哈深简约主题-顶边-16:9">
  <a:themeElements>
    <a:clrScheme name="hitsz">
      <a:dk1>
        <a:srgbClr val="000000"/>
      </a:dk1>
      <a:lt1>
        <a:srgbClr val="FFFFFF"/>
      </a:lt1>
      <a:dk2>
        <a:srgbClr val="3D3D3D"/>
      </a:dk2>
      <a:lt2>
        <a:srgbClr val="EBEBEB"/>
      </a:lt2>
      <a:accent1>
        <a:srgbClr val="215CC1"/>
      </a:accent1>
      <a:accent2>
        <a:srgbClr val="215CC1"/>
      </a:accent2>
      <a:accent3>
        <a:srgbClr val="E6C46D"/>
      </a:accent3>
      <a:accent4>
        <a:srgbClr val="969FA7"/>
      </a:accent4>
      <a:accent5>
        <a:srgbClr val="A9C37C"/>
      </a:accent5>
      <a:accent6>
        <a:srgbClr val="5A8071"/>
      </a:accent6>
      <a:hlink>
        <a:srgbClr val="5B82ED"/>
      </a:hlink>
      <a:folHlink>
        <a:srgbClr val="2052A8"/>
      </a:folHlink>
    </a:clrScheme>
    <a:fontScheme name="论文风格">
      <a:majorFont>
        <a:latin typeface="Times New Roman"/>
        <a:ea typeface="黑体"/>
        <a:cs typeface=""/>
      </a:majorFont>
      <a:minorFont>
        <a:latin typeface="Times New Roman"/>
        <a:ea typeface="宋体"/>
        <a:cs typeface=""/>
      </a:minorFont>
    </a:fontScheme>
    <a:fmtScheme name="红利">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5D8C9649-FBE1-4B5B-8258-8A170F9843AD}"/>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7332</TotalTime>
  <Words>7973</Words>
  <Application>Microsoft Office PowerPoint</Application>
  <PresentationFormat>宽屏</PresentationFormat>
  <Paragraphs>419</Paragraphs>
  <Slides>29</Slides>
  <Notes>21</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29</vt:i4>
      </vt:variant>
    </vt:vector>
  </HeadingPairs>
  <TitlesOfParts>
    <vt:vector size="44" baseType="lpstr">
      <vt:lpstr>-apple-system</vt:lpstr>
      <vt:lpstr>KaTeX_Caligraphic</vt:lpstr>
      <vt:lpstr>KaTeX_Main</vt:lpstr>
      <vt:lpstr>KaTeX_Math</vt:lpstr>
      <vt:lpstr>KaTeX_Size1</vt:lpstr>
      <vt:lpstr>KaTeX_Size2</vt:lpstr>
      <vt:lpstr>PingFang SC</vt:lpstr>
      <vt:lpstr>等线</vt:lpstr>
      <vt:lpstr>华文中宋</vt:lpstr>
      <vt:lpstr>楷体</vt:lpstr>
      <vt:lpstr>Arial</vt:lpstr>
      <vt:lpstr>Cambria Math</vt:lpstr>
      <vt:lpstr>Times New Roman</vt:lpstr>
      <vt:lpstr>Wingdings 2</vt:lpstr>
      <vt:lpstr>哈深简约主题-顶边-16:9</vt:lpstr>
      <vt:lpstr>基于图神经网络的多行为去噪推荐方法研究</vt:lpstr>
      <vt:lpstr>目录</vt:lpstr>
      <vt:lpstr>1. 课题背景及研究的目的和意义 </vt:lpstr>
      <vt:lpstr>1. 课题背景及研究的目的和意义 </vt:lpstr>
      <vt:lpstr>2. 研究现状概述及分析 </vt:lpstr>
      <vt:lpstr>2. 研究现状概述及分析 </vt:lpstr>
      <vt:lpstr>2. 主要研究内容</vt:lpstr>
      <vt:lpstr>3. 噪声感知与偏好提取的多行为推荐方法</vt:lpstr>
      <vt:lpstr>3.噪声感知与偏好提取的多行为推荐方法</vt:lpstr>
      <vt:lpstr>3.噪声感知与偏好提取的多行为推荐方法</vt:lpstr>
      <vt:lpstr>3.噪声感知与偏好提取的多行为推荐方法</vt:lpstr>
      <vt:lpstr>3.噪声感知与偏好提取的多行为推荐方法</vt:lpstr>
      <vt:lpstr>3.噪声感知与偏好提取的多行为推荐方法</vt:lpstr>
      <vt:lpstr>3.噪声感知与偏好提取的多行为推荐方法</vt:lpstr>
      <vt:lpstr>3.噪声感知与偏好提取的多行为推荐方法</vt:lpstr>
      <vt:lpstr>3.噪声感知与偏好提取的多行为推荐方法</vt:lpstr>
      <vt:lpstr>3.噪声感知与偏好提取的多行为推荐方法</vt:lpstr>
      <vt:lpstr>3.噪声感知与偏好提取的多行为推荐方法</vt:lpstr>
      <vt:lpstr>4.噪声感知与偏好提取的多模态多行为推荐方法</vt:lpstr>
      <vt:lpstr>4.噪声感知与偏好提取的多模态多行为推荐方法</vt:lpstr>
      <vt:lpstr>4.噪声感知与偏好提取的多模态多行为推荐方法</vt:lpstr>
      <vt:lpstr>4.噪声感知与偏好提取的多模态多行为推荐方法</vt:lpstr>
      <vt:lpstr>4.噪声感知与偏好提取的多模态多行为推荐方法</vt:lpstr>
      <vt:lpstr>4.噪声感知与偏好提取的多模态多行为推荐方法</vt:lpstr>
      <vt:lpstr>4.噪声感知与偏好提取的多模态多行为推荐方法</vt:lpstr>
      <vt:lpstr>4. 总结</vt:lpstr>
      <vt:lpstr>参考文献</vt:lpstr>
      <vt:lpstr>参考文献</vt:lpstr>
      <vt:lpstr>感谢</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cp:lastModifiedBy>红雨 樊</cp:lastModifiedBy>
  <cp:revision>2424</cp:revision>
  <cp:lastPrinted>2020-04-04T02:50:47Z</cp:lastPrinted>
  <dcterms:created xsi:type="dcterms:W3CDTF">2020-01-04T07:43:38Z</dcterms:created>
  <dcterms:modified xsi:type="dcterms:W3CDTF">2026-01-06T16:32:50Z</dcterms:modified>
</cp:coreProperties>
</file>